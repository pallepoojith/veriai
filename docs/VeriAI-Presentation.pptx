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93E"/>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18344F"/>
          </a:solidFill>
          <a:ln/>
        </p:spPr>
      </p:sp>
      <p:sp>
        <p:nvSpPr>
          <p:cNvPr id="3" name="Shape 1"/>
          <p:cNvSpPr/>
          <p:nvPr/>
        </p:nvSpPr>
        <p:spPr>
          <a:xfrm>
            <a:off x="-1463040" y="4663440"/>
            <a:ext cx="3840480" cy="3840480"/>
          </a:xfrm>
          <a:prstGeom prst="ellipse">
            <a:avLst/>
          </a:prstGeom>
          <a:solidFill>
            <a:srgbClr val="18344F"/>
          </a:solidFill>
          <a:ln/>
        </p:spPr>
      </p:sp>
      <p:sp>
        <p:nvSpPr>
          <p:cNvPr id="4" name="Shape 2"/>
          <p:cNvSpPr/>
          <p:nvPr/>
        </p:nvSpPr>
        <p:spPr>
          <a:xfrm>
            <a:off x="822960" y="685800"/>
            <a:ext cx="777240" cy="777240"/>
          </a:xfrm>
          <a:prstGeom prst="ellipse">
            <a:avLst/>
          </a:prstGeom>
          <a:solidFill>
            <a:srgbClr val="E8A33D"/>
          </a:solidFill>
          <a:ln/>
        </p:spPr>
      </p:sp>
      <p:sp>
        <p:nvSpPr>
          <p:cNvPr id="5" name="Text 3"/>
          <p:cNvSpPr txBox="1"/>
          <p:nvPr/>
        </p:nvSpPr>
        <p:spPr>
          <a:xfrm>
            <a:off x="822960" y="685800"/>
            <a:ext cx="777240" cy="777240"/>
          </a:xfrm>
          <a:prstGeom prst="rect">
            <a:avLst/>
          </a:prstGeom>
          <a:noFill/>
          <a:ln/>
        </p:spPr>
        <p:txBody>
          <a:bodyPr wrap="square" rtlCol="0" anchor="ctr"/>
          <a:lstStyle/>
          <a:p>
            <a:pPr algn="ctr" indent="0" marL="0">
              <a:buNone/>
            </a:pPr>
            <a:r>
              <a:rPr lang="en-US" sz="3000" b="1" dirty="0">
                <a:solidFill>
                  <a:srgbClr val="10293E"/>
                </a:solidFill>
                <a:latin typeface="Calibri" pitchFamily="34" charset="0"/>
                <a:ea typeface="Calibri" pitchFamily="34" charset="-122"/>
                <a:cs typeface="Calibri" pitchFamily="34" charset="-120"/>
              </a:rPr>
              <a:t>✓</a:t>
            </a:r>
            <a:endParaRPr lang="en-US" sz="3000" dirty="0"/>
          </a:p>
        </p:txBody>
      </p:sp>
      <p:sp>
        <p:nvSpPr>
          <p:cNvPr id="6" name="Text 4"/>
          <p:cNvSpPr txBox="1"/>
          <p:nvPr/>
        </p:nvSpPr>
        <p:spPr>
          <a:xfrm>
            <a:off x="1783080" y="777240"/>
            <a:ext cx="4572000" cy="365760"/>
          </a:xfrm>
          <a:prstGeom prst="rect">
            <a:avLst/>
          </a:prstGeom>
          <a:noFill/>
          <a:ln/>
        </p:spPr>
        <p:txBody>
          <a:bodyPr wrap="square" rtlCol="0" anchor="ctr"/>
          <a:lstStyle/>
          <a:p>
            <a:pPr indent="0" marL="0">
              <a:buNone/>
            </a:pPr>
            <a:r>
              <a:rPr lang="en-US" sz="1300" spc="200" kern="0" dirty="0">
                <a:solidFill>
                  <a:srgbClr val="E8A33D"/>
                </a:solidFill>
                <a:latin typeface="Calibri" pitchFamily="34" charset="0"/>
                <a:ea typeface="Calibri" pitchFamily="34" charset="-122"/>
                <a:cs typeface="Calibri" pitchFamily="34" charset="-120"/>
              </a:rPr>
              <a:t>MAJOR PROJECT</a:t>
            </a:r>
            <a:endParaRPr lang="en-US" sz="1300" dirty="0"/>
          </a:p>
        </p:txBody>
      </p:sp>
      <p:sp>
        <p:nvSpPr>
          <p:cNvPr id="7" name="Text 5"/>
          <p:cNvSpPr txBox="1"/>
          <p:nvPr/>
        </p:nvSpPr>
        <p:spPr>
          <a:xfrm>
            <a:off x="822960" y="2377440"/>
            <a:ext cx="9144000" cy="1188720"/>
          </a:xfrm>
          <a:prstGeom prst="rect">
            <a:avLst/>
          </a:prstGeom>
          <a:noFill/>
          <a:ln/>
        </p:spPr>
        <p:txBody>
          <a:bodyPr wrap="square"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VeriAI</a:t>
            </a:r>
            <a:endParaRPr lang="en-US" sz="6200" dirty="0"/>
          </a:p>
        </p:txBody>
      </p:sp>
      <p:sp>
        <p:nvSpPr>
          <p:cNvPr id="8" name="Text 6"/>
          <p:cNvSpPr txBox="1"/>
          <p:nvPr/>
        </p:nvSpPr>
        <p:spPr>
          <a:xfrm>
            <a:off x="822960" y="3520440"/>
            <a:ext cx="9326880" cy="1005840"/>
          </a:xfrm>
          <a:prstGeom prst="rect">
            <a:avLst/>
          </a:prstGeom>
          <a:noFill/>
          <a:ln/>
        </p:spPr>
        <p:txBody>
          <a:bodyPr wrap="square" rtlCol="0" anchor="ctr"/>
          <a:lstStyle/>
          <a:p>
            <a:pPr indent="0" marL="0">
              <a:lnSpc>
                <a:spcPts val="2600"/>
              </a:lnSpc>
              <a:buNone/>
            </a:pPr>
            <a:r>
              <a:rPr lang="en-US" sz="1900" dirty="0">
                <a:solidFill>
                  <a:srgbClr val="C9D6E3"/>
                </a:solidFill>
                <a:latin typeface="Calibri" pitchFamily="34" charset="0"/>
                <a:ea typeface="Calibri" pitchFamily="34" charset="-122"/>
                <a:cs typeface="Calibri" pitchFamily="34" charset="-120"/>
              </a:rPr>
              <a:t>An Explainable AI System for Real-Time Claim Verification</a:t>
            </a:r>
            <a:endParaRPr lang="en-US" sz="1900" dirty="0"/>
          </a:p>
          <a:p>
            <a:pPr indent="0" marL="0">
              <a:lnSpc>
                <a:spcPts val="2600"/>
              </a:lnSpc>
              <a:buNone/>
            </a:pPr>
            <a:r>
              <a:rPr lang="en-US" sz="1900" dirty="0">
                <a:solidFill>
                  <a:srgbClr val="C9D6E3"/>
                </a:solidFill>
                <a:latin typeface="Calibri" pitchFamily="34" charset="0"/>
                <a:ea typeface="Calibri" pitchFamily="34" charset="-122"/>
                <a:cs typeface="Calibri" pitchFamily="34" charset="-120"/>
              </a:rPr>
              <a:t>and Misinformation Analysis</a:t>
            </a:r>
            <a:endParaRPr lang="en-US" sz="1900" dirty="0"/>
          </a:p>
        </p:txBody>
      </p:sp>
      <p:sp>
        <p:nvSpPr>
          <p:cNvPr id="9" name="Shape 7"/>
          <p:cNvSpPr/>
          <p:nvPr/>
        </p:nvSpPr>
        <p:spPr>
          <a:xfrm>
            <a:off x="822960" y="4892040"/>
            <a:ext cx="2926080" cy="0"/>
          </a:xfrm>
          <a:prstGeom prst="line">
            <a:avLst/>
          </a:prstGeom>
          <a:noFill/>
          <a:ln w="25400">
            <a:solidFill>
              <a:srgbClr val="1C7293"/>
            </a:solidFill>
            <a:prstDash val="solid"/>
          </a:ln>
        </p:spPr>
      </p:sp>
      <p:sp>
        <p:nvSpPr>
          <p:cNvPr id="10" name="Text 8"/>
          <p:cNvSpPr txBox="1"/>
          <p:nvPr/>
        </p:nvSpPr>
        <p:spPr>
          <a:xfrm>
            <a:off x="822960" y="5074920"/>
            <a:ext cx="9144000" cy="365760"/>
          </a:xfrm>
          <a:prstGeom prst="rect">
            <a:avLst/>
          </a:prstGeom>
          <a:noFill/>
          <a:ln/>
        </p:spPr>
        <p:txBody>
          <a:bodyPr wrap="square" rtlCol="0" anchor="ctr"/>
          <a:lstStyle/>
          <a:p>
            <a:pPr indent="0" marL="0">
              <a:buNone/>
            </a:pPr>
            <a:r>
              <a:rPr lang="en-US" sz="1300" dirty="0">
                <a:solidFill>
                  <a:srgbClr val="9FB2C3"/>
                </a:solidFill>
                <a:latin typeface="Calibri" pitchFamily="34" charset="0"/>
                <a:ea typeface="Calibri" pitchFamily="34" charset="-122"/>
                <a:cs typeface="Calibri" pitchFamily="34" charset="-120"/>
              </a:rPr>
              <a:t>Web Application  ·  Browser Extension  ·  Evidence-Based Verification</a:t>
            </a:r>
            <a:endParaRPr lang="en-US" sz="1300" dirty="0"/>
          </a:p>
        </p:txBody>
      </p:sp>
      <p:sp>
        <p:nvSpPr>
          <p:cNvPr id="11" name="Text 9"/>
          <p:cNvSpPr txBox="1"/>
          <p:nvPr/>
        </p:nvSpPr>
        <p:spPr>
          <a:xfrm>
            <a:off x="822960" y="6263640"/>
            <a:ext cx="7315200" cy="320040"/>
          </a:xfrm>
          <a:prstGeom prst="rect">
            <a:avLst/>
          </a:prstGeom>
          <a:noFill/>
          <a:ln/>
        </p:spPr>
        <p:txBody>
          <a:bodyPr wrap="square" rtlCol="0" anchor="ctr"/>
          <a:lstStyle/>
          <a:p>
            <a:pPr indent="0" marL="0">
              <a:buNone/>
            </a:pPr>
            <a:r>
              <a:rPr lang="en-US" sz="1150" dirty="0">
                <a:solidFill>
                  <a:srgbClr val="7C8EA0"/>
                </a:solidFill>
                <a:latin typeface="Calibri" pitchFamily="34" charset="0"/>
                <a:ea typeface="Calibri" pitchFamily="34" charset="-122"/>
                <a:cs typeface="Calibri" pitchFamily="34" charset="-120"/>
              </a:rPr>
              <a:t>Department of Computer Science  ·  Batch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Abstract</a:t>
            </a:r>
            <a:endParaRPr lang="en-US" sz="3000" dirty="0"/>
          </a:p>
        </p:txBody>
      </p:sp>
      <p:sp>
        <p:nvSpPr>
          <p:cNvPr id="3" name="Text 1"/>
          <p:cNvSpPr txBox="1"/>
          <p:nvPr/>
        </p:nvSpPr>
        <p:spPr>
          <a:xfrm>
            <a:off x="548640" y="1234440"/>
            <a:ext cx="11064240" cy="5120640"/>
          </a:xfrm>
          <a:prstGeom prst="rect">
            <a:avLst/>
          </a:prstGeom>
          <a:noFill/>
          <a:ln/>
        </p:spPr>
        <p:txBody>
          <a:bodyPr wrap="square" rtlCol="0" anchor="ctr"/>
          <a:lstStyle/>
          <a:p>
            <a:pPr algn="l" indent="0" marL="0">
              <a:lnSpc>
                <a:spcPts val="2200"/>
              </a:lnSpc>
              <a:buNone/>
            </a:pPr>
            <a:r>
              <a:rPr lang="en-US" sz="1450" dirty="0">
                <a:solidFill>
                  <a:srgbClr val="10293E"/>
                </a:solidFill>
                <a:latin typeface="Calibri" pitchFamily="34" charset="0"/>
                <a:ea typeface="Calibri" pitchFamily="34" charset="-122"/>
                <a:cs typeface="Calibri" pitchFamily="34" charset="-120"/>
              </a:rPr>
              <a:t>The rapid growth of digital media and social platforms has accelerated the spread of misinformation, misleading claims, and unverified content. Traditional detection methods classify entire articles as “fake” or “real,” which fails when a single post mixes factual, misleading, and unverifiable statements.</a:t>
            </a:r>
            <a:endParaRPr lang="en-US" sz="1450" dirty="0"/>
          </a:p>
          <a:p>
            <a:pPr algn="l" indent="0" marL="0">
              <a:lnSpc>
                <a:spcPts val="2200"/>
              </a:lnSpc>
              <a:buNone/>
            </a:pPr>
            <a:endParaRPr lang="en-US" sz="1450" dirty="0"/>
          </a:p>
          <a:p>
            <a:pPr algn="l" indent="0" marL="0">
              <a:lnSpc>
                <a:spcPts val="2200"/>
              </a:lnSpc>
              <a:buNone/>
            </a:pPr>
            <a:r>
              <a:rPr lang="en-US" sz="1450" dirty="0">
                <a:solidFill>
                  <a:srgbClr val="10293E"/>
                </a:solidFill>
                <a:latin typeface="Calibri" pitchFamily="34" charset="0"/>
                <a:ea typeface="Calibri" pitchFamily="34" charset="-122"/>
                <a:cs typeface="Calibri" pitchFamily="34" charset="-120"/>
              </a:rPr>
              <a:t>VeriAI shifts the focus to claim-level analysis. Using NLP and transformer models, it extracts verifiable claims from text, URLs, or social content, then checks each one against evidence using Retrieval-Augmented Generation, semantic search, and Natural Language Inference. Each claim is categorised as Supported, Contradicted, Insufficient, or Conflicting — with a confidence score, cited evidence, and a plain-language explanation.</a:t>
            </a:r>
            <a:endParaRPr lang="en-US" sz="1450" dirty="0"/>
          </a:p>
          <a:p>
            <a:pPr algn="l" indent="0" marL="0">
              <a:lnSpc>
                <a:spcPts val="2200"/>
              </a:lnSpc>
              <a:buNone/>
            </a:pPr>
            <a:endParaRPr lang="en-US" sz="1450" dirty="0"/>
          </a:p>
          <a:p>
            <a:pPr algn="l" indent="0" marL="0">
              <a:lnSpc>
                <a:spcPts val="2200"/>
              </a:lnSpc>
              <a:buNone/>
            </a:pPr>
            <a:r>
              <a:rPr lang="en-US" sz="1450" dirty="0">
                <a:solidFill>
                  <a:srgbClr val="10293E"/>
                </a:solidFill>
                <a:latin typeface="Calibri" pitchFamily="34" charset="0"/>
                <a:ea typeface="Calibri" pitchFamily="34" charset="-122"/>
                <a:cs typeface="Calibri" pitchFamily="34" charset="-120"/>
              </a:rPr>
              <a:t>A parallel scam-signal branch flags fraud patterns — fee requests, urgency, fake links — even when no clean factual claim exists to verify. Delivered as a web application and browser extension, VeriAI helps users make informed decisions about what they read online.</a:t>
            </a:r>
            <a:endParaRPr lang="en-US" sz="1450" dirty="0"/>
          </a:p>
        </p:txBody>
      </p:sp>
      <p:sp>
        <p:nvSpPr>
          <p:cNvPr id="4" name="Text 2"/>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Problem Statement</a:t>
            </a:r>
            <a:endParaRPr lang="en-US" sz="3000" dirty="0"/>
          </a:p>
        </p:txBody>
      </p:sp>
      <p:sp>
        <p:nvSpPr>
          <p:cNvPr id="3" name="Shape 1"/>
          <p:cNvSpPr/>
          <p:nvPr/>
        </p:nvSpPr>
        <p:spPr>
          <a:xfrm>
            <a:off x="548640" y="1371600"/>
            <a:ext cx="5349240" cy="2331720"/>
          </a:xfrm>
          <a:prstGeom prst="roundRect">
            <a:avLst>
              <a:gd name="adj" fmla="val 3922"/>
            </a:avLst>
          </a:prstGeom>
          <a:solidFill>
            <a:srgbClr val="FFFFFF"/>
          </a:solidFill>
          <a:ln w="12700">
            <a:solidFill>
              <a:srgbClr val="E4E1D6"/>
            </a:solidFill>
            <a:prstDash val="solid"/>
          </a:ln>
        </p:spPr>
      </p:sp>
      <p:sp>
        <p:nvSpPr>
          <p:cNvPr id="4" name="Shape 2"/>
          <p:cNvSpPr/>
          <p:nvPr/>
        </p:nvSpPr>
        <p:spPr>
          <a:xfrm>
            <a:off x="822960" y="1645920"/>
            <a:ext cx="566928" cy="566928"/>
          </a:xfrm>
          <a:prstGeom prst="ellipse">
            <a:avLst/>
          </a:prstGeom>
          <a:solidFill>
            <a:srgbClr val="1C7293"/>
          </a:solidFill>
          <a:ln/>
        </p:spPr>
      </p:sp>
      <p:sp>
        <p:nvSpPr>
          <p:cNvPr id="5" name="Text 3"/>
          <p:cNvSpPr txBox="1"/>
          <p:nvPr/>
        </p:nvSpPr>
        <p:spPr>
          <a:xfrm>
            <a:off x="822960" y="16459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Text 4"/>
          <p:cNvSpPr txBox="1"/>
          <p:nvPr/>
        </p:nvSpPr>
        <p:spPr>
          <a:xfrm>
            <a:off x="1554480" y="1645920"/>
            <a:ext cx="4069080" cy="457200"/>
          </a:xfrm>
          <a:prstGeom prst="rect">
            <a:avLst/>
          </a:prstGeom>
          <a:noFill/>
          <a:ln/>
        </p:spPr>
        <p:txBody>
          <a:bodyPr wrap="square" rtlCol="0" anchor="ctr"/>
          <a:lstStyle/>
          <a:p>
            <a:pPr indent="0" marL="0">
              <a:buNone/>
            </a:pPr>
            <a:r>
              <a:rPr lang="en-US" sz="1600" b="1" dirty="0">
                <a:solidFill>
                  <a:srgbClr val="10293E"/>
                </a:solidFill>
                <a:latin typeface="Cambria" pitchFamily="34" charset="0"/>
                <a:ea typeface="Cambria" pitchFamily="34" charset="-122"/>
                <a:cs typeface="Cambria" pitchFamily="34" charset="-120"/>
              </a:rPr>
              <a:t>Instant spread</a:t>
            </a:r>
            <a:endParaRPr lang="en-US" sz="1600" dirty="0"/>
          </a:p>
        </p:txBody>
      </p:sp>
      <p:sp>
        <p:nvSpPr>
          <p:cNvPr id="7" name="Text 5"/>
          <p:cNvSpPr txBox="1"/>
          <p:nvPr/>
        </p:nvSpPr>
        <p:spPr>
          <a:xfrm>
            <a:off x="822960" y="2286000"/>
            <a:ext cx="4800600" cy="1234440"/>
          </a:xfrm>
          <a:prstGeom prst="rect">
            <a:avLst/>
          </a:prstGeom>
          <a:noFill/>
          <a:ln/>
        </p:spPr>
        <p:txBody>
          <a:bodyPr wrap="square" rtlCol="0" anchor="ctr"/>
          <a:lstStyle/>
          <a:p>
            <a:pPr indent="0" marL="0">
              <a:lnSpc>
                <a:spcPts val="1700"/>
              </a:lnSpc>
              <a:buNone/>
            </a:pPr>
            <a:r>
              <a:rPr lang="en-US" sz="1250" dirty="0">
                <a:solidFill>
                  <a:srgbClr val="5A6B7A"/>
                </a:solidFill>
                <a:latin typeface="Calibri" pitchFamily="34" charset="0"/>
                <a:ea typeface="Calibri" pitchFamily="34" charset="-122"/>
                <a:cs typeface="Calibri" pitchFamily="34" charset="-120"/>
              </a:rPr>
              <a:t>A false claim can go viral within seconds, long before anyone can verify it.</a:t>
            </a:r>
            <a:endParaRPr lang="en-US" sz="1250" dirty="0"/>
          </a:p>
        </p:txBody>
      </p:sp>
      <p:sp>
        <p:nvSpPr>
          <p:cNvPr id="8" name="Shape 6"/>
          <p:cNvSpPr/>
          <p:nvPr/>
        </p:nvSpPr>
        <p:spPr>
          <a:xfrm>
            <a:off x="6217920" y="1371600"/>
            <a:ext cx="5349240" cy="2331720"/>
          </a:xfrm>
          <a:prstGeom prst="roundRect">
            <a:avLst>
              <a:gd name="adj" fmla="val 3922"/>
            </a:avLst>
          </a:prstGeom>
          <a:solidFill>
            <a:srgbClr val="FFFFFF"/>
          </a:solidFill>
          <a:ln w="12700">
            <a:solidFill>
              <a:srgbClr val="E4E1D6"/>
            </a:solidFill>
            <a:prstDash val="solid"/>
          </a:ln>
        </p:spPr>
      </p:sp>
      <p:sp>
        <p:nvSpPr>
          <p:cNvPr id="9" name="Shape 7"/>
          <p:cNvSpPr/>
          <p:nvPr/>
        </p:nvSpPr>
        <p:spPr>
          <a:xfrm>
            <a:off x="6492240" y="1645920"/>
            <a:ext cx="566928" cy="566928"/>
          </a:xfrm>
          <a:prstGeom prst="ellipse">
            <a:avLst/>
          </a:prstGeom>
          <a:solidFill>
            <a:srgbClr val="1C7293"/>
          </a:solidFill>
          <a:ln/>
        </p:spPr>
      </p:sp>
      <p:sp>
        <p:nvSpPr>
          <p:cNvPr id="10" name="Text 8"/>
          <p:cNvSpPr txBox="1"/>
          <p:nvPr/>
        </p:nvSpPr>
        <p:spPr>
          <a:xfrm>
            <a:off x="6492240" y="16459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7223760" y="1645920"/>
            <a:ext cx="4069080" cy="457200"/>
          </a:xfrm>
          <a:prstGeom prst="rect">
            <a:avLst/>
          </a:prstGeom>
          <a:noFill/>
          <a:ln/>
        </p:spPr>
        <p:txBody>
          <a:bodyPr wrap="square" rtlCol="0" anchor="ctr"/>
          <a:lstStyle/>
          <a:p>
            <a:pPr indent="0" marL="0">
              <a:buNone/>
            </a:pPr>
            <a:r>
              <a:rPr lang="en-US" sz="1600" b="1" dirty="0">
                <a:solidFill>
                  <a:srgbClr val="10293E"/>
                </a:solidFill>
                <a:latin typeface="Cambria" pitchFamily="34" charset="0"/>
                <a:ea typeface="Cambria" pitchFamily="34" charset="-122"/>
                <a:cs typeface="Cambria" pitchFamily="34" charset="-120"/>
              </a:rPr>
              <a:t>Binary judgement fails</a:t>
            </a:r>
            <a:endParaRPr lang="en-US" sz="1600" dirty="0"/>
          </a:p>
        </p:txBody>
      </p:sp>
      <p:sp>
        <p:nvSpPr>
          <p:cNvPr id="12" name="Text 10"/>
          <p:cNvSpPr txBox="1"/>
          <p:nvPr/>
        </p:nvSpPr>
        <p:spPr>
          <a:xfrm>
            <a:off x="6492240" y="2286000"/>
            <a:ext cx="4800600" cy="1234440"/>
          </a:xfrm>
          <a:prstGeom prst="rect">
            <a:avLst/>
          </a:prstGeom>
          <a:noFill/>
          <a:ln/>
        </p:spPr>
        <p:txBody>
          <a:bodyPr wrap="square" rtlCol="0" anchor="ctr"/>
          <a:lstStyle/>
          <a:p>
            <a:pPr indent="0" marL="0">
              <a:lnSpc>
                <a:spcPts val="1700"/>
              </a:lnSpc>
              <a:buNone/>
            </a:pPr>
            <a:r>
              <a:rPr lang="en-US" sz="1250" dirty="0">
                <a:solidFill>
                  <a:srgbClr val="5A6B7A"/>
                </a:solidFill>
                <a:latin typeface="Calibri" pitchFamily="34" charset="0"/>
                <a:ea typeface="Calibri" pitchFamily="34" charset="-122"/>
                <a:cs typeface="Calibri" pitchFamily="34" charset="-120"/>
              </a:rPr>
              <a:t>Whole-article “fake / real” labels ignore that one post can mix true, false and unverifiable statements.</a:t>
            </a:r>
            <a:endParaRPr lang="en-US" sz="1250" dirty="0"/>
          </a:p>
        </p:txBody>
      </p:sp>
      <p:sp>
        <p:nvSpPr>
          <p:cNvPr id="13" name="Shape 11"/>
          <p:cNvSpPr/>
          <p:nvPr/>
        </p:nvSpPr>
        <p:spPr>
          <a:xfrm>
            <a:off x="548640" y="3977640"/>
            <a:ext cx="5349240" cy="2331720"/>
          </a:xfrm>
          <a:prstGeom prst="roundRect">
            <a:avLst>
              <a:gd name="adj" fmla="val 3922"/>
            </a:avLst>
          </a:prstGeom>
          <a:solidFill>
            <a:srgbClr val="FFFFFF"/>
          </a:solidFill>
          <a:ln w="12700">
            <a:solidFill>
              <a:srgbClr val="E4E1D6"/>
            </a:solidFill>
            <a:prstDash val="solid"/>
          </a:ln>
        </p:spPr>
      </p:sp>
      <p:sp>
        <p:nvSpPr>
          <p:cNvPr id="14" name="Shape 12"/>
          <p:cNvSpPr/>
          <p:nvPr/>
        </p:nvSpPr>
        <p:spPr>
          <a:xfrm>
            <a:off x="822960" y="4251960"/>
            <a:ext cx="566928" cy="566928"/>
          </a:xfrm>
          <a:prstGeom prst="ellipse">
            <a:avLst/>
          </a:prstGeom>
          <a:solidFill>
            <a:srgbClr val="1C7293"/>
          </a:solidFill>
          <a:ln/>
        </p:spPr>
      </p:sp>
      <p:sp>
        <p:nvSpPr>
          <p:cNvPr id="15" name="Text 13"/>
          <p:cNvSpPr txBox="1"/>
          <p:nvPr/>
        </p:nvSpPr>
        <p:spPr>
          <a:xfrm>
            <a:off x="822960" y="425196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1554480" y="4251960"/>
            <a:ext cx="4069080" cy="457200"/>
          </a:xfrm>
          <a:prstGeom prst="rect">
            <a:avLst/>
          </a:prstGeom>
          <a:noFill/>
          <a:ln/>
        </p:spPr>
        <p:txBody>
          <a:bodyPr wrap="square" rtlCol="0" anchor="ctr"/>
          <a:lstStyle/>
          <a:p>
            <a:pPr indent="0" marL="0">
              <a:buNone/>
            </a:pPr>
            <a:r>
              <a:rPr lang="en-US" sz="1600" b="1" dirty="0">
                <a:solidFill>
                  <a:srgbClr val="10293E"/>
                </a:solidFill>
                <a:latin typeface="Cambria" pitchFamily="34" charset="0"/>
                <a:ea typeface="Cambria" pitchFamily="34" charset="-122"/>
                <a:cs typeface="Cambria" pitchFamily="34" charset="-120"/>
              </a:rPr>
              <a:t>No reasoning shown</a:t>
            </a:r>
            <a:endParaRPr lang="en-US" sz="1600" dirty="0"/>
          </a:p>
        </p:txBody>
      </p:sp>
      <p:sp>
        <p:nvSpPr>
          <p:cNvPr id="17" name="Text 15"/>
          <p:cNvSpPr txBox="1"/>
          <p:nvPr/>
        </p:nvSpPr>
        <p:spPr>
          <a:xfrm>
            <a:off x="822960" y="4892040"/>
            <a:ext cx="4800600" cy="1234440"/>
          </a:xfrm>
          <a:prstGeom prst="rect">
            <a:avLst/>
          </a:prstGeom>
          <a:noFill/>
          <a:ln/>
        </p:spPr>
        <p:txBody>
          <a:bodyPr wrap="square" rtlCol="0" anchor="ctr"/>
          <a:lstStyle/>
          <a:p>
            <a:pPr indent="0" marL="0">
              <a:lnSpc>
                <a:spcPts val="1700"/>
              </a:lnSpc>
              <a:buNone/>
            </a:pPr>
            <a:r>
              <a:rPr lang="en-US" sz="1250" dirty="0">
                <a:solidFill>
                  <a:srgbClr val="5A6B7A"/>
                </a:solidFill>
                <a:latin typeface="Calibri" pitchFamily="34" charset="0"/>
                <a:ea typeface="Calibri" pitchFamily="34" charset="-122"/>
                <a:cs typeface="Calibri" pitchFamily="34" charset="-120"/>
              </a:rPr>
              <a:t>Existing tools give a verdict with no evidence trail, so users can't judge the judgement.</a:t>
            </a:r>
            <a:endParaRPr lang="en-US" sz="1250" dirty="0"/>
          </a:p>
        </p:txBody>
      </p:sp>
      <p:sp>
        <p:nvSpPr>
          <p:cNvPr id="18" name="Shape 16"/>
          <p:cNvSpPr/>
          <p:nvPr/>
        </p:nvSpPr>
        <p:spPr>
          <a:xfrm>
            <a:off x="6217920" y="3977640"/>
            <a:ext cx="5349240" cy="2331720"/>
          </a:xfrm>
          <a:prstGeom prst="roundRect">
            <a:avLst>
              <a:gd name="adj" fmla="val 3922"/>
            </a:avLst>
          </a:prstGeom>
          <a:solidFill>
            <a:srgbClr val="FFFFFF"/>
          </a:solidFill>
          <a:ln w="12700">
            <a:solidFill>
              <a:srgbClr val="E4E1D6"/>
            </a:solidFill>
            <a:prstDash val="solid"/>
          </a:ln>
        </p:spPr>
      </p:sp>
      <p:sp>
        <p:nvSpPr>
          <p:cNvPr id="19" name="Shape 17"/>
          <p:cNvSpPr/>
          <p:nvPr/>
        </p:nvSpPr>
        <p:spPr>
          <a:xfrm>
            <a:off x="6492240" y="4251960"/>
            <a:ext cx="566928" cy="566928"/>
          </a:xfrm>
          <a:prstGeom prst="ellipse">
            <a:avLst/>
          </a:prstGeom>
          <a:solidFill>
            <a:srgbClr val="1C7293"/>
          </a:solidFill>
          <a:ln/>
        </p:spPr>
      </p:sp>
      <p:sp>
        <p:nvSpPr>
          <p:cNvPr id="20" name="Text 18"/>
          <p:cNvSpPr txBox="1"/>
          <p:nvPr/>
        </p:nvSpPr>
        <p:spPr>
          <a:xfrm>
            <a:off x="6492240" y="425196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7223760" y="4251960"/>
            <a:ext cx="4069080" cy="457200"/>
          </a:xfrm>
          <a:prstGeom prst="rect">
            <a:avLst/>
          </a:prstGeom>
          <a:noFill/>
          <a:ln/>
        </p:spPr>
        <p:txBody>
          <a:bodyPr wrap="square" rtlCol="0" anchor="ctr"/>
          <a:lstStyle/>
          <a:p>
            <a:pPr indent="0" marL="0">
              <a:buNone/>
            </a:pPr>
            <a:r>
              <a:rPr lang="en-US" sz="1600" b="1" dirty="0">
                <a:solidFill>
                  <a:srgbClr val="10293E"/>
                </a:solidFill>
                <a:latin typeface="Cambria" pitchFamily="34" charset="0"/>
                <a:ea typeface="Cambria" pitchFamily="34" charset="-122"/>
                <a:cs typeface="Cambria" pitchFamily="34" charset="-120"/>
              </a:rPr>
              <a:t>Real financial harm</a:t>
            </a:r>
            <a:endParaRPr lang="en-US" sz="1600" dirty="0"/>
          </a:p>
        </p:txBody>
      </p:sp>
      <p:sp>
        <p:nvSpPr>
          <p:cNvPr id="22" name="Text 20"/>
          <p:cNvSpPr txBox="1"/>
          <p:nvPr/>
        </p:nvSpPr>
        <p:spPr>
          <a:xfrm>
            <a:off x="6492240" y="4892040"/>
            <a:ext cx="4800600" cy="1234440"/>
          </a:xfrm>
          <a:prstGeom prst="rect">
            <a:avLst/>
          </a:prstGeom>
          <a:noFill/>
          <a:ln/>
        </p:spPr>
        <p:txBody>
          <a:bodyPr wrap="square" rtlCol="0" anchor="ctr"/>
          <a:lstStyle/>
          <a:p>
            <a:pPr indent="0" marL="0">
              <a:lnSpc>
                <a:spcPts val="1700"/>
              </a:lnSpc>
              <a:buNone/>
            </a:pPr>
            <a:r>
              <a:rPr lang="en-US" sz="1250" dirty="0">
                <a:solidFill>
                  <a:srgbClr val="5A6B7A"/>
                </a:solidFill>
                <a:latin typeface="Calibri" pitchFamily="34" charset="0"/>
                <a:ea typeface="Calibri" pitchFamily="34" charset="-122"/>
                <a:cs typeface="Calibri" pitchFamily="34" charset="-120"/>
              </a:rPr>
              <a:t>Fake hiring drives and scheme announcements cost people money and personal data — not just misinformation.</a:t>
            </a:r>
            <a:endParaRPr lang="en-US" sz="1250" dirty="0"/>
          </a:p>
        </p:txBody>
      </p:sp>
      <p:sp>
        <p:nvSpPr>
          <p:cNvPr id="23" name="Text 21"/>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Introduction</a:t>
            </a:r>
            <a:endParaRPr lang="en-US" sz="3000" dirty="0"/>
          </a:p>
        </p:txBody>
      </p:sp>
      <p:sp>
        <p:nvSpPr>
          <p:cNvPr id="3" name="Text 1"/>
          <p:cNvSpPr txBox="1"/>
          <p:nvPr/>
        </p:nvSpPr>
        <p:spPr>
          <a:xfrm>
            <a:off x="548640" y="1188720"/>
            <a:ext cx="6035040" cy="1554480"/>
          </a:xfrm>
          <a:prstGeom prst="rect">
            <a:avLst/>
          </a:prstGeom>
          <a:noFill/>
          <a:ln/>
        </p:spPr>
        <p:txBody>
          <a:bodyPr wrap="square" rtlCol="0" anchor="ctr"/>
          <a:lstStyle/>
          <a:p>
            <a:pPr indent="0" marL="0">
              <a:lnSpc>
                <a:spcPts val="2000"/>
              </a:lnSpc>
              <a:buNone/>
            </a:pPr>
            <a:r>
              <a:rPr lang="en-US" sz="1400" dirty="0">
                <a:solidFill>
                  <a:srgbClr val="10293E"/>
                </a:solidFill>
                <a:latin typeface="Calibri" pitchFamily="34" charset="0"/>
                <a:ea typeface="Calibri" pitchFamily="34" charset="-122"/>
                <a:cs typeface="Calibri" pitchFamily="34" charset="-120"/>
              </a:rPr>
              <a:t>Social media and messaging apps now move information faster than anyone can check it. A single reel, forward, or post can reach thousands before its claims are ever questioned — whether it's a health tip, a hiring announcement, or a government scheme.</a:t>
            </a:r>
            <a:endParaRPr lang="en-US" sz="1400" dirty="0"/>
          </a:p>
        </p:txBody>
      </p:sp>
      <p:sp>
        <p:nvSpPr>
          <p:cNvPr id="4" name="Text 2"/>
          <p:cNvSpPr txBox="1"/>
          <p:nvPr/>
        </p:nvSpPr>
        <p:spPr>
          <a:xfrm>
            <a:off x="548640" y="2880360"/>
            <a:ext cx="6035040" cy="1188720"/>
          </a:xfrm>
          <a:prstGeom prst="rect">
            <a:avLst/>
          </a:prstGeom>
          <a:noFill/>
          <a:ln/>
        </p:spPr>
        <p:txBody>
          <a:bodyPr wrap="square" rtlCol="0" anchor="ctr"/>
          <a:lstStyle/>
          <a:p>
            <a:pPr indent="0" marL="0">
              <a:lnSpc>
                <a:spcPts val="2000"/>
              </a:lnSpc>
              <a:buNone/>
            </a:pPr>
            <a:r>
              <a:rPr lang="en-US" sz="1400" dirty="0">
                <a:solidFill>
                  <a:srgbClr val="10293E"/>
                </a:solidFill>
                <a:latin typeface="Calibri" pitchFamily="34" charset="0"/>
                <a:ea typeface="Calibri" pitchFamily="34" charset="-122"/>
                <a:cs typeface="Calibri" pitchFamily="34" charset="-120"/>
              </a:rPr>
              <a:t>VeriAI is a web application and browser extension that lets a user submit any suspicious link, text, or post and receive an evidence-backed, explainable verdict — not a black-box label.</a:t>
            </a:r>
            <a:endParaRPr lang="en-US" sz="1400" dirty="0"/>
          </a:p>
        </p:txBody>
      </p:sp>
      <p:sp>
        <p:nvSpPr>
          <p:cNvPr id="5" name="Shape 3"/>
          <p:cNvSpPr/>
          <p:nvPr/>
        </p:nvSpPr>
        <p:spPr>
          <a:xfrm>
            <a:off x="6995160" y="1188720"/>
            <a:ext cx="4663440" cy="4389120"/>
          </a:xfrm>
          <a:prstGeom prst="roundRect">
            <a:avLst>
              <a:gd name="adj" fmla="val 2083"/>
            </a:avLst>
          </a:prstGeom>
          <a:solidFill>
            <a:srgbClr val="10293E"/>
          </a:solidFill>
          <a:ln/>
        </p:spPr>
      </p:sp>
      <p:sp>
        <p:nvSpPr>
          <p:cNvPr id="6" name="Text 4"/>
          <p:cNvSpPr txBox="1"/>
          <p:nvPr/>
        </p:nvSpPr>
        <p:spPr>
          <a:xfrm>
            <a:off x="7315200" y="1463040"/>
            <a:ext cx="402336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Two ways in, one system</a:t>
            </a:r>
            <a:endParaRPr lang="en-US" sz="1500" dirty="0"/>
          </a:p>
        </p:txBody>
      </p:sp>
      <p:sp>
        <p:nvSpPr>
          <p:cNvPr id="7" name="Shape 5"/>
          <p:cNvSpPr/>
          <p:nvPr/>
        </p:nvSpPr>
        <p:spPr>
          <a:xfrm>
            <a:off x="7315200" y="2148840"/>
            <a:ext cx="548640" cy="548640"/>
          </a:xfrm>
          <a:prstGeom prst="ellipse">
            <a:avLst/>
          </a:prstGeom>
          <a:solidFill>
            <a:srgbClr val="E8A33D"/>
          </a:solidFill>
          <a:ln/>
        </p:spPr>
      </p:sp>
      <p:sp>
        <p:nvSpPr>
          <p:cNvPr id="8" name="Text 6"/>
          <p:cNvSpPr txBox="1"/>
          <p:nvPr/>
        </p:nvSpPr>
        <p:spPr>
          <a:xfrm>
            <a:off x="7315200" y="2148840"/>
            <a:ext cx="548640" cy="548640"/>
          </a:xfrm>
          <a:prstGeom prst="rect">
            <a:avLst/>
          </a:prstGeom>
          <a:noFill/>
          <a:ln/>
        </p:spPr>
        <p:txBody>
          <a:bodyPr wrap="square" rtlCol="0" anchor="ctr"/>
          <a:lstStyle/>
          <a:p>
            <a:pPr algn="ctr" indent="0" marL="0">
              <a:buNone/>
            </a:pPr>
            <a:r>
              <a:rPr lang="en-US" sz="1600" b="1" dirty="0">
                <a:solidFill>
                  <a:srgbClr val="10293E"/>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8046720" y="2121408"/>
            <a:ext cx="3291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Web Application</a:t>
            </a:r>
            <a:endParaRPr lang="en-US" sz="1400" dirty="0"/>
          </a:p>
        </p:txBody>
      </p:sp>
      <p:sp>
        <p:nvSpPr>
          <p:cNvPr id="10" name="Text 8"/>
          <p:cNvSpPr txBox="1"/>
          <p:nvPr/>
        </p:nvSpPr>
        <p:spPr>
          <a:xfrm>
            <a:off x="8046720" y="2441448"/>
            <a:ext cx="3383280" cy="640080"/>
          </a:xfrm>
          <a:prstGeom prst="rect">
            <a:avLst/>
          </a:prstGeom>
          <a:noFill/>
          <a:ln/>
        </p:spPr>
        <p:txBody>
          <a:bodyPr wrap="square" rtlCol="0" anchor="ctr"/>
          <a:lstStyle/>
          <a:p>
            <a:pPr indent="0" marL="0">
              <a:lnSpc>
                <a:spcPts val="1500"/>
              </a:lnSpc>
              <a:buNone/>
            </a:pPr>
            <a:r>
              <a:rPr lang="en-US" sz="1150" dirty="0">
                <a:solidFill>
                  <a:srgbClr val="B9C6D4"/>
                </a:solidFill>
                <a:latin typeface="Calibri" pitchFamily="34" charset="0"/>
                <a:ea typeface="Calibri" pitchFamily="34" charset="-122"/>
                <a:cs typeface="Calibri" pitchFamily="34" charset="-120"/>
              </a:rPr>
              <a:t>Paste any link or claim, view the full scorecard</a:t>
            </a:r>
            <a:endParaRPr lang="en-US" sz="1150" dirty="0"/>
          </a:p>
        </p:txBody>
      </p:sp>
      <p:sp>
        <p:nvSpPr>
          <p:cNvPr id="11" name="Shape 9"/>
          <p:cNvSpPr/>
          <p:nvPr/>
        </p:nvSpPr>
        <p:spPr>
          <a:xfrm>
            <a:off x="7315200" y="3566160"/>
            <a:ext cx="548640" cy="548640"/>
          </a:xfrm>
          <a:prstGeom prst="ellipse">
            <a:avLst/>
          </a:prstGeom>
          <a:solidFill>
            <a:srgbClr val="E8A33D"/>
          </a:solidFill>
          <a:ln/>
        </p:spPr>
      </p:sp>
      <p:sp>
        <p:nvSpPr>
          <p:cNvPr id="12" name="Text 10"/>
          <p:cNvSpPr txBox="1"/>
          <p:nvPr/>
        </p:nvSpPr>
        <p:spPr>
          <a:xfrm>
            <a:off x="7315200" y="3566160"/>
            <a:ext cx="548640" cy="548640"/>
          </a:xfrm>
          <a:prstGeom prst="rect">
            <a:avLst/>
          </a:prstGeom>
          <a:noFill/>
          <a:ln/>
        </p:spPr>
        <p:txBody>
          <a:bodyPr wrap="square" rtlCol="0" anchor="ctr"/>
          <a:lstStyle/>
          <a:p>
            <a:pPr algn="ctr" indent="0" marL="0">
              <a:buNone/>
            </a:pPr>
            <a:r>
              <a:rPr lang="en-US" sz="1600" b="1" dirty="0">
                <a:solidFill>
                  <a:srgbClr val="10293E"/>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8046720" y="3538728"/>
            <a:ext cx="32918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Browser Extension</a:t>
            </a:r>
            <a:endParaRPr lang="en-US" sz="1400" dirty="0"/>
          </a:p>
        </p:txBody>
      </p:sp>
      <p:sp>
        <p:nvSpPr>
          <p:cNvPr id="14" name="Text 12"/>
          <p:cNvSpPr txBox="1"/>
          <p:nvPr/>
        </p:nvSpPr>
        <p:spPr>
          <a:xfrm>
            <a:off x="8046720" y="3858768"/>
            <a:ext cx="3383280" cy="640080"/>
          </a:xfrm>
          <a:prstGeom prst="rect">
            <a:avLst/>
          </a:prstGeom>
          <a:noFill/>
          <a:ln/>
        </p:spPr>
        <p:txBody>
          <a:bodyPr wrap="square" rtlCol="0" anchor="ctr"/>
          <a:lstStyle/>
          <a:p>
            <a:pPr indent="0" marL="0">
              <a:lnSpc>
                <a:spcPts val="1500"/>
              </a:lnSpc>
              <a:buNone/>
            </a:pPr>
            <a:r>
              <a:rPr lang="en-US" sz="1150" dirty="0">
                <a:solidFill>
                  <a:srgbClr val="B9C6D4"/>
                </a:solidFill>
                <a:latin typeface="Calibri" pitchFamily="34" charset="0"/>
                <a:ea typeface="Calibri" pitchFamily="34" charset="-122"/>
                <a:cs typeface="Calibri" pitchFamily="34" charset="-120"/>
              </a:rPr>
              <a:t>Right-click a post while browsing to check it instantly</a:t>
            </a:r>
            <a:endParaRPr lang="en-US" sz="1150" dirty="0"/>
          </a:p>
        </p:txBody>
      </p:sp>
      <p:sp>
        <p:nvSpPr>
          <p:cNvPr id="15" name="Shape 13"/>
          <p:cNvSpPr/>
          <p:nvPr/>
        </p:nvSpPr>
        <p:spPr>
          <a:xfrm>
            <a:off x="7315200" y="5074920"/>
            <a:ext cx="3931920" cy="0"/>
          </a:xfrm>
          <a:prstGeom prst="line">
            <a:avLst/>
          </a:prstGeom>
          <a:noFill/>
          <a:ln w="12700">
            <a:solidFill>
              <a:srgbClr val="2C4A66"/>
            </a:solidFill>
            <a:prstDash val="solid"/>
          </a:ln>
        </p:spPr>
      </p:sp>
      <p:sp>
        <p:nvSpPr>
          <p:cNvPr id="16" name="Text 14"/>
          <p:cNvSpPr txBox="1"/>
          <p:nvPr/>
        </p:nvSpPr>
        <p:spPr>
          <a:xfrm>
            <a:off x="7315200" y="5212080"/>
            <a:ext cx="4023360" cy="457200"/>
          </a:xfrm>
          <a:prstGeom prst="rect">
            <a:avLst/>
          </a:prstGeom>
          <a:noFill/>
          <a:ln/>
        </p:spPr>
        <p:txBody>
          <a:bodyPr wrap="square" rtlCol="0" anchor="ctr"/>
          <a:lstStyle/>
          <a:p>
            <a:pPr indent="0" marL="0">
              <a:lnSpc>
                <a:spcPts val="1400"/>
              </a:lnSpc>
              <a:buNone/>
            </a:pPr>
            <a:r>
              <a:rPr lang="en-US" sz="1100" i="1" dirty="0">
                <a:solidFill>
                  <a:srgbClr val="8FA3B5"/>
                </a:solidFill>
                <a:latin typeface="Calibri" pitchFamily="34" charset="0"/>
                <a:ea typeface="Calibri" pitchFamily="34" charset="-122"/>
                <a:cs typeface="Calibri" pitchFamily="34" charset="-120"/>
              </a:rPr>
              <a:t>Both call the same backend API and produce the same scorecard.</a:t>
            </a:r>
            <a:endParaRPr lang="en-US" sz="1100" dirty="0"/>
          </a:p>
        </p:txBody>
      </p:sp>
      <p:sp>
        <p:nvSpPr>
          <p:cNvPr id="17" name="Text 15"/>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548640" y="1234440"/>
            <a:ext cx="5349240" cy="841248"/>
          </a:xfrm>
          <a:prstGeom prst="roundRect">
            <a:avLst>
              <a:gd name="adj" fmla="val 8696"/>
            </a:avLst>
          </a:prstGeom>
          <a:solidFill>
            <a:srgbClr val="FFFFFF"/>
          </a:solidFill>
          <a:ln w="12700">
            <a:solidFill>
              <a:srgbClr val="E4E1D6"/>
            </a:solidFill>
            <a:prstDash val="solid"/>
          </a:ln>
        </p:spPr>
      </p:sp>
      <p:sp>
        <p:nvSpPr>
          <p:cNvPr id="4" name="Shape 2"/>
          <p:cNvSpPr/>
          <p:nvPr/>
        </p:nvSpPr>
        <p:spPr>
          <a:xfrm>
            <a:off x="749808" y="1426464"/>
            <a:ext cx="457200" cy="457200"/>
          </a:xfrm>
          <a:prstGeom prst="ellipse">
            <a:avLst/>
          </a:prstGeom>
          <a:solidFill>
            <a:srgbClr val="E7EFF1"/>
          </a:solidFill>
          <a:ln/>
        </p:spPr>
      </p:sp>
      <p:sp>
        <p:nvSpPr>
          <p:cNvPr id="5" name="Text 3"/>
          <p:cNvSpPr txBox="1"/>
          <p:nvPr/>
        </p:nvSpPr>
        <p:spPr>
          <a:xfrm>
            <a:off x="749808" y="1426464"/>
            <a:ext cx="45720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234440"/>
            <a:ext cx="4251960" cy="841248"/>
          </a:xfrm>
          <a:prstGeom prst="rect">
            <a:avLst/>
          </a:prstGeom>
          <a:noFill/>
          <a:ln/>
        </p:spPr>
        <p:txBody>
          <a:bodyPr wrap="square" rtlCol="0" anchor="ctr"/>
          <a:lstStyle/>
          <a:p>
            <a:pPr indent="0" marL="0">
              <a:lnSpc>
                <a:spcPts val="1700"/>
              </a:lnSpc>
              <a:buNone/>
            </a:pPr>
            <a:r>
              <a:rPr lang="en-US" sz="1300" dirty="0">
                <a:solidFill>
                  <a:srgbClr val="10293E"/>
                </a:solidFill>
                <a:latin typeface="Calibri" pitchFamily="34" charset="0"/>
                <a:ea typeface="Calibri" pitchFamily="34" charset="-122"/>
                <a:cs typeface="Calibri" pitchFamily="34" charset="-120"/>
              </a:rPr>
              <a:t>Extract individual verifiable claims from content, not whole articles</a:t>
            </a:r>
            <a:endParaRPr lang="en-US" sz="1300" dirty="0"/>
          </a:p>
        </p:txBody>
      </p:sp>
      <p:sp>
        <p:nvSpPr>
          <p:cNvPr id="7" name="Shape 5"/>
          <p:cNvSpPr/>
          <p:nvPr/>
        </p:nvSpPr>
        <p:spPr>
          <a:xfrm>
            <a:off x="6217920" y="1234440"/>
            <a:ext cx="5349240" cy="841248"/>
          </a:xfrm>
          <a:prstGeom prst="roundRect">
            <a:avLst>
              <a:gd name="adj" fmla="val 8696"/>
            </a:avLst>
          </a:prstGeom>
          <a:solidFill>
            <a:srgbClr val="FFFFFF"/>
          </a:solidFill>
          <a:ln w="12700">
            <a:solidFill>
              <a:srgbClr val="E4E1D6"/>
            </a:solidFill>
            <a:prstDash val="solid"/>
          </a:ln>
        </p:spPr>
      </p:sp>
      <p:sp>
        <p:nvSpPr>
          <p:cNvPr id="8" name="Shape 6"/>
          <p:cNvSpPr/>
          <p:nvPr/>
        </p:nvSpPr>
        <p:spPr>
          <a:xfrm>
            <a:off x="6419088" y="1426464"/>
            <a:ext cx="457200" cy="457200"/>
          </a:xfrm>
          <a:prstGeom prst="ellipse">
            <a:avLst/>
          </a:prstGeom>
          <a:solidFill>
            <a:srgbClr val="E7EFF1"/>
          </a:solidFill>
          <a:ln/>
        </p:spPr>
      </p:sp>
      <p:sp>
        <p:nvSpPr>
          <p:cNvPr id="9" name="Text 7"/>
          <p:cNvSpPr txBox="1"/>
          <p:nvPr/>
        </p:nvSpPr>
        <p:spPr>
          <a:xfrm>
            <a:off x="6419088" y="1426464"/>
            <a:ext cx="45720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7086600" y="1234440"/>
            <a:ext cx="4251960" cy="841248"/>
          </a:xfrm>
          <a:prstGeom prst="rect">
            <a:avLst/>
          </a:prstGeom>
          <a:noFill/>
          <a:ln/>
        </p:spPr>
        <p:txBody>
          <a:bodyPr wrap="square" rtlCol="0" anchor="ctr"/>
          <a:lstStyle/>
          <a:p>
            <a:pPr indent="0" marL="0">
              <a:lnSpc>
                <a:spcPts val="1700"/>
              </a:lnSpc>
              <a:buNone/>
            </a:pPr>
            <a:r>
              <a:rPr lang="en-US" sz="1300" dirty="0">
                <a:solidFill>
                  <a:srgbClr val="10293E"/>
                </a:solidFill>
                <a:latin typeface="Calibri" pitchFamily="34" charset="0"/>
                <a:ea typeface="Calibri" pitchFamily="34" charset="-122"/>
                <a:cs typeface="Calibri" pitchFamily="34" charset="-120"/>
              </a:rPr>
              <a:t>Retrieve relevant evidence from trusted sources using semantic search</a:t>
            </a:r>
            <a:endParaRPr lang="en-US" sz="1300" dirty="0"/>
          </a:p>
        </p:txBody>
      </p:sp>
      <p:sp>
        <p:nvSpPr>
          <p:cNvPr id="11" name="Shape 9"/>
          <p:cNvSpPr/>
          <p:nvPr/>
        </p:nvSpPr>
        <p:spPr>
          <a:xfrm>
            <a:off x="548640" y="2276856"/>
            <a:ext cx="5349240" cy="841248"/>
          </a:xfrm>
          <a:prstGeom prst="roundRect">
            <a:avLst>
              <a:gd name="adj" fmla="val 8696"/>
            </a:avLst>
          </a:prstGeom>
          <a:solidFill>
            <a:srgbClr val="FFFFFF"/>
          </a:solidFill>
          <a:ln w="12700">
            <a:solidFill>
              <a:srgbClr val="E4E1D6"/>
            </a:solidFill>
            <a:prstDash val="solid"/>
          </a:ln>
        </p:spPr>
      </p:sp>
      <p:sp>
        <p:nvSpPr>
          <p:cNvPr id="12" name="Shape 10"/>
          <p:cNvSpPr/>
          <p:nvPr/>
        </p:nvSpPr>
        <p:spPr>
          <a:xfrm>
            <a:off x="749808" y="2468880"/>
            <a:ext cx="457200" cy="457200"/>
          </a:xfrm>
          <a:prstGeom prst="ellipse">
            <a:avLst/>
          </a:prstGeom>
          <a:solidFill>
            <a:srgbClr val="E7EFF1"/>
          </a:solidFill>
          <a:ln/>
        </p:spPr>
      </p:sp>
      <p:sp>
        <p:nvSpPr>
          <p:cNvPr id="13" name="Text 11"/>
          <p:cNvSpPr txBox="1"/>
          <p:nvPr/>
        </p:nvSpPr>
        <p:spPr>
          <a:xfrm>
            <a:off x="749808" y="2468880"/>
            <a:ext cx="45720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417320" y="2276856"/>
            <a:ext cx="4251960" cy="841248"/>
          </a:xfrm>
          <a:prstGeom prst="rect">
            <a:avLst/>
          </a:prstGeom>
          <a:noFill/>
          <a:ln/>
        </p:spPr>
        <p:txBody>
          <a:bodyPr wrap="square" rtlCol="0" anchor="ctr"/>
          <a:lstStyle/>
          <a:p>
            <a:pPr indent="0" marL="0">
              <a:lnSpc>
                <a:spcPts val="1700"/>
              </a:lnSpc>
              <a:buNone/>
            </a:pPr>
            <a:r>
              <a:rPr lang="en-US" sz="1300" dirty="0">
                <a:solidFill>
                  <a:srgbClr val="10293E"/>
                </a:solidFill>
                <a:latin typeface="Calibri" pitchFamily="34" charset="0"/>
                <a:ea typeface="Calibri" pitchFamily="34" charset="-122"/>
                <a:cs typeface="Calibri" pitchFamily="34" charset="-120"/>
              </a:rPr>
              <a:t>Classify each claim as Supported, Contradicted, Insufficient, or Conflicting</a:t>
            </a:r>
            <a:endParaRPr lang="en-US" sz="1300" dirty="0"/>
          </a:p>
        </p:txBody>
      </p:sp>
      <p:sp>
        <p:nvSpPr>
          <p:cNvPr id="15" name="Shape 13"/>
          <p:cNvSpPr/>
          <p:nvPr/>
        </p:nvSpPr>
        <p:spPr>
          <a:xfrm>
            <a:off x="6217920" y="2276856"/>
            <a:ext cx="5349240" cy="841248"/>
          </a:xfrm>
          <a:prstGeom prst="roundRect">
            <a:avLst>
              <a:gd name="adj" fmla="val 8696"/>
            </a:avLst>
          </a:prstGeom>
          <a:solidFill>
            <a:srgbClr val="FFFFFF"/>
          </a:solidFill>
          <a:ln w="12700">
            <a:solidFill>
              <a:srgbClr val="E4E1D6"/>
            </a:solidFill>
            <a:prstDash val="solid"/>
          </a:ln>
        </p:spPr>
      </p:sp>
      <p:sp>
        <p:nvSpPr>
          <p:cNvPr id="16" name="Shape 14"/>
          <p:cNvSpPr/>
          <p:nvPr/>
        </p:nvSpPr>
        <p:spPr>
          <a:xfrm>
            <a:off x="6419088" y="2468880"/>
            <a:ext cx="457200" cy="457200"/>
          </a:xfrm>
          <a:prstGeom prst="ellipse">
            <a:avLst/>
          </a:prstGeom>
          <a:solidFill>
            <a:srgbClr val="E7EFF1"/>
          </a:solidFill>
          <a:ln/>
        </p:spPr>
      </p:sp>
      <p:sp>
        <p:nvSpPr>
          <p:cNvPr id="17" name="Text 15"/>
          <p:cNvSpPr txBox="1"/>
          <p:nvPr/>
        </p:nvSpPr>
        <p:spPr>
          <a:xfrm>
            <a:off x="6419088" y="2468880"/>
            <a:ext cx="45720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7086600" y="2276856"/>
            <a:ext cx="4251960" cy="841248"/>
          </a:xfrm>
          <a:prstGeom prst="rect">
            <a:avLst/>
          </a:prstGeom>
          <a:noFill/>
          <a:ln/>
        </p:spPr>
        <p:txBody>
          <a:bodyPr wrap="square" rtlCol="0" anchor="ctr"/>
          <a:lstStyle/>
          <a:p>
            <a:pPr indent="0" marL="0">
              <a:lnSpc>
                <a:spcPts val="1700"/>
              </a:lnSpc>
              <a:buNone/>
            </a:pPr>
            <a:r>
              <a:rPr lang="en-US" sz="1300" dirty="0">
                <a:solidFill>
                  <a:srgbClr val="10293E"/>
                </a:solidFill>
                <a:latin typeface="Calibri" pitchFamily="34" charset="0"/>
                <a:ea typeface="Calibri" pitchFamily="34" charset="-122"/>
                <a:cs typeface="Calibri" pitchFamily="34" charset="-120"/>
              </a:rPr>
              <a:t>Detect fraud patterns independently, even with no clean fact to check</a:t>
            </a:r>
            <a:endParaRPr lang="en-US" sz="1300" dirty="0"/>
          </a:p>
        </p:txBody>
      </p:sp>
      <p:sp>
        <p:nvSpPr>
          <p:cNvPr id="19" name="Shape 17"/>
          <p:cNvSpPr/>
          <p:nvPr/>
        </p:nvSpPr>
        <p:spPr>
          <a:xfrm>
            <a:off x="548640" y="3319272"/>
            <a:ext cx="5349240" cy="841248"/>
          </a:xfrm>
          <a:prstGeom prst="roundRect">
            <a:avLst>
              <a:gd name="adj" fmla="val 8696"/>
            </a:avLst>
          </a:prstGeom>
          <a:solidFill>
            <a:srgbClr val="FFFFFF"/>
          </a:solidFill>
          <a:ln w="12700">
            <a:solidFill>
              <a:srgbClr val="E4E1D6"/>
            </a:solidFill>
            <a:prstDash val="solid"/>
          </a:ln>
        </p:spPr>
      </p:sp>
      <p:sp>
        <p:nvSpPr>
          <p:cNvPr id="20" name="Shape 18"/>
          <p:cNvSpPr/>
          <p:nvPr/>
        </p:nvSpPr>
        <p:spPr>
          <a:xfrm>
            <a:off x="749808" y="3511296"/>
            <a:ext cx="457200" cy="457200"/>
          </a:xfrm>
          <a:prstGeom prst="ellipse">
            <a:avLst/>
          </a:prstGeom>
          <a:solidFill>
            <a:srgbClr val="E7EFF1"/>
          </a:solidFill>
          <a:ln/>
        </p:spPr>
      </p:sp>
      <p:sp>
        <p:nvSpPr>
          <p:cNvPr id="21" name="Text 19"/>
          <p:cNvSpPr txBox="1"/>
          <p:nvPr/>
        </p:nvSpPr>
        <p:spPr>
          <a:xfrm>
            <a:off x="749808" y="3511296"/>
            <a:ext cx="45720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417320" y="3319272"/>
            <a:ext cx="4251960" cy="841248"/>
          </a:xfrm>
          <a:prstGeom prst="rect">
            <a:avLst/>
          </a:prstGeom>
          <a:noFill/>
          <a:ln/>
        </p:spPr>
        <p:txBody>
          <a:bodyPr wrap="square" rtlCol="0" anchor="ctr"/>
          <a:lstStyle/>
          <a:p>
            <a:pPr indent="0" marL="0">
              <a:lnSpc>
                <a:spcPts val="1700"/>
              </a:lnSpc>
              <a:buNone/>
            </a:pPr>
            <a:r>
              <a:rPr lang="en-US" sz="1300" dirty="0">
                <a:solidFill>
                  <a:srgbClr val="10293E"/>
                </a:solidFill>
                <a:latin typeface="Calibri" pitchFamily="34" charset="0"/>
                <a:ea typeface="Calibri" pitchFamily="34" charset="-122"/>
                <a:cs typeface="Calibri" pitchFamily="34" charset="-120"/>
              </a:rPr>
              <a:t>Explain every verdict with cited evidence and a confidence score</a:t>
            </a:r>
            <a:endParaRPr lang="en-US" sz="1300" dirty="0"/>
          </a:p>
        </p:txBody>
      </p:sp>
      <p:sp>
        <p:nvSpPr>
          <p:cNvPr id="23" name="Shape 21"/>
          <p:cNvSpPr/>
          <p:nvPr/>
        </p:nvSpPr>
        <p:spPr>
          <a:xfrm>
            <a:off x="6217920" y="3319272"/>
            <a:ext cx="5349240" cy="841248"/>
          </a:xfrm>
          <a:prstGeom prst="roundRect">
            <a:avLst>
              <a:gd name="adj" fmla="val 8696"/>
            </a:avLst>
          </a:prstGeom>
          <a:solidFill>
            <a:srgbClr val="FFFFFF"/>
          </a:solidFill>
          <a:ln w="12700">
            <a:solidFill>
              <a:srgbClr val="E4E1D6"/>
            </a:solidFill>
            <a:prstDash val="solid"/>
          </a:ln>
        </p:spPr>
      </p:sp>
      <p:sp>
        <p:nvSpPr>
          <p:cNvPr id="24" name="Shape 22"/>
          <p:cNvSpPr/>
          <p:nvPr/>
        </p:nvSpPr>
        <p:spPr>
          <a:xfrm>
            <a:off x="6419088" y="3511296"/>
            <a:ext cx="457200" cy="457200"/>
          </a:xfrm>
          <a:prstGeom prst="ellipse">
            <a:avLst/>
          </a:prstGeom>
          <a:solidFill>
            <a:srgbClr val="E7EFF1"/>
          </a:solidFill>
          <a:ln/>
        </p:spPr>
      </p:sp>
      <p:sp>
        <p:nvSpPr>
          <p:cNvPr id="25" name="Text 23"/>
          <p:cNvSpPr txBox="1"/>
          <p:nvPr/>
        </p:nvSpPr>
        <p:spPr>
          <a:xfrm>
            <a:off x="6419088" y="3511296"/>
            <a:ext cx="45720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7086600" y="3319272"/>
            <a:ext cx="4251960" cy="841248"/>
          </a:xfrm>
          <a:prstGeom prst="rect">
            <a:avLst/>
          </a:prstGeom>
          <a:noFill/>
          <a:ln/>
        </p:spPr>
        <p:txBody>
          <a:bodyPr wrap="square" rtlCol="0" anchor="ctr"/>
          <a:lstStyle/>
          <a:p>
            <a:pPr indent="0" marL="0">
              <a:lnSpc>
                <a:spcPts val="1700"/>
              </a:lnSpc>
              <a:buNone/>
            </a:pPr>
            <a:r>
              <a:rPr lang="en-US" sz="1300" dirty="0">
                <a:solidFill>
                  <a:srgbClr val="10293E"/>
                </a:solidFill>
                <a:latin typeface="Calibri" pitchFamily="34" charset="0"/>
                <a:ea typeface="Calibri" pitchFamily="34" charset="-122"/>
                <a:cs typeface="Calibri" pitchFamily="34" charset="-120"/>
              </a:rPr>
              <a:t>Deliver real-time checking through a web app and browser extension</a:t>
            </a:r>
            <a:endParaRPr lang="en-US" sz="1300" dirty="0"/>
          </a:p>
        </p:txBody>
      </p:sp>
      <p:sp>
        <p:nvSpPr>
          <p:cNvPr id="27" name="Text 25"/>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Proposed Architecture</a:t>
            </a:r>
            <a:endParaRPr lang="en-US" sz="3000" dirty="0"/>
          </a:p>
        </p:txBody>
      </p:sp>
      <p:sp>
        <p:nvSpPr>
          <p:cNvPr id="3" name="Shape 1"/>
          <p:cNvSpPr/>
          <p:nvPr/>
        </p:nvSpPr>
        <p:spPr>
          <a:xfrm>
            <a:off x="5257800" y="1051560"/>
            <a:ext cx="1645920" cy="502920"/>
          </a:xfrm>
          <a:prstGeom prst="roundRect">
            <a:avLst>
              <a:gd name="adj" fmla="val 12727"/>
            </a:avLst>
          </a:prstGeom>
          <a:solidFill>
            <a:srgbClr val="10293E"/>
          </a:solidFill>
          <a:ln w="12700">
            <a:solidFill>
              <a:srgbClr val="D8D4C6"/>
            </a:solidFill>
            <a:prstDash val="solid"/>
          </a:ln>
        </p:spPr>
      </p:sp>
      <p:sp>
        <p:nvSpPr>
          <p:cNvPr id="4" name="Text 2"/>
          <p:cNvSpPr txBox="1"/>
          <p:nvPr/>
        </p:nvSpPr>
        <p:spPr>
          <a:xfrm>
            <a:off x="5330952" y="1051560"/>
            <a:ext cx="1499616" cy="502920"/>
          </a:xfrm>
          <a:prstGeom prst="rect">
            <a:avLst/>
          </a:prstGeom>
          <a:noFill/>
          <a:ln/>
        </p:spPr>
        <p:txBody>
          <a:bodyPr wrap="square" rtlCol="0" anchor="ctr"/>
          <a:lstStyle/>
          <a:p>
            <a:pPr algn="ctr" indent="0" marL="0">
              <a:lnSpc>
                <a:spcPts val="1500"/>
              </a:lnSpc>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5" name="Shape 3"/>
          <p:cNvSpPr/>
          <p:nvPr/>
        </p:nvSpPr>
        <p:spPr>
          <a:xfrm>
            <a:off x="6080760" y="1554480"/>
            <a:ext cx="0" cy="205740"/>
          </a:xfrm>
          <a:prstGeom prst="line">
            <a:avLst/>
          </a:prstGeom>
          <a:noFill/>
          <a:ln w="19050">
            <a:solidFill>
              <a:srgbClr val="1C7293"/>
            </a:solidFill>
            <a:prstDash val="solid"/>
          </a:ln>
        </p:spPr>
      </p:sp>
      <p:sp>
        <p:nvSpPr>
          <p:cNvPr id="6" name="Shape 4"/>
          <p:cNvSpPr/>
          <p:nvPr/>
        </p:nvSpPr>
        <p:spPr>
          <a:xfrm>
            <a:off x="2743200" y="1760220"/>
            <a:ext cx="3337560" cy="0"/>
          </a:xfrm>
          <a:prstGeom prst="line">
            <a:avLst/>
          </a:prstGeom>
          <a:noFill/>
          <a:ln w="19050">
            <a:solidFill>
              <a:srgbClr val="1C7293"/>
            </a:solidFill>
            <a:prstDash val="solid"/>
          </a:ln>
        </p:spPr>
      </p:sp>
      <p:sp>
        <p:nvSpPr>
          <p:cNvPr id="7" name="Shape 5"/>
          <p:cNvSpPr/>
          <p:nvPr/>
        </p:nvSpPr>
        <p:spPr>
          <a:xfrm>
            <a:off x="2743200" y="1760220"/>
            <a:ext cx="0" cy="205740"/>
          </a:xfrm>
          <a:prstGeom prst="line">
            <a:avLst/>
          </a:prstGeom>
          <a:noFill/>
          <a:ln w="19050">
            <a:solidFill>
              <a:srgbClr val="1C7293"/>
            </a:solidFill>
            <a:prstDash val="solid"/>
            <a:tailEnd type="triangle"/>
          </a:ln>
        </p:spPr>
      </p:sp>
      <p:sp>
        <p:nvSpPr>
          <p:cNvPr id="8" name="Shape 6"/>
          <p:cNvSpPr/>
          <p:nvPr/>
        </p:nvSpPr>
        <p:spPr>
          <a:xfrm>
            <a:off x="6080760" y="1554480"/>
            <a:ext cx="0" cy="205740"/>
          </a:xfrm>
          <a:prstGeom prst="line">
            <a:avLst/>
          </a:prstGeom>
          <a:noFill/>
          <a:ln w="19050">
            <a:solidFill>
              <a:srgbClr val="1C7293"/>
            </a:solidFill>
            <a:prstDash val="solid"/>
          </a:ln>
        </p:spPr>
      </p:sp>
      <p:sp>
        <p:nvSpPr>
          <p:cNvPr id="9" name="Shape 7"/>
          <p:cNvSpPr/>
          <p:nvPr/>
        </p:nvSpPr>
        <p:spPr>
          <a:xfrm>
            <a:off x="6080760" y="1760220"/>
            <a:ext cx="3337560" cy="0"/>
          </a:xfrm>
          <a:prstGeom prst="line">
            <a:avLst/>
          </a:prstGeom>
          <a:noFill/>
          <a:ln w="19050">
            <a:solidFill>
              <a:srgbClr val="1C7293"/>
            </a:solidFill>
            <a:prstDash val="solid"/>
          </a:ln>
        </p:spPr>
      </p:sp>
      <p:sp>
        <p:nvSpPr>
          <p:cNvPr id="10" name="Shape 8"/>
          <p:cNvSpPr/>
          <p:nvPr/>
        </p:nvSpPr>
        <p:spPr>
          <a:xfrm>
            <a:off x="9418320" y="1760220"/>
            <a:ext cx="0" cy="205740"/>
          </a:xfrm>
          <a:prstGeom prst="line">
            <a:avLst/>
          </a:prstGeom>
          <a:noFill/>
          <a:ln w="19050">
            <a:solidFill>
              <a:srgbClr val="1C7293"/>
            </a:solidFill>
            <a:prstDash val="solid"/>
            <a:tailEnd type="triangle"/>
          </a:ln>
        </p:spPr>
      </p:sp>
      <p:sp>
        <p:nvSpPr>
          <p:cNvPr id="11" name="Shape 9"/>
          <p:cNvSpPr/>
          <p:nvPr/>
        </p:nvSpPr>
        <p:spPr>
          <a:xfrm>
            <a:off x="1920240" y="1965960"/>
            <a:ext cx="1645920" cy="502920"/>
          </a:xfrm>
          <a:prstGeom prst="roundRect">
            <a:avLst>
              <a:gd name="adj" fmla="val 12727"/>
            </a:avLst>
          </a:prstGeom>
          <a:solidFill>
            <a:srgbClr val="E7EFF1"/>
          </a:solidFill>
          <a:ln w="12700">
            <a:solidFill>
              <a:srgbClr val="D8D4C6"/>
            </a:solidFill>
            <a:prstDash val="solid"/>
          </a:ln>
        </p:spPr>
      </p:sp>
      <p:sp>
        <p:nvSpPr>
          <p:cNvPr id="12" name="Text 10"/>
          <p:cNvSpPr txBox="1"/>
          <p:nvPr/>
        </p:nvSpPr>
        <p:spPr>
          <a:xfrm>
            <a:off x="1993392" y="1965960"/>
            <a:ext cx="1499616" cy="502920"/>
          </a:xfrm>
          <a:prstGeom prst="rect">
            <a:avLst/>
          </a:prstGeom>
          <a:noFill/>
          <a:ln/>
        </p:spPr>
        <p:txBody>
          <a:bodyPr wrap="square" rtlCol="0" anchor="ctr"/>
          <a:lstStyle/>
          <a:p>
            <a:pPr algn="ctr" indent="0" marL="0">
              <a:lnSpc>
                <a:spcPts val="1400"/>
              </a:lnSpc>
              <a:buNone/>
            </a:pPr>
            <a:r>
              <a:rPr lang="en-US" sz="1200" b="1" dirty="0">
                <a:solidFill>
                  <a:srgbClr val="1C7293"/>
                </a:solidFill>
                <a:latin typeface="Calibri" pitchFamily="34" charset="0"/>
                <a:ea typeface="Calibri" pitchFamily="34" charset="-122"/>
                <a:cs typeface="Calibri" pitchFamily="34" charset="-120"/>
              </a:rPr>
              <a:t>Web App</a:t>
            </a:r>
            <a:endParaRPr lang="en-US" sz="1200" dirty="0"/>
          </a:p>
        </p:txBody>
      </p:sp>
      <p:sp>
        <p:nvSpPr>
          <p:cNvPr id="13" name="Shape 11"/>
          <p:cNvSpPr/>
          <p:nvPr/>
        </p:nvSpPr>
        <p:spPr>
          <a:xfrm>
            <a:off x="8595360" y="1965960"/>
            <a:ext cx="1645920" cy="502920"/>
          </a:xfrm>
          <a:prstGeom prst="roundRect">
            <a:avLst>
              <a:gd name="adj" fmla="val 12727"/>
            </a:avLst>
          </a:prstGeom>
          <a:solidFill>
            <a:srgbClr val="E7EFF1"/>
          </a:solidFill>
          <a:ln w="12700">
            <a:solidFill>
              <a:srgbClr val="D8D4C6"/>
            </a:solidFill>
            <a:prstDash val="solid"/>
          </a:ln>
        </p:spPr>
      </p:sp>
      <p:sp>
        <p:nvSpPr>
          <p:cNvPr id="14" name="Text 12"/>
          <p:cNvSpPr txBox="1"/>
          <p:nvPr/>
        </p:nvSpPr>
        <p:spPr>
          <a:xfrm>
            <a:off x="8668512" y="1965960"/>
            <a:ext cx="1499616" cy="502920"/>
          </a:xfrm>
          <a:prstGeom prst="rect">
            <a:avLst/>
          </a:prstGeom>
          <a:noFill/>
          <a:ln/>
        </p:spPr>
        <p:txBody>
          <a:bodyPr wrap="square" rtlCol="0" anchor="ctr"/>
          <a:lstStyle/>
          <a:p>
            <a:pPr algn="ctr" indent="0" marL="0">
              <a:lnSpc>
                <a:spcPts val="1400"/>
              </a:lnSpc>
              <a:buNone/>
            </a:pPr>
            <a:r>
              <a:rPr lang="en-US" sz="1200" b="1" dirty="0">
                <a:solidFill>
                  <a:srgbClr val="1C7293"/>
                </a:solidFill>
                <a:latin typeface="Calibri" pitchFamily="34" charset="0"/>
                <a:ea typeface="Calibri" pitchFamily="34" charset="-122"/>
                <a:cs typeface="Calibri" pitchFamily="34" charset="-120"/>
              </a:rPr>
              <a:t>Browser Ext.</a:t>
            </a:r>
            <a:endParaRPr lang="en-US" sz="1200" dirty="0"/>
          </a:p>
        </p:txBody>
      </p:sp>
      <p:sp>
        <p:nvSpPr>
          <p:cNvPr id="15" name="Shape 13"/>
          <p:cNvSpPr/>
          <p:nvPr/>
        </p:nvSpPr>
        <p:spPr>
          <a:xfrm>
            <a:off x="2743200" y="2468880"/>
            <a:ext cx="0" cy="205740"/>
          </a:xfrm>
          <a:prstGeom prst="line">
            <a:avLst/>
          </a:prstGeom>
          <a:noFill/>
          <a:ln w="19050">
            <a:solidFill>
              <a:srgbClr val="1C7293"/>
            </a:solidFill>
            <a:prstDash val="solid"/>
          </a:ln>
        </p:spPr>
      </p:sp>
      <p:sp>
        <p:nvSpPr>
          <p:cNvPr id="16" name="Shape 14"/>
          <p:cNvSpPr/>
          <p:nvPr/>
        </p:nvSpPr>
        <p:spPr>
          <a:xfrm>
            <a:off x="2743200" y="2674620"/>
            <a:ext cx="3337560" cy="0"/>
          </a:xfrm>
          <a:prstGeom prst="line">
            <a:avLst/>
          </a:prstGeom>
          <a:noFill/>
          <a:ln w="19050">
            <a:solidFill>
              <a:srgbClr val="1C7293"/>
            </a:solidFill>
            <a:prstDash val="solid"/>
          </a:ln>
        </p:spPr>
      </p:sp>
      <p:sp>
        <p:nvSpPr>
          <p:cNvPr id="17" name="Shape 15"/>
          <p:cNvSpPr/>
          <p:nvPr/>
        </p:nvSpPr>
        <p:spPr>
          <a:xfrm>
            <a:off x="6080760" y="2674620"/>
            <a:ext cx="0" cy="205740"/>
          </a:xfrm>
          <a:prstGeom prst="line">
            <a:avLst/>
          </a:prstGeom>
          <a:noFill/>
          <a:ln w="19050">
            <a:solidFill>
              <a:srgbClr val="1C7293"/>
            </a:solidFill>
            <a:prstDash val="solid"/>
            <a:tailEnd type="triangle"/>
          </a:ln>
        </p:spPr>
      </p:sp>
      <p:sp>
        <p:nvSpPr>
          <p:cNvPr id="18" name="Shape 16"/>
          <p:cNvSpPr/>
          <p:nvPr/>
        </p:nvSpPr>
        <p:spPr>
          <a:xfrm>
            <a:off x="9418320" y="2468880"/>
            <a:ext cx="0" cy="205740"/>
          </a:xfrm>
          <a:prstGeom prst="line">
            <a:avLst/>
          </a:prstGeom>
          <a:noFill/>
          <a:ln w="19050">
            <a:solidFill>
              <a:srgbClr val="1C7293"/>
            </a:solidFill>
            <a:prstDash val="solid"/>
          </a:ln>
        </p:spPr>
      </p:sp>
      <p:sp>
        <p:nvSpPr>
          <p:cNvPr id="19" name="Shape 17"/>
          <p:cNvSpPr/>
          <p:nvPr/>
        </p:nvSpPr>
        <p:spPr>
          <a:xfrm>
            <a:off x="6080760" y="2674620"/>
            <a:ext cx="3337560" cy="0"/>
          </a:xfrm>
          <a:prstGeom prst="line">
            <a:avLst/>
          </a:prstGeom>
          <a:noFill/>
          <a:ln w="19050">
            <a:solidFill>
              <a:srgbClr val="1C7293"/>
            </a:solidFill>
            <a:prstDash val="solid"/>
          </a:ln>
        </p:spPr>
      </p:sp>
      <p:sp>
        <p:nvSpPr>
          <p:cNvPr id="20" name="Shape 18"/>
          <p:cNvSpPr/>
          <p:nvPr/>
        </p:nvSpPr>
        <p:spPr>
          <a:xfrm>
            <a:off x="6080760" y="2674620"/>
            <a:ext cx="0" cy="205740"/>
          </a:xfrm>
          <a:prstGeom prst="line">
            <a:avLst/>
          </a:prstGeom>
          <a:noFill/>
          <a:ln w="19050">
            <a:solidFill>
              <a:srgbClr val="1C7293"/>
            </a:solidFill>
            <a:prstDash val="solid"/>
            <a:tailEnd type="triangle"/>
          </a:ln>
        </p:spPr>
      </p:sp>
      <p:sp>
        <p:nvSpPr>
          <p:cNvPr id="21" name="Shape 19"/>
          <p:cNvSpPr/>
          <p:nvPr/>
        </p:nvSpPr>
        <p:spPr>
          <a:xfrm>
            <a:off x="5074920" y="2880360"/>
            <a:ext cx="2011680" cy="502920"/>
          </a:xfrm>
          <a:prstGeom prst="roundRect">
            <a:avLst>
              <a:gd name="adj" fmla="val 12727"/>
            </a:avLst>
          </a:prstGeom>
          <a:solidFill>
            <a:srgbClr val="10293E"/>
          </a:solidFill>
          <a:ln w="12700">
            <a:solidFill>
              <a:srgbClr val="D8D4C6"/>
            </a:solidFill>
            <a:prstDash val="solid"/>
          </a:ln>
        </p:spPr>
      </p:sp>
      <p:sp>
        <p:nvSpPr>
          <p:cNvPr id="22" name="Text 20"/>
          <p:cNvSpPr txBox="1"/>
          <p:nvPr/>
        </p:nvSpPr>
        <p:spPr>
          <a:xfrm>
            <a:off x="5148072" y="2880360"/>
            <a:ext cx="1865376" cy="502920"/>
          </a:xfrm>
          <a:prstGeom prst="rect">
            <a:avLst/>
          </a:prstGeom>
          <a:noFill/>
          <a:ln/>
        </p:spPr>
        <p:txBody>
          <a:bodyPr wrap="square" rtlCol="0" anchor="ctr"/>
          <a:lstStyle/>
          <a:p>
            <a:pPr algn="ctr" indent="0" marL="0">
              <a:lnSpc>
                <a:spcPts val="1500"/>
              </a:lnSpc>
              <a:buNone/>
            </a:pPr>
            <a:r>
              <a:rPr lang="en-US" sz="1300" b="1" dirty="0">
                <a:solidFill>
                  <a:srgbClr val="FFFFFF"/>
                </a:solidFill>
                <a:latin typeface="Calibri" pitchFamily="34" charset="0"/>
                <a:ea typeface="Calibri" pitchFamily="34" charset="-122"/>
                <a:cs typeface="Calibri" pitchFamily="34" charset="-120"/>
              </a:rPr>
              <a:t>Backend API</a:t>
            </a:r>
            <a:endParaRPr lang="en-US" sz="1300" dirty="0"/>
          </a:p>
        </p:txBody>
      </p:sp>
      <p:sp>
        <p:nvSpPr>
          <p:cNvPr id="23" name="Shape 21"/>
          <p:cNvSpPr/>
          <p:nvPr/>
        </p:nvSpPr>
        <p:spPr>
          <a:xfrm>
            <a:off x="6080760" y="3383280"/>
            <a:ext cx="0" cy="411480"/>
          </a:xfrm>
          <a:prstGeom prst="line">
            <a:avLst/>
          </a:prstGeom>
          <a:noFill/>
          <a:ln w="19050">
            <a:solidFill>
              <a:srgbClr val="9FA6AE"/>
            </a:solidFill>
            <a:prstDash val="solid"/>
            <a:tailEnd type="triangle"/>
          </a:ln>
        </p:spPr>
      </p:sp>
      <p:sp>
        <p:nvSpPr>
          <p:cNvPr id="24" name="Shape 22"/>
          <p:cNvSpPr/>
          <p:nvPr/>
        </p:nvSpPr>
        <p:spPr>
          <a:xfrm>
            <a:off x="4892040" y="3794760"/>
            <a:ext cx="2377440" cy="548640"/>
          </a:xfrm>
          <a:prstGeom prst="roundRect">
            <a:avLst>
              <a:gd name="adj" fmla="val 11667"/>
            </a:avLst>
          </a:prstGeom>
          <a:solidFill>
            <a:srgbClr val="FFFFFF"/>
          </a:solidFill>
          <a:ln w="12700">
            <a:solidFill>
              <a:srgbClr val="D8D4C6"/>
            </a:solidFill>
            <a:prstDash val="solid"/>
          </a:ln>
        </p:spPr>
      </p:sp>
      <p:sp>
        <p:nvSpPr>
          <p:cNvPr id="25" name="Text 23"/>
          <p:cNvSpPr txBox="1"/>
          <p:nvPr/>
        </p:nvSpPr>
        <p:spPr>
          <a:xfrm>
            <a:off x="4965192" y="3867912"/>
            <a:ext cx="2231136" cy="301752"/>
          </a:xfrm>
          <a:prstGeom prst="rect">
            <a:avLst/>
          </a:prstGeom>
          <a:noFill/>
          <a:ln/>
        </p:spPr>
        <p:txBody>
          <a:bodyPr wrap="square" rtlCol="0" anchor="b"/>
          <a:lstStyle/>
          <a:p>
            <a:pPr algn="ctr" indent="0" marL="0">
              <a:lnSpc>
                <a:spcPts val="1450"/>
              </a:lnSpc>
              <a:buNone/>
            </a:pPr>
            <a:r>
              <a:rPr lang="en-US" sz="1250" b="1" dirty="0">
                <a:solidFill>
                  <a:srgbClr val="10293E"/>
                </a:solidFill>
                <a:latin typeface="Calibri" pitchFamily="34" charset="0"/>
                <a:ea typeface="Calibri" pitchFamily="34" charset="-122"/>
                <a:cs typeface="Calibri" pitchFamily="34" charset="-120"/>
              </a:rPr>
              <a:t>Claim Extraction</a:t>
            </a:r>
            <a:endParaRPr lang="en-US" sz="1250" dirty="0"/>
          </a:p>
        </p:txBody>
      </p:sp>
      <p:sp>
        <p:nvSpPr>
          <p:cNvPr id="26" name="Text 24"/>
          <p:cNvSpPr txBox="1"/>
          <p:nvPr/>
        </p:nvSpPr>
        <p:spPr>
          <a:xfrm>
            <a:off x="4965192" y="4096512"/>
            <a:ext cx="2231136" cy="219456"/>
          </a:xfrm>
          <a:prstGeom prst="rect">
            <a:avLst/>
          </a:prstGeom>
          <a:noFill/>
          <a:ln/>
        </p:spPr>
        <p:txBody>
          <a:bodyPr wrap="square" rtlCol="0" anchor="t"/>
          <a:lstStyle/>
          <a:p>
            <a:pPr algn="ctr" indent="0" marL="0">
              <a:buNone/>
            </a:pPr>
            <a:r>
              <a:rPr lang="en-US" sz="950" dirty="0">
                <a:solidFill>
                  <a:srgbClr val="5A6B7A"/>
                </a:solidFill>
                <a:latin typeface="Calibri" pitchFamily="34" charset="0"/>
                <a:ea typeface="Calibri" pitchFamily="34" charset="-122"/>
                <a:cs typeface="Calibri" pitchFamily="34" charset="-120"/>
              </a:rPr>
              <a:t>NLP / Transformer</a:t>
            </a:r>
            <a:endParaRPr lang="en-US" sz="950" dirty="0"/>
          </a:p>
        </p:txBody>
      </p:sp>
      <p:sp>
        <p:nvSpPr>
          <p:cNvPr id="27" name="Shape 25"/>
          <p:cNvSpPr/>
          <p:nvPr/>
        </p:nvSpPr>
        <p:spPr>
          <a:xfrm>
            <a:off x="6080760" y="4343400"/>
            <a:ext cx="0" cy="274320"/>
          </a:xfrm>
          <a:prstGeom prst="line">
            <a:avLst/>
          </a:prstGeom>
          <a:noFill/>
          <a:ln w="19050">
            <a:solidFill>
              <a:srgbClr val="9FA6AE"/>
            </a:solidFill>
            <a:prstDash val="solid"/>
          </a:ln>
        </p:spPr>
      </p:sp>
      <p:sp>
        <p:nvSpPr>
          <p:cNvPr id="28" name="Shape 26"/>
          <p:cNvSpPr/>
          <p:nvPr/>
        </p:nvSpPr>
        <p:spPr>
          <a:xfrm>
            <a:off x="2880360" y="4617720"/>
            <a:ext cx="3200400" cy="0"/>
          </a:xfrm>
          <a:prstGeom prst="line">
            <a:avLst/>
          </a:prstGeom>
          <a:noFill/>
          <a:ln w="19050">
            <a:solidFill>
              <a:srgbClr val="9FA6AE"/>
            </a:solidFill>
            <a:prstDash val="solid"/>
          </a:ln>
        </p:spPr>
      </p:sp>
      <p:sp>
        <p:nvSpPr>
          <p:cNvPr id="29" name="Shape 27"/>
          <p:cNvSpPr/>
          <p:nvPr/>
        </p:nvSpPr>
        <p:spPr>
          <a:xfrm>
            <a:off x="2880360" y="4617720"/>
            <a:ext cx="0" cy="274320"/>
          </a:xfrm>
          <a:prstGeom prst="line">
            <a:avLst/>
          </a:prstGeom>
          <a:noFill/>
          <a:ln w="19050">
            <a:solidFill>
              <a:srgbClr val="9FA6AE"/>
            </a:solidFill>
            <a:prstDash val="solid"/>
            <a:tailEnd type="triangle"/>
          </a:ln>
        </p:spPr>
      </p:sp>
      <p:sp>
        <p:nvSpPr>
          <p:cNvPr id="30" name="Shape 28"/>
          <p:cNvSpPr/>
          <p:nvPr/>
        </p:nvSpPr>
        <p:spPr>
          <a:xfrm>
            <a:off x="6080760" y="4343400"/>
            <a:ext cx="0" cy="274320"/>
          </a:xfrm>
          <a:prstGeom prst="line">
            <a:avLst/>
          </a:prstGeom>
          <a:noFill/>
          <a:ln w="19050">
            <a:solidFill>
              <a:srgbClr val="9FA6AE"/>
            </a:solidFill>
            <a:prstDash val="solid"/>
          </a:ln>
        </p:spPr>
      </p:sp>
      <p:sp>
        <p:nvSpPr>
          <p:cNvPr id="31" name="Shape 29"/>
          <p:cNvSpPr/>
          <p:nvPr/>
        </p:nvSpPr>
        <p:spPr>
          <a:xfrm>
            <a:off x="6080760" y="4617720"/>
            <a:ext cx="3200400" cy="0"/>
          </a:xfrm>
          <a:prstGeom prst="line">
            <a:avLst/>
          </a:prstGeom>
          <a:noFill/>
          <a:ln w="19050">
            <a:solidFill>
              <a:srgbClr val="9FA6AE"/>
            </a:solidFill>
            <a:prstDash val="solid"/>
          </a:ln>
        </p:spPr>
      </p:sp>
      <p:sp>
        <p:nvSpPr>
          <p:cNvPr id="32" name="Shape 30"/>
          <p:cNvSpPr/>
          <p:nvPr/>
        </p:nvSpPr>
        <p:spPr>
          <a:xfrm>
            <a:off x="9281160" y="4617720"/>
            <a:ext cx="0" cy="274320"/>
          </a:xfrm>
          <a:prstGeom prst="line">
            <a:avLst/>
          </a:prstGeom>
          <a:noFill/>
          <a:ln w="19050">
            <a:solidFill>
              <a:srgbClr val="9FA6AE"/>
            </a:solidFill>
            <a:prstDash val="solid"/>
            <a:tailEnd type="triangle"/>
          </a:ln>
        </p:spPr>
      </p:sp>
      <p:sp>
        <p:nvSpPr>
          <p:cNvPr id="33" name="Text 31"/>
          <p:cNvSpPr txBox="1"/>
          <p:nvPr/>
        </p:nvSpPr>
        <p:spPr>
          <a:xfrm>
            <a:off x="1463040" y="4370832"/>
            <a:ext cx="2834640" cy="201168"/>
          </a:xfrm>
          <a:prstGeom prst="rect">
            <a:avLst/>
          </a:prstGeom>
          <a:noFill/>
          <a:ln/>
        </p:spPr>
        <p:txBody>
          <a:bodyPr wrap="square" rtlCol="0" anchor="ctr"/>
          <a:lstStyle/>
          <a:p>
            <a:pPr algn="ctr" indent="0" marL="0">
              <a:buNone/>
            </a:pPr>
            <a:r>
              <a:rPr lang="en-US" sz="950" i="1" dirty="0">
                <a:solidFill>
                  <a:srgbClr val="5A6B7A"/>
                </a:solidFill>
                <a:latin typeface="Calibri" pitchFamily="34" charset="0"/>
                <a:ea typeface="Calibri" pitchFamily="34" charset="-122"/>
                <a:cs typeface="Calibri" pitchFamily="34" charset="-120"/>
              </a:rPr>
              <a:t>Claim verification branch</a:t>
            </a:r>
            <a:endParaRPr lang="en-US" sz="950" dirty="0"/>
          </a:p>
        </p:txBody>
      </p:sp>
      <p:sp>
        <p:nvSpPr>
          <p:cNvPr id="34" name="Text 32"/>
          <p:cNvSpPr txBox="1"/>
          <p:nvPr/>
        </p:nvSpPr>
        <p:spPr>
          <a:xfrm>
            <a:off x="8046720" y="4370832"/>
            <a:ext cx="2468880" cy="201168"/>
          </a:xfrm>
          <a:prstGeom prst="rect">
            <a:avLst/>
          </a:prstGeom>
          <a:noFill/>
          <a:ln/>
        </p:spPr>
        <p:txBody>
          <a:bodyPr wrap="square" rtlCol="0" anchor="ctr"/>
          <a:lstStyle/>
          <a:p>
            <a:pPr algn="ctr" indent="0" marL="0">
              <a:buNone/>
            </a:pPr>
            <a:r>
              <a:rPr lang="en-US" sz="950" i="1" dirty="0">
                <a:solidFill>
                  <a:srgbClr val="5A6B7A"/>
                </a:solidFill>
                <a:latin typeface="Calibri" pitchFamily="34" charset="0"/>
                <a:ea typeface="Calibri" pitchFamily="34" charset="-122"/>
                <a:cs typeface="Calibri" pitchFamily="34" charset="-120"/>
              </a:rPr>
              <a:t>Scam signal branch</a:t>
            </a:r>
            <a:endParaRPr lang="en-US" sz="950" dirty="0"/>
          </a:p>
        </p:txBody>
      </p:sp>
      <p:sp>
        <p:nvSpPr>
          <p:cNvPr id="35" name="Shape 33"/>
          <p:cNvSpPr/>
          <p:nvPr/>
        </p:nvSpPr>
        <p:spPr>
          <a:xfrm>
            <a:off x="1600200" y="4892040"/>
            <a:ext cx="2560320" cy="457200"/>
          </a:xfrm>
          <a:prstGeom prst="roundRect">
            <a:avLst>
              <a:gd name="adj" fmla="val 14000"/>
            </a:avLst>
          </a:prstGeom>
          <a:solidFill>
            <a:srgbClr val="E7EFF1"/>
          </a:solidFill>
          <a:ln w="12700">
            <a:solidFill>
              <a:srgbClr val="D8D4C6"/>
            </a:solidFill>
            <a:prstDash val="solid"/>
          </a:ln>
        </p:spPr>
      </p:sp>
      <p:sp>
        <p:nvSpPr>
          <p:cNvPr id="36" name="Text 34"/>
          <p:cNvSpPr txBox="1"/>
          <p:nvPr/>
        </p:nvSpPr>
        <p:spPr>
          <a:xfrm>
            <a:off x="1673352" y="4892040"/>
            <a:ext cx="2414016" cy="457200"/>
          </a:xfrm>
          <a:prstGeom prst="rect">
            <a:avLst/>
          </a:prstGeom>
          <a:noFill/>
          <a:ln/>
        </p:spPr>
        <p:txBody>
          <a:bodyPr wrap="square" rtlCol="0" anchor="ctr"/>
          <a:lstStyle/>
          <a:p>
            <a:pPr algn="ctr" indent="0" marL="0">
              <a:lnSpc>
                <a:spcPts val="1250"/>
              </a:lnSpc>
              <a:buNone/>
            </a:pPr>
            <a:r>
              <a:rPr lang="en-US" sz="1050" b="1" dirty="0">
                <a:solidFill>
                  <a:srgbClr val="1C7293"/>
                </a:solidFill>
                <a:latin typeface="Calibri" pitchFamily="34" charset="0"/>
                <a:ea typeface="Calibri" pitchFamily="34" charset="-122"/>
                <a:cs typeface="Calibri" pitchFamily="34" charset="-120"/>
              </a:rPr>
              <a:t>Evidence Retrieval · RAG · NLI</a:t>
            </a:r>
            <a:endParaRPr lang="en-US" sz="1050" dirty="0"/>
          </a:p>
        </p:txBody>
      </p:sp>
      <p:sp>
        <p:nvSpPr>
          <p:cNvPr id="37" name="Shape 35"/>
          <p:cNvSpPr/>
          <p:nvPr/>
        </p:nvSpPr>
        <p:spPr>
          <a:xfrm>
            <a:off x="8001000" y="4892040"/>
            <a:ext cx="2560320" cy="457200"/>
          </a:xfrm>
          <a:prstGeom prst="roundRect">
            <a:avLst>
              <a:gd name="adj" fmla="val 14000"/>
            </a:avLst>
          </a:prstGeom>
          <a:solidFill>
            <a:srgbClr val="FCEFDA"/>
          </a:solidFill>
          <a:ln w="12700">
            <a:solidFill>
              <a:srgbClr val="D8D4C6"/>
            </a:solidFill>
            <a:prstDash val="solid"/>
          </a:ln>
        </p:spPr>
      </p:sp>
      <p:sp>
        <p:nvSpPr>
          <p:cNvPr id="38" name="Text 36"/>
          <p:cNvSpPr txBox="1"/>
          <p:nvPr/>
        </p:nvSpPr>
        <p:spPr>
          <a:xfrm>
            <a:off x="8074152" y="4892040"/>
            <a:ext cx="2414016" cy="457200"/>
          </a:xfrm>
          <a:prstGeom prst="rect">
            <a:avLst/>
          </a:prstGeom>
          <a:noFill/>
          <a:ln/>
        </p:spPr>
        <p:txBody>
          <a:bodyPr wrap="square" rtlCol="0" anchor="ctr"/>
          <a:lstStyle/>
          <a:p>
            <a:pPr algn="ctr" indent="0" marL="0">
              <a:lnSpc>
                <a:spcPts val="1250"/>
              </a:lnSpc>
              <a:buNone/>
            </a:pPr>
            <a:r>
              <a:rPr lang="en-US" sz="1050" b="1" dirty="0">
                <a:solidFill>
                  <a:srgbClr val="8A5A00"/>
                </a:solidFill>
                <a:latin typeface="Calibri" pitchFamily="34" charset="0"/>
                <a:ea typeface="Calibri" pitchFamily="34" charset="-122"/>
                <a:cs typeface="Calibri" pitchFamily="34" charset="-120"/>
              </a:rPr>
              <a:t>Fee / Urgency / Link Checks</a:t>
            </a:r>
            <a:endParaRPr lang="en-US" sz="1050" dirty="0"/>
          </a:p>
        </p:txBody>
      </p:sp>
      <p:sp>
        <p:nvSpPr>
          <p:cNvPr id="39" name="Shape 37"/>
          <p:cNvSpPr/>
          <p:nvPr/>
        </p:nvSpPr>
        <p:spPr>
          <a:xfrm>
            <a:off x="2880360" y="5349240"/>
            <a:ext cx="0" cy="137160"/>
          </a:xfrm>
          <a:prstGeom prst="line">
            <a:avLst/>
          </a:prstGeom>
          <a:noFill/>
          <a:ln w="19050">
            <a:solidFill>
              <a:srgbClr val="9FA6AE"/>
            </a:solidFill>
            <a:prstDash val="solid"/>
          </a:ln>
        </p:spPr>
      </p:sp>
      <p:sp>
        <p:nvSpPr>
          <p:cNvPr id="40" name="Shape 38"/>
          <p:cNvSpPr/>
          <p:nvPr/>
        </p:nvSpPr>
        <p:spPr>
          <a:xfrm>
            <a:off x="2880360" y="5486400"/>
            <a:ext cx="3200400" cy="0"/>
          </a:xfrm>
          <a:prstGeom prst="line">
            <a:avLst/>
          </a:prstGeom>
          <a:noFill/>
          <a:ln w="19050">
            <a:solidFill>
              <a:srgbClr val="9FA6AE"/>
            </a:solidFill>
            <a:prstDash val="solid"/>
          </a:ln>
        </p:spPr>
      </p:sp>
      <p:sp>
        <p:nvSpPr>
          <p:cNvPr id="41" name="Shape 39"/>
          <p:cNvSpPr/>
          <p:nvPr/>
        </p:nvSpPr>
        <p:spPr>
          <a:xfrm>
            <a:off x="6080760" y="5486400"/>
            <a:ext cx="0" cy="137160"/>
          </a:xfrm>
          <a:prstGeom prst="line">
            <a:avLst/>
          </a:prstGeom>
          <a:noFill/>
          <a:ln w="19050">
            <a:solidFill>
              <a:srgbClr val="9FA6AE"/>
            </a:solidFill>
            <a:prstDash val="solid"/>
            <a:tailEnd type="triangle"/>
          </a:ln>
        </p:spPr>
      </p:sp>
      <p:sp>
        <p:nvSpPr>
          <p:cNvPr id="42" name="Shape 40"/>
          <p:cNvSpPr/>
          <p:nvPr/>
        </p:nvSpPr>
        <p:spPr>
          <a:xfrm>
            <a:off x="9281160" y="5349240"/>
            <a:ext cx="0" cy="137160"/>
          </a:xfrm>
          <a:prstGeom prst="line">
            <a:avLst/>
          </a:prstGeom>
          <a:noFill/>
          <a:ln w="19050">
            <a:solidFill>
              <a:srgbClr val="9FA6AE"/>
            </a:solidFill>
            <a:prstDash val="solid"/>
          </a:ln>
        </p:spPr>
      </p:sp>
      <p:sp>
        <p:nvSpPr>
          <p:cNvPr id="43" name="Shape 41"/>
          <p:cNvSpPr/>
          <p:nvPr/>
        </p:nvSpPr>
        <p:spPr>
          <a:xfrm>
            <a:off x="6080760" y="5486400"/>
            <a:ext cx="3200400" cy="0"/>
          </a:xfrm>
          <a:prstGeom prst="line">
            <a:avLst/>
          </a:prstGeom>
          <a:noFill/>
          <a:ln w="19050">
            <a:solidFill>
              <a:srgbClr val="9FA6AE"/>
            </a:solidFill>
            <a:prstDash val="solid"/>
          </a:ln>
        </p:spPr>
      </p:sp>
      <p:sp>
        <p:nvSpPr>
          <p:cNvPr id="44" name="Shape 42"/>
          <p:cNvSpPr/>
          <p:nvPr/>
        </p:nvSpPr>
        <p:spPr>
          <a:xfrm>
            <a:off x="6080760" y="5486400"/>
            <a:ext cx="0" cy="137160"/>
          </a:xfrm>
          <a:prstGeom prst="line">
            <a:avLst/>
          </a:prstGeom>
          <a:noFill/>
          <a:ln w="19050">
            <a:solidFill>
              <a:srgbClr val="9FA6AE"/>
            </a:solidFill>
            <a:prstDash val="solid"/>
            <a:tailEnd type="triangle"/>
          </a:ln>
        </p:spPr>
      </p:sp>
      <p:sp>
        <p:nvSpPr>
          <p:cNvPr id="45" name="Shape 43"/>
          <p:cNvSpPr/>
          <p:nvPr/>
        </p:nvSpPr>
        <p:spPr>
          <a:xfrm>
            <a:off x="4160520" y="5623560"/>
            <a:ext cx="3840480" cy="548640"/>
          </a:xfrm>
          <a:prstGeom prst="roundRect">
            <a:avLst>
              <a:gd name="adj" fmla="val 11667"/>
            </a:avLst>
          </a:prstGeom>
          <a:solidFill>
            <a:srgbClr val="10293E"/>
          </a:solidFill>
          <a:ln w="12700">
            <a:solidFill>
              <a:srgbClr val="D8D4C6"/>
            </a:solidFill>
            <a:prstDash val="solid"/>
          </a:ln>
        </p:spPr>
      </p:sp>
      <p:sp>
        <p:nvSpPr>
          <p:cNvPr id="46" name="Text 44"/>
          <p:cNvSpPr txBox="1"/>
          <p:nvPr/>
        </p:nvSpPr>
        <p:spPr>
          <a:xfrm>
            <a:off x="4233672" y="5696712"/>
            <a:ext cx="3694176" cy="301752"/>
          </a:xfrm>
          <a:prstGeom prst="rect">
            <a:avLst/>
          </a:prstGeom>
          <a:noFill/>
          <a:ln/>
        </p:spPr>
        <p:txBody>
          <a:bodyPr wrap="square" rtlCol="0" anchor="b"/>
          <a:lstStyle/>
          <a:p>
            <a:pPr algn="ctr" indent="0" marL="0">
              <a:lnSpc>
                <a:spcPts val="1450"/>
              </a:lnSpc>
              <a:buNone/>
            </a:pPr>
            <a:r>
              <a:rPr lang="en-US" sz="1250" b="1" dirty="0">
                <a:solidFill>
                  <a:srgbClr val="FFFFFF"/>
                </a:solidFill>
                <a:latin typeface="Calibri" pitchFamily="34" charset="0"/>
                <a:ea typeface="Calibri" pitchFamily="34" charset="-122"/>
                <a:cs typeface="Calibri" pitchFamily="34" charset="-120"/>
              </a:rPr>
              <a:t>Claim Verification Engine</a:t>
            </a:r>
            <a:endParaRPr lang="en-US" sz="1250" dirty="0"/>
          </a:p>
        </p:txBody>
      </p:sp>
      <p:sp>
        <p:nvSpPr>
          <p:cNvPr id="47" name="Text 45"/>
          <p:cNvSpPr txBox="1"/>
          <p:nvPr/>
        </p:nvSpPr>
        <p:spPr>
          <a:xfrm>
            <a:off x="4233672" y="5925312"/>
            <a:ext cx="3694176" cy="219456"/>
          </a:xfrm>
          <a:prstGeom prst="rect">
            <a:avLst/>
          </a:prstGeom>
          <a:noFill/>
          <a:ln/>
        </p:spPr>
        <p:txBody>
          <a:bodyPr wrap="square" rtlCol="0" anchor="t"/>
          <a:lstStyle/>
          <a:p>
            <a:pPr algn="ctr" indent="0" marL="0">
              <a:buNone/>
            </a:pPr>
            <a:r>
              <a:rPr lang="en-US" sz="950" dirty="0">
                <a:solidFill>
                  <a:srgbClr val="AAB9C6"/>
                </a:solidFill>
                <a:latin typeface="Calibri" pitchFamily="34" charset="0"/>
                <a:ea typeface="Calibri" pitchFamily="34" charset="-122"/>
                <a:cs typeface="Calibri" pitchFamily="34" charset="-120"/>
              </a:rPr>
              <a:t>Verdict · Confidence · Explanation</a:t>
            </a:r>
            <a:endParaRPr lang="en-US" sz="950" dirty="0"/>
          </a:p>
        </p:txBody>
      </p:sp>
      <p:sp>
        <p:nvSpPr>
          <p:cNvPr id="48" name="Text 46"/>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Data Flow</a:t>
            </a:r>
            <a:endParaRPr lang="en-US" sz="3000" dirty="0"/>
          </a:p>
        </p:txBody>
      </p:sp>
      <p:sp>
        <p:nvSpPr>
          <p:cNvPr id="3" name="Shape 1"/>
          <p:cNvSpPr/>
          <p:nvPr/>
        </p:nvSpPr>
        <p:spPr>
          <a:xfrm>
            <a:off x="4480560" y="1097280"/>
            <a:ext cx="3246120" cy="457200"/>
          </a:xfrm>
          <a:prstGeom prst="roundRect">
            <a:avLst>
              <a:gd name="adj" fmla="val 14000"/>
            </a:avLst>
          </a:prstGeom>
          <a:solidFill>
            <a:srgbClr val="10293E"/>
          </a:solidFill>
          <a:ln/>
        </p:spPr>
      </p:sp>
      <p:sp>
        <p:nvSpPr>
          <p:cNvPr id="4" name="Text 2"/>
          <p:cNvSpPr txBox="1"/>
          <p:nvPr/>
        </p:nvSpPr>
        <p:spPr>
          <a:xfrm>
            <a:off x="4553712" y="1097280"/>
            <a:ext cx="3099816" cy="457200"/>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User Content (Text / URL)</a:t>
            </a:r>
            <a:endParaRPr lang="en-US" sz="1200" dirty="0"/>
          </a:p>
        </p:txBody>
      </p:sp>
      <p:sp>
        <p:nvSpPr>
          <p:cNvPr id="5" name="Shape 3"/>
          <p:cNvSpPr/>
          <p:nvPr/>
        </p:nvSpPr>
        <p:spPr>
          <a:xfrm>
            <a:off x="6103620" y="1554480"/>
            <a:ext cx="0" cy="146304"/>
          </a:xfrm>
          <a:prstGeom prst="line">
            <a:avLst/>
          </a:prstGeom>
          <a:noFill/>
          <a:ln w="19050">
            <a:solidFill>
              <a:srgbClr val="9FA6AE"/>
            </a:solidFill>
            <a:prstDash val="solid"/>
            <a:tailEnd type="triangle"/>
          </a:ln>
        </p:spPr>
      </p:sp>
      <p:sp>
        <p:nvSpPr>
          <p:cNvPr id="6" name="Shape 4"/>
          <p:cNvSpPr/>
          <p:nvPr/>
        </p:nvSpPr>
        <p:spPr>
          <a:xfrm>
            <a:off x="4480560" y="1700784"/>
            <a:ext cx="3246120" cy="457200"/>
          </a:xfrm>
          <a:prstGeom prst="roundRect">
            <a:avLst>
              <a:gd name="adj" fmla="val 14000"/>
            </a:avLst>
          </a:prstGeom>
          <a:solidFill>
            <a:srgbClr val="FFFFFF"/>
          </a:solidFill>
          <a:ln w="12700">
            <a:solidFill>
              <a:srgbClr val="D8D4C6"/>
            </a:solidFill>
            <a:prstDash val="solid"/>
          </a:ln>
        </p:spPr>
      </p:sp>
      <p:sp>
        <p:nvSpPr>
          <p:cNvPr id="7" name="Text 5"/>
          <p:cNvSpPr txBox="1"/>
          <p:nvPr/>
        </p:nvSpPr>
        <p:spPr>
          <a:xfrm>
            <a:off x="4553712" y="1700784"/>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Claim Extraction</a:t>
            </a:r>
            <a:endParaRPr lang="en-US" sz="1200" dirty="0"/>
          </a:p>
        </p:txBody>
      </p:sp>
      <p:sp>
        <p:nvSpPr>
          <p:cNvPr id="8" name="Shape 6"/>
          <p:cNvSpPr/>
          <p:nvPr/>
        </p:nvSpPr>
        <p:spPr>
          <a:xfrm>
            <a:off x="6103620" y="2157984"/>
            <a:ext cx="0" cy="146304"/>
          </a:xfrm>
          <a:prstGeom prst="line">
            <a:avLst/>
          </a:prstGeom>
          <a:noFill/>
          <a:ln w="19050">
            <a:solidFill>
              <a:srgbClr val="9FA6AE"/>
            </a:solidFill>
            <a:prstDash val="solid"/>
            <a:tailEnd type="triangle"/>
          </a:ln>
        </p:spPr>
      </p:sp>
      <p:sp>
        <p:nvSpPr>
          <p:cNvPr id="9" name="Shape 7"/>
          <p:cNvSpPr/>
          <p:nvPr/>
        </p:nvSpPr>
        <p:spPr>
          <a:xfrm>
            <a:off x="4480560" y="2304288"/>
            <a:ext cx="3246120" cy="457200"/>
          </a:xfrm>
          <a:prstGeom prst="roundRect">
            <a:avLst>
              <a:gd name="adj" fmla="val 14000"/>
            </a:avLst>
          </a:prstGeom>
          <a:solidFill>
            <a:srgbClr val="FFFFFF"/>
          </a:solidFill>
          <a:ln w="12700">
            <a:solidFill>
              <a:srgbClr val="D8D4C6"/>
            </a:solidFill>
            <a:prstDash val="solid"/>
          </a:ln>
        </p:spPr>
      </p:sp>
      <p:sp>
        <p:nvSpPr>
          <p:cNvPr id="10" name="Text 8"/>
          <p:cNvSpPr txBox="1"/>
          <p:nvPr/>
        </p:nvSpPr>
        <p:spPr>
          <a:xfrm>
            <a:off x="4553712" y="2304288"/>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Semantic Search</a:t>
            </a:r>
            <a:endParaRPr lang="en-US" sz="1200" dirty="0"/>
          </a:p>
        </p:txBody>
      </p:sp>
      <p:sp>
        <p:nvSpPr>
          <p:cNvPr id="11" name="Shape 9"/>
          <p:cNvSpPr/>
          <p:nvPr/>
        </p:nvSpPr>
        <p:spPr>
          <a:xfrm>
            <a:off x="6103620" y="2761488"/>
            <a:ext cx="0" cy="146304"/>
          </a:xfrm>
          <a:prstGeom prst="line">
            <a:avLst/>
          </a:prstGeom>
          <a:noFill/>
          <a:ln w="19050">
            <a:solidFill>
              <a:srgbClr val="9FA6AE"/>
            </a:solidFill>
            <a:prstDash val="solid"/>
            <a:tailEnd type="triangle"/>
          </a:ln>
        </p:spPr>
      </p:sp>
      <p:sp>
        <p:nvSpPr>
          <p:cNvPr id="12" name="Shape 10"/>
          <p:cNvSpPr/>
          <p:nvPr/>
        </p:nvSpPr>
        <p:spPr>
          <a:xfrm>
            <a:off x="4480560" y="2907792"/>
            <a:ext cx="3246120" cy="457200"/>
          </a:xfrm>
          <a:prstGeom prst="roundRect">
            <a:avLst>
              <a:gd name="adj" fmla="val 14000"/>
            </a:avLst>
          </a:prstGeom>
          <a:solidFill>
            <a:srgbClr val="FFFFFF"/>
          </a:solidFill>
          <a:ln w="12700">
            <a:solidFill>
              <a:srgbClr val="D8D4C6"/>
            </a:solidFill>
            <a:prstDash val="solid"/>
          </a:ln>
        </p:spPr>
      </p:sp>
      <p:sp>
        <p:nvSpPr>
          <p:cNvPr id="13" name="Text 11"/>
          <p:cNvSpPr txBox="1"/>
          <p:nvPr/>
        </p:nvSpPr>
        <p:spPr>
          <a:xfrm>
            <a:off x="4553712" y="2907792"/>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Evidence Retrieval</a:t>
            </a:r>
            <a:endParaRPr lang="en-US" sz="1200" dirty="0"/>
          </a:p>
        </p:txBody>
      </p:sp>
      <p:sp>
        <p:nvSpPr>
          <p:cNvPr id="14" name="Shape 12"/>
          <p:cNvSpPr/>
          <p:nvPr/>
        </p:nvSpPr>
        <p:spPr>
          <a:xfrm>
            <a:off x="6103620" y="3364992"/>
            <a:ext cx="0" cy="146304"/>
          </a:xfrm>
          <a:prstGeom prst="line">
            <a:avLst/>
          </a:prstGeom>
          <a:noFill/>
          <a:ln w="19050">
            <a:solidFill>
              <a:srgbClr val="9FA6AE"/>
            </a:solidFill>
            <a:prstDash val="solid"/>
            <a:tailEnd type="triangle"/>
          </a:ln>
        </p:spPr>
      </p:sp>
      <p:sp>
        <p:nvSpPr>
          <p:cNvPr id="15" name="Shape 13"/>
          <p:cNvSpPr/>
          <p:nvPr/>
        </p:nvSpPr>
        <p:spPr>
          <a:xfrm>
            <a:off x="4480560" y="3511296"/>
            <a:ext cx="3246120" cy="457200"/>
          </a:xfrm>
          <a:prstGeom prst="roundRect">
            <a:avLst>
              <a:gd name="adj" fmla="val 14000"/>
            </a:avLst>
          </a:prstGeom>
          <a:solidFill>
            <a:srgbClr val="FFFFFF"/>
          </a:solidFill>
          <a:ln w="12700">
            <a:solidFill>
              <a:srgbClr val="D8D4C6"/>
            </a:solidFill>
            <a:prstDash val="solid"/>
          </a:ln>
        </p:spPr>
      </p:sp>
      <p:sp>
        <p:nvSpPr>
          <p:cNvPr id="16" name="Text 14"/>
          <p:cNvSpPr txBox="1"/>
          <p:nvPr/>
        </p:nvSpPr>
        <p:spPr>
          <a:xfrm>
            <a:off x="4553712" y="3511296"/>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RAG Processing</a:t>
            </a:r>
            <a:endParaRPr lang="en-US" sz="1200" dirty="0"/>
          </a:p>
        </p:txBody>
      </p:sp>
      <p:sp>
        <p:nvSpPr>
          <p:cNvPr id="17" name="Shape 15"/>
          <p:cNvSpPr/>
          <p:nvPr/>
        </p:nvSpPr>
        <p:spPr>
          <a:xfrm>
            <a:off x="6103620" y="3968496"/>
            <a:ext cx="0" cy="146304"/>
          </a:xfrm>
          <a:prstGeom prst="line">
            <a:avLst/>
          </a:prstGeom>
          <a:noFill/>
          <a:ln w="19050">
            <a:solidFill>
              <a:srgbClr val="9FA6AE"/>
            </a:solidFill>
            <a:prstDash val="solid"/>
            <a:tailEnd type="triangle"/>
          </a:ln>
        </p:spPr>
      </p:sp>
      <p:sp>
        <p:nvSpPr>
          <p:cNvPr id="18" name="Shape 16"/>
          <p:cNvSpPr/>
          <p:nvPr/>
        </p:nvSpPr>
        <p:spPr>
          <a:xfrm>
            <a:off x="4480560" y="4114800"/>
            <a:ext cx="3246120" cy="457200"/>
          </a:xfrm>
          <a:prstGeom prst="roundRect">
            <a:avLst>
              <a:gd name="adj" fmla="val 14000"/>
            </a:avLst>
          </a:prstGeom>
          <a:solidFill>
            <a:srgbClr val="FFFFFF"/>
          </a:solidFill>
          <a:ln w="12700">
            <a:solidFill>
              <a:srgbClr val="D8D4C6"/>
            </a:solidFill>
            <a:prstDash val="solid"/>
          </a:ln>
        </p:spPr>
      </p:sp>
      <p:sp>
        <p:nvSpPr>
          <p:cNvPr id="19" name="Text 17"/>
          <p:cNvSpPr txBox="1"/>
          <p:nvPr/>
        </p:nvSpPr>
        <p:spPr>
          <a:xfrm>
            <a:off x="4553712" y="4114800"/>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NLI Analysis</a:t>
            </a:r>
            <a:endParaRPr lang="en-US" sz="1200" dirty="0"/>
          </a:p>
        </p:txBody>
      </p:sp>
      <p:sp>
        <p:nvSpPr>
          <p:cNvPr id="20" name="Shape 18"/>
          <p:cNvSpPr/>
          <p:nvPr/>
        </p:nvSpPr>
        <p:spPr>
          <a:xfrm>
            <a:off x="6103620" y="4572000"/>
            <a:ext cx="0" cy="146304"/>
          </a:xfrm>
          <a:prstGeom prst="line">
            <a:avLst/>
          </a:prstGeom>
          <a:noFill/>
          <a:ln w="19050">
            <a:solidFill>
              <a:srgbClr val="9FA6AE"/>
            </a:solidFill>
            <a:prstDash val="solid"/>
            <a:tailEnd type="triangle"/>
          </a:ln>
        </p:spPr>
      </p:sp>
      <p:sp>
        <p:nvSpPr>
          <p:cNvPr id="21" name="Shape 19"/>
          <p:cNvSpPr/>
          <p:nvPr/>
        </p:nvSpPr>
        <p:spPr>
          <a:xfrm>
            <a:off x="4480560" y="4718304"/>
            <a:ext cx="3246120" cy="457200"/>
          </a:xfrm>
          <a:prstGeom prst="roundRect">
            <a:avLst>
              <a:gd name="adj" fmla="val 14000"/>
            </a:avLst>
          </a:prstGeom>
          <a:solidFill>
            <a:srgbClr val="FFFFFF"/>
          </a:solidFill>
          <a:ln w="12700">
            <a:solidFill>
              <a:srgbClr val="D8D4C6"/>
            </a:solidFill>
            <a:prstDash val="solid"/>
          </a:ln>
        </p:spPr>
      </p:sp>
      <p:sp>
        <p:nvSpPr>
          <p:cNvPr id="22" name="Text 20"/>
          <p:cNvSpPr txBox="1"/>
          <p:nvPr/>
        </p:nvSpPr>
        <p:spPr>
          <a:xfrm>
            <a:off x="4553712" y="4718304"/>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Verdict + Confidence + Evidence</a:t>
            </a:r>
            <a:endParaRPr lang="en-US" sz="1200" dirty="0"/>
          </a:p>
        </p:txBody>
      </p:sp>
      <p:sp>
        <p:nvSpPr>
          <p:cNvPr id="23" name="Shape 21"/>
          <p:cNvSpPr/>
          <p:nvPr/>
        </p:nvSpPr>
        <p:spPr>
          <a:xfrm>
            <a:off x="6103620" y="5175504"/>
            <a:ext cx="0" cy="146304"/>
          </a:xfrm>
          <a:prstGeom prst="line">
            <a:avLst/>
          </a:prstGeom>
          <a:noFill/>
          <a:ln w="19050">
            <a:solidFill>
              <a:srgbClr val="9FA6AE"/>
            </a:solidFill>
            <a:prstDash val="solid"/>
            <a:tailEnd type="triangle"/>
          </a:ln>
        </p:spPr>
      </p:sp>
      <p:sp>
        <p:nvSpPr>
          <p:cNvPr id="24" name="Shape 22"/>
          <p:cNvSpPr/>
          <p:nvPr/>
        </p:nvSpPr>
        <p:spPr>
          <a:xfrm>
            <a:off x="4480560" y="5321808"/>
            <a:ext cx="3246120" cy="457200"/>
          </a:xfrm>
          <a:prstGeom prst="roundRect">
            <a:avLst>
              <a:gd name="adj" fmla="val 14000"/>
            </a:avLst>
          </a:prstGeom>
          <a:solidFill>
            <a:srgbClr val="FFFFFF"/>
          </a:solidFill>
          <a:ln w="12700">
            <a:solidFill>
              <a:srgbClr val="D8D4C6"/>
            </a:solidFill>
            <a:prstDash val="solid"/>
          </a:ln>
        </p:spPr>
      </p:sp>
      <p:sp>
        <p:nvSpPr>
          <p:cNvPr id="25" name="Text 23"/>
          <p:cNvSpPr txBox="1"/>
          <p:nvPr/>
        </p:nvSpPr>
        <p:spPr>
          <a:xfrm>
            <a:off x="4553712" y="5321808"/>
            <a:ext cx="3099816" cy="457200"/>
          </a:xfrm>
          <a:prstGeom prst="rect">
            <a:avLst/>
          </a:prstGeom>
          <a:noFill/>
          <a:ln/>
        </p:spPr>
        <p:txBody>
          <a:bodyPr wrap="square" rtlCol="0" anchor="ctr"/>
          <a:lstStyle/>
          <a:p>
            <a:pPr algn="ctr" indent="0" marL="0">
              <a:lnSpc>
                <a:spcPts val="1400"/>
              </a:lnSpc>
              <a:buNone/>
            </a:pPr>
            <a:r>
              <a:rPr lang="en-US" sz="1200" b="1" dirty="0">
                <a:solidFill>
                  <a:srgbClr val="10293E"/>
                </a:solidFill>
                <a:latin typeface="Calibri" pitchFamily="34" charset="0"/>
                <a:ea typeface="Calibri" pitchFamily="34" charset="-122"/>
                <a:cs typeface="Calibri" pitchFamily="34" charset="-120"/>
              </a:rPr>
              <a:t>AI-Generated Explanation</a:t>
            </a:r>
            <a:endParaRPr lang="en-US" sz="1200" dirty="0"/>
          </a:p>
        </p:txBody>
      </p:sp>
      <p:sp>
        <p:nvSpPr>
          <p:cNvPr id="26" name="Shape 24"/>
          <p:cNvSpPr/>
          <p:nvPr/>
        </p:nvSpPr>
        <p:spPr>
          <a:xfrm>
            <a:off x="6103620" y="5779008"/>
            <a:ext cx="0" cy="146304"/>
          </a:xfrm>
          <a:prstGeom prst="line">
            <a:avLst/>
          </a:prstGeom>
          <a:noFill/>
          <a:ln w="19050">
            <a:solidFill>
              <a:srgbClr val="9FA6AE"/>
            </a:solidFill>
            <a:prstDash val="solid"/>
            <a:tailEnd type="triangle"/>
          </a:ln>
        </p:spPr>
      </p:sp>
      <p:sp>
        <p:nvSpPr>
          <p:cNvPr id="27" name="Shape 25"/>
          <p:cNvSpPr/>
          <p:nvPr/>
        </p:nvSpPr>
        <p:spPr>
          <a:xfrm>
            <a:off x="4480560" y="5925312"/>
            <a:ext cx="3246120" cy="457200"/>
          </a:xfrm>
          <a:prstGeom prst="roundRect">
            <a:avLst>
              <a:gd name="adj" fmla="val 14000"/>
            </a:avLst>
          </a:prstGeom>
          <a:solidFill>
            <a:srgbClr val="10293E"/>
          </a:solidFill>
          <a:ln/>
        </p:spPr>
      </p:sp>
      <p:sp>
        <p:nvSpPr>
          <p:cNvPr id="28" name="Text 26"/>
          <p:cNvSpPr txBox="1"/>
          <p:nvPr/>
        </p:nvSpPr>
        <p:spPr>
          <a:xfrm>
            <a:off x="4553712" y="5925312"/>
            <a:ext cx="3099816" cy="457200"/>
          </a:xfrm>
          <a:prstGeom prst="rect">
            <a:avLst/>
          </a:prstGeom>
          <a:noFill/>
          <a:ln/>
        </p:spPr>
        <p:txBody>
          <a:bodyPr wrap="square" rtlCol="0" anchor="ctr"/>
          <a:lstStyle/>
          <a:p>
            <a:pPr algn="ctr" indent="0" marL="0">
              <a:lnSpc>
                <a:spcPts val="1400"/>
              </a:lnSpc>
              <a:buNone/>
            </a:pPr>
            <a:r>
              <a:rPr lang="en-US" sz="1200" b="1" dirty="0">
                <a:solidFill>
                  <a:srgbClr val="FFFFFF"/>
                </a:solidFill>
                <a:latin typeface="Calibri" pitchFamily="34" charset="0"/>
                <a:ea typeface="Calibri" pitchFamily="34" charset="-122"/>
                <a:cs typeface="Calibri" pitchFamily="34" charset="-120"/>
              </a:rPr>
              <a:t>Final Result to User</a:t>
            </a:r>
            <a:endParaRPr lang="en-US" sz="1200" dirty="0"/>
          </a:p>
        </p:txBody>
      </p:sp>
      <p:sp>
        <p:nvSpPr>
          <p:cNvPr id="29" name="Text 27"/>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System Modules</a:t>
            </a:r>
            <a:endParaRPr lang="en-US" sz="3000" dirty="0"/>
          </a:p>
        </p:txBody>
      </p:sp>
      <p:sp>
        <p:nvSpPr>
          <p:cNvPr id="3" name="Shape 1"/>
          <p:cNvSpPr/>
          <p:nvPr/>
        </p:nvSpPr>
        <p:spPr>
          <a:xfrm>
            <a:off x="548640" y="1143000"/>
            <a:ext cx="11064240" cy="566928"/>
          </a:xfrm>
          <a:prstGeom prst="rect">
            <a:avLst/>
          </a:prstGeom>
          <a:solidFill>
            <a:srgbClr val="FFFFFF"/>
          </a:solidFill>
          <a:ln/>
        </p:spPr>
      </p:sp>
      <p:sp>
        <p:nvSpPr>
          <p:cNvPr id="4" name="Shape 2"/>
          <p:cNvSpPr/>
          <p:nvPr/>
        </p:nvSpPr>
        <p:spPr>
          <a:xfrm>
            <a:off x="777240" y="1243584"/>
            <a:ext cx="365760" cy="365760"/>
          </a:xfrm>
          <a:prstGeom prst="ellipse">
            <a:avLst/>
          </a:prstGeom>
          <a:solidFill>
            <a:srgbClr val="1C7293"/>
          </a:solidFill>
          <a:ln/>
        </p:spPr>
      </p:sp>
      <p:sp>
        <p:nvSpPr>
          <p:cNvPr id="5" name="Text 3"/>
          <p:cNvSpPr txBox="1"/>
          <p:nvPr/>
        </p:nvSpPr>
        <p:spPr>
          <a:xfrm>
            <a:off x="777240" y="124358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71600" y="1143000"/>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Input &amp; Content Collection</a:t>
            </a:r>
            <a:endParaRPr lang="en-US" sz="1250" dirty="0"/>
          </a:p>
        </p:txBody>
      </p:sp>
      <p:sp>
        <p:nvSpPr>
          <p:cNvPr id="7" name="Text 5"/>
          <p:cNvSpPr txBox="1"/>
          <p:nvPr/>
        </p:nvSpPr>
        <p:spPr>
          <a:xfrm>
            <a:off x="5074920" y="1143000"/>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Accept text, URLs, and web/social content</a:t>
            </a:r>
            <a:endParaRPr lang="en-US" sz="1200" dirty="0"/>
          </a:p>
        </p:txBody>
      </p:sp>
      <p:sp>
        <p:nvSpPr>
          <p:cNvPr id="8" name="Shape 6"/>
          <p:cNvSpPr/>
          <p:nvPr/>
        </p:nvSpPr>
        <p:spPr>
          <a:xfrm>
            <a:off x="777240" y="1810512"/>
            <a:ext cx="365760" cy="365760"/>
          </a:xfrm>
          <a:prstGeom prst="ellipse">
            <a:avLst/>
          </a:prstGeom>
          <a:solidFill>
            <a:srgbClr val="1C7293"/>
          </a:solidFill>
          <a:ln/>
        </p:spPr>
      </p:sp>
      <p:sp>
        <p:nvSpPr>
          <p:cNvPr id="9" name="Text 7"/>
          <p:cNvSpPr txBox="1"/>
          <p:nvPr/>
        </p:nvSpPr>
        <p:spPr>
          <a:xfrm>
            <a:off x="777240" y="181051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71600" y="1709928"/>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Claim Extraction</a:t>
            </a:r>
            <a:endParaRPr lang="en-US" sz="1250" dirty="0"/>
          </a:p>
        </p:txBody>
      </p:sp>
      <p:sp>
        <p:nvSpPr>
          <p:cNvPr id="11" name="Text 9"/>
          <p:cNvSpPr txBox="1"/>
          <p:nvPr/>
        </p:nvSpPr>
        <p:spPr>
          <a:xfrm>
            <a:off x="5074920" y="1709928"/>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Identify verifiable claims using NLP heuristics / transformers</a:t>
            </a:r>
            <a:endParaRPr lang="en-US" sz="1200" dirty="0"/>
          </a:p>
        </p:txBody>
      </p:sp>
      <p:sp>
        <p:nvSpPr>
          <p:cNvPr id="12" name="Shape 10"/>
          <p:cNvSpPr/>
          <p:nvPr/>
        </p:nvSpPr>
        <p:spPr>
          <a:xfrm>
            <a:off x="548640" y="2276856"/>
            <a:ext cx="11064240" cy="566928"/>
          </a:xfrm>
          <a:prstGeom prst="rect">
            <a:avLst/>
          </a:prstGeom>
          <a:solidFill>
            <a:srgbClr val="FFFFFF"/>
          </a:solidFill>
          <a:ln/>
        </p:spPr>
      </p:sp>
      <p:sp>
        <p:nvSpPr>
          <p:cNvPr id="13" name="Shape 11"/>
          <p:cNvSpPr/>
          <p:nvPr/>
        </p:nvSpPr>
        <p:spPr>
          <a:xfrm>
            <a:off x="777240" y="2377440"/>
            <a:ext cx="365760" cy="365760"/>
          </a:xfrm>
          <a:prstGeom prst="ellipse">
            <a:avLst/>
          </a:prstGeom>
          <a:solidFill>
            <a:srgbClr val="1C7293"/>
          </a:solidFill>
          <a:ln/>
        </p:spPr>
      </p:sp>
      <p:sp>
        <p:nvSpPr>
          <p:cNvPr id="14" name="Text 12"/>
          <p:cNvSpPr txBox="1"/>
          <p:nvPr/>
        </p:nvSpPr>
        <p:spPr>
          <a:xfrm>
            <a:off x="777240" y="23774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371600" y="2276856"/>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Evidence Retrieval</a:t>
            </a:r>
            <a:endParaRPr lang="en-US" sz="1250" dirty="0"/>
          </a:p>
        </p:txBody>
      </p:sp>
      <p:sp>
        <p:nvSpPr>
          <p:cNvPr id="16" name="Text 14"/>
          <p:cNvSpPr txBox="1"/>
          <p:nvPr/>
        </p:nvSpPr>
        <p:spPr>
          <a:xfrm>
            <a:off x="5074920" y="2276856"/>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Semantic search over trusted sources and a vector database</a:t>
            </a:r>
            <a:endParaRPr lang="en-US" sz="1200" dirty="0"/>
          </a:p>
        </p:txBody>
      </p:sp>
      <p:sp>
        <p:nvSpPr>
          <p:cNvPr id="17" name="Shape 15"/>
          <p:cNvSpPr/>
          <p:nvPr/>
        </p:nvSpPr>
        <p:spPr>
          <a:xfrm>
            <a:off x="777240" y="2944368"/>
            <a:ext cx="365760" cy="365760"/>
          </a:xfrm>
          <a:prstGeom prst="ellipse">
            <a:avLst/>
          </a:prstGeom>
          <a:solidFill>
            <a:srgbClr val="1C7293"/>
          </a:solidFill>
          <a:ln/>
        </p:spPr>
      </p:sp>
      <p:sp>
        <p:nvSpPr>
          <p:cNvPr id="18" name="Text 16"/>
          <p:cNvSpPr txBox="1"/>
          <p:nvPr/>
        </p:nvSpPr>
        <p:spPr>
          <a:xfrm>
            <a:off x="777240" y="294436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371600" y="2843784"/>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Scam Signal Detection</a:t>
            </a:r>
            <a:endParaRPr lang="en-US" sz="1250" dirty="0"/>
          </a:p>
        </p:txBody>
      </p:sp>
      <p:sp>
        <p:nvSpPr>
          <p:cNvPr id="20" name="Text 18"/>
          <p:cNvSpPr txBox="1"/>
          <p:nvPr/>
        </p:nvSpPr>
        <p:spPr>
          <a:xfrm>
            <a:off x="5074920" y="2843784"/>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Rule-based checks for fees, urgency, and fake links</a:t>
            </a:r>
            <a:endParaRPr lang="en-US" sz="1200" dirty="0"/>
          </a:p>
        </p:txBody>
      </p:sp>
      <p:sp>
        <p:nvSpPr>
          <p:cNvPr id="21" name="Shape 19"/>
          <p:cNvSpPr/>
          <p:nvPr/>
        </p:nvSpPr>
        <p:spPr>
          <a:xfrm>
            <a:off x="548640" y="3410712"/>
            <a:ext cx="11064240" cy="566928"/>
          </a:xfrm>
          <a:prstGeom prst="rect">
            <a:avLst/>
          </a:prstGeom>
          <a:solidFill>
            <a:srgbClr val="FFFFFF"/>
          </a:solidFill>
          <a:ln/>
        </p:spPr>
      </p:sp>
      <p:sp>
        <p:nvSpPr>
          <p:cNvPr id="22" name="Shape 20"/>
          <p:cNvSpPr/>
          <p:nvPr/>
        </p:nvSpPr>
        <p:spPr>
          <a:xfrm>
            <a:off x="777240" y="3511296"/>
            <a:ext cx="365760" cy="365760"/>
          </a:xfrm>
          <a:prstGeom prst="ellipse">
            <a:avLst/>
          </a:prstGeom>
          <a:solidFill>
            <a:srgbClr val="1C7293"/>
          </a:solidFill>
          <a:ln/>
        </p:spPr>
      </p:sp>
      <p:sp>
        <p:nvSpPr>
          <p:cNvPr id="23" name="Text 21"/>
          <p:cNvSpPr txBox="1"/>
          <p:nvPr/>
        </p:nvSpPr>
        <p:spPr>
          <a:xfrm>
            <a:off x="777240" y="3511296"/>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371600" y="3410712"/>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RAG &amp; Knowledge Processing</a:t>
            </a:r>
            <a:endParaRPr lang="en-US" sz="1250" dirty="0"/>
          </a:p>
        </p:txBody>
      </p:sp>
      <p:sp>
        <p:nvSpPr>
          <p:cNvPr id="25" name="Text 23"/>
          <p:cNvSpPr txBox="1"/>
          <p:nvPr/>
        </p:nvSpPr>
        <p:spPr>
          <a:xfrm>
            <a:off x="5074920" y="3410712"/>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Combine retrieved evidence with AI reasoning</a:t>
            </a:r>
            <a:endParaRPr lang="en-US" sz="1200" dirty="0"/>
          </a:p>
        </p:txBody>
      </p:sp>
      <p:sp>
        <p:nvSpPr>
          <p:cNvPr id="26" name="Shape 24"/>
          <p:cNvSpPr/>
          <p:nvPr/>
        </p:nvSpPr>
        <p:spPr>
          <a:xfrm>
            <a:off x="777240" y="4078224"/>
            <a:ext cx="365760" cy="365760"/>
          </a:xfrm>
          <a:prstGeom prst="ellipse">
            <a:avLst/>
          </a:prstGeom>
          <a:solidFill>
            <a:srgbClr val="1C7293"/>
          </a:solidFill>
          <a:ln/>
        </p:spPr>
      </p:sp>
      <p:sp>
        <p:nvSpPr>
          <p:cNvPr id="27" name="Text 25"/>
          <p:cNvSpPr txBox="1"/>
          <p:nvPr/>
        </p:nvSpPr>
        <p:spPr>
          <a:xfrm>
            <a:off x="777240" y="407822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1371600" y="3977640"/>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Claim Verification</a:t>
            </a:r>
            <a:endParaRPr lang="en-US" sz="1250" dirty="0"/>
          </a:p>
        </p:txBody>
      </p:sp>
      <p:sp>
        <p:nvSpPr>
          <p:cNvPr id="29" name="Text 27"/>
          <p:cNvSpPr txBox="1"/>
          <p:nvPr/>
        </p:nvSpPr>
        <p:spPr>
          <a:xfrm>
            <a:off x="5074920" y="3977640"/>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Classify claim vs. evidence using NLI</a:t>
            </a:r>
            <a:endParaRPr lang="en-US" sz="1200" dirty="0"/>
          </a:p>
        </p:txBody>
      </p:sp>
      <p:sp>
        <p:nvSpPr>
          <p:cNvPr id="30" name="Shape 28"/>
          <p:cNvSpPr/>
          <p:nvPr/>
        </p:nvSpPr>
        <p:spPr>
          <a:xfrm>
            <a:off x="548640" y="4544568"/>
            <a:ext cx="11064240" cy="566928"/>
          </a:xfrm>
          <a:prstGeom prst="rect">
            <a:avLst/>
          </a:prstGeom>
          <a:solidFill>
            <a:srgbClr val="FFFFFF"/>
          </a:solidFill>
          <a:ln/>
        </p:spPr>
      </p:sp>
      <p:sp>
        <p:nvSpPr>
          <p:cNvPr id="31" name="Shape 29"/>
          <p:cNvSpPr/>
          <p:nvPr/>
        </p:nvSpPr>
        <p:spPr>
          <a:xfrm>
            <a:off x="777240" y="4645152"/>
            <a:ext cx="365760" cy="365760"/>
          </a:xfrm>
          <a:prstGeom prst="ellipse">
            <a:avLst/>
          </a:prstGeom>
          <a:solidFill>
            <a:srgbClr val="1C7293"/>
          </a:solidFill>
          <a:ln/>
        </p:spPr>
      </p:sp>
      <p:sp>
        <p:nvSpPr>
          <p:cNvPr id="32" name="Text 30"/>
          <p:cNvSpPr txBox="1"/>
          <p:nvPr/>
        </p:nvSpPr>
        <p:spPr>
          <a:xfrm>
            <a:off x="777240" y="464515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1"/>
          <p:cNvSpPr txBox="1"/>
          <p:nvPr/>
        </p:nvSpPr>
        <p:spPr>
          <a:xfrm>
            <a:off x="1371600" y="4544568"/>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Explainability &amp; Scoring</a:t>
            </a:r>
            <a:endParaRPr lang="en-US" sz="1250" dirty="0"/>
          </a:p>
        </p:txBody>
      </p:sp>
      <p:sp>
        <p:nvSpPr>
          <p:cNvPr id="34" name="Text 32"/>
          <p:cNvSpPr txBox="1"/>
          <p:nvPr/>
        </p:nvSpPr>
        <p:spPr>
          <a:xfrm>
            <a:off x="5074920" y="4544568"/>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Confidence score, source credibility, plain-language reasoning</a:t>
            </a:r>
            <a:endParaRPr lang="en-US" sz="1200" dirty="0"/>
          </a:p>
        </p:txBody>
      </p:sp>
      <p:sp>
        <p:nvSpPr>
          <p:cNvPr id="35" name="Shape 33"/>
          <p:cNvSpPr/>
          <p:nvPr/>
        </p:nvSpPr>
        <p:spPr>
          <a:xfrm>
            <a:off x="777240" y="5212080"/>
            <a:ext cx="365760" cy="365760"/>
          </a:xfrm>
          <a:prstGeom prst="ellipse">
            <a:avLst/>
          </a:prstGeom>
          <a:solidFill>
            <a:srgbClr val="1C7293"/>
          </a:solidFill>
          <a:ln/>
        </p:spPr>
      </p:sp>
      <p:sp>
        <p:nvSpPr>
          <p:cNvPr id="36" name="Text 34"/>
          <p:cNvSpPr txBox="1"/>
          <p:nvPr/>
        </p:nvSpPr>
        <p:spPr>
          <a:xfrm>
            <a:off x="777240" y="521208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7" name="Text 35"/>
          <p:cNvSpPr txBox="1"/>
          <p:nvPr/>
        </p:nvSpPr>
        <p:spPr>
          <a:xfrm>
            <a:off x="1371600" y="5111496"/>
            <a:ext cx="3566160" cy="566928"/>
          </a:xfrm>
          <a:prstGeom prst="rect">
            <a:avLst/>
          </a:prstGeom>
          <a:noFill/>
          <a:ln/>
        </p:spPr>
        <p:txBody>
          <a:bodyPr wrap="square" rtlCol="0" anchor="ctr"/>
          <a:lstStyle/>
          <a:p>
            <a:pPr indent="0" marL="0">
              <a:buNone/>
            </a:pPr>
            <a:r>
              <a:rPr lang="en-US" sz="1250" b="1" dirty="0">
                <a:solidFill>
                  <a:srgbClr val="10293E"/>
                </a:solidFill>
                <a:latin typeface="Calibri" pitchFamily="34" charset="0"/>
                <a:ea typeface="Calibri" pitchFamily="34" charset="-122"/>
                <a:cs typeface="Calibri" pitchFamily="34" charset="-120"/>
              </a:rPr>
              <a:t>Dashboard &amp; Extension</a:t>
            </a:r>
            <a:endParaRPr lang="en-US" sz="1250" dirty="0"/>
          </a:p>
        </p:txBody>
      </p:sp>
      <p:sp>
        <p:nvSpPr>
          <p:cNvPr id="38" name="Text 36"/>
          <p:cNvSpPr txBox="1"/>
          <p:nvPr/>
        </p:nvSpPr>
        <p:spPr>
          <a:xfrm>
            <a:off x="5074920" y="5111496"/>
            <a:ext cx="6400800" cy="566928"/>
          </a:xfrm>
          <a:prstGeom prst="rect">
            <a:avLst/>
          </a:prstGeom>
          <a:noFill/>
          <a:ln/>
        </p:spPr>
        <p:txBody>
          <a:bodyPr wrap="square" rtlCol="0" anchor="ctr"/>
          <a:lstStyle/>
          <a:p>
            <a:pPr indent="0" marL="0">
              <a:buNone/>
            </a:pPr>
            <a:r>
              <a:rPr lang="en-US" sz="1200" dirty="0">
                <a:solidFill>
                  <a:srgbClr val="5A6B7A"/>
                </a:solidFill>
                <a:latin typeface="Calibri" pitchFamily="34" charset="0"/>
                <a:ea typeface="Calibri" pitchFamily="34" charset="-122"/>
                <a:cs typeface="Calibri" pitchFamily="34" charset="-120"/>
              </a:rPr>
              <a:t>Present the verdict, evidence and advice to the user</a:t>
            </a:r>
            <a:endParaRPr lang="en-US" sz="1200" dirty="0"/>
          </a:p>
        </p:txBody>
      </p:sp>
      <p:sp>
        <p:nvSpPr>
          <p:cNvPr id="39" name="Text 37"/>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Existing Systems &amp; the Gap</a:t>
            </a:r>
            <a:endParaRPr lang="en-US" sz="3000" dirty="0"/>
          </a:p>
        </p:txBody>
      </p:sp>
      <p:sp>
        <p:nvSpPr>
          <p:cNvPr id="3" name="Shape 1"/>
          <p:cNvSpPr/>
          <p:nvPr/>
        </p:nvSpPr>
        <p:spPr>
          <a:xfrm>
            <a:off x="548640" y="1143000"/>
            <a:ext cx="3657600" cy="457200"/>
          </a:xfrm>
          <a:prstGeom prst="rect">
            <a:avLst/>
          </a:prstGeom>
          <a:solidFill>
            <a:srgbClr val="10293E"/>
          </a:solidFill>
          <a:ln/>
        </p:spPr>
      </p:sp>
      <p:sp>
        <p:nvSpPr>
          <p:cNvPr id="4" name="Text 2"/>
          <p:cNvSpPr txBox="1"/>
          <p:nvPr/>
        </p:nvSpPr>
        <p:spPr>
          <a:xfrm>
            <a:off x="685800" y="1143000"/>
            <a:ext cx="338328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Existing Approach</a:t>
            </a:r>
            <a:endParaRPr lang="en-US" sz="1250" dirty="0"/>
          </a:p>
        </p:txBody>
      </p:sp>
      <p:sp>
        <p:nvSpPr>
          <p:cNvPr id="5" name="Shape 3"/>
          <p:cNvSpPr/>
          <p:nvPr/>
        </p:nvSpPr>
        <p:spPr>
          <a:xfrm>
            <a:off x="4343400" y="1143000"/>
            <a:ext cx="3657600" cy="457200"/>
          </a:xfrm>
          <a:prstGeom prst="rect">
            <a:avLst/>
          </a:prstGeom>
          <a:solidFill>
            <a:srgbClr val="10293E"/>
          </a:solidFill>
          <a:ln/>
        </p:spPr>
      </p:sp>
      <p:sp>
        <p:nvSpPr>
          <p:cNvPr id="6" name="Text 4"/>
          <p:cNvSpPr txBox="1"/>
          <p:nvPr/>
        </p:nvSpPr>
        <p:spPr>
          <a:xfrm>
            <a:off x="4480560" y="1143000"/>
            <a:ext cx="338328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Limitation</a:t>
            </a:r>
            <a:endParaRPr lang="en-US" sz="1250" dirty="0"/>
          </a:p>
        </p:txBody>
      </p:sp>
      <p:sp>
        <p:nvSpPr>
          <p:cNvPr id="7" name="Shape 5"/>
          <p:cNvSpPr/>
          <p:nvPr/>
        </p:nvSpPr>
        <p:spPr>
          <a:xfrm>
            <a:off x="8138160" y="1143000"/>
            <a:ext cx="3474720" cy="457200"/>
          </a:xfrm>
          <a:prstGeom prst="rect">
            <a:avLst/>
          </a:prstGeom>
          <a:solidFill>
            <a:srgbClr val="10293E"/>
          </a:solidFill>
          <a:ln/>
        </p:spPr>
      </p:sp>
      <p:sp>
        <p:nvSpPr>
          <p:cNvPr id="8" name="Text 6"/>
          <p:cNvSpPr txBox="1"/>
          <p:nvPr/>
        </p:nvSpPr>
        <p:spPr>
          <a:xfrm>
            <a:off x="8275320" y="1143000"/>
            <a:ext cx="320040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VeriAI's Approach</a:t>
            </a:r>
            <a:endParaRPr lang="en-US" sz="1250" dirty="0"/>
          </a:p>
        </p:txBody>
      </p:sp>
      <p:sp>
        <p:nvSpPr>
          <p:cNvPr id="9" name="Shape 7"/>
          <p:cNvSpPr/>
          <p:nvPr/>
        </p:nvSpPr>
        <p:spPr>
          <a:xfrm>
            <a:off x="548640" y="1737360"/>
            <a:ext cx="3657600" cy="978408"/>
          </a:xfrm>
          <a:prstGeom prst="rect">
            <a:avLst/>
          </a:prstGeom>
          <a:solidFill>
            <a:srgbClr val="FFFFFF"/>
          </a:solidFill>
          <a:ln w="9525">
            <a:solidFill>
              <a:srgbClr val="E4E1D6"/>
            </a:solidFill>
            <a:prstDash val="solid"/>
          </a:ln>
        </p:spPr>
      </p:sp>
      <p:sp>
        <p:nvSpPr>
          <p:cNvPr id="10" name="Text 8"/>
          <p:cNvSpPr txBox="1"/>
          <p:nvPr/>
        </p:nvSpPr>
        <p:spPr>
          <a:xfrm>
            <a:off x="685800" y="173736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Google Fact Check Tools API</a:t>
            </a:r>
            <a:endParaRPr lang="en-US" sz="1100" dirty="0"/>
          </a:p>
        </p:txBody>
      </p:sp>
      <p:sp>
        <p:nvSpPr>
          <p:cNvPr id="11" name="Shape 9"/>
          <p:cNvSpPr/>
          <p:nvPr/>
        </p:nvSpPr>
        <p:spPr>
          <a:xfrm>
            <a:off x="4343400" y="1737360"/>
            <a:ext cx="3657600" cy="978408"/>
          </a:xfrm>
          <a:prstGeom prst="rect">
            <a:avLst/>
          </a:prstGeom>
          <a:solidFill>
            <a:srgbClr val="FFFFFF"/>
          </a:solidFill>
          <a:ln w="9525">
            <a:solidFill>
              <a:srgbClr val="E4E1D6"/>
            </a:solidFill>
            <a:prstDash val="solid"/>
          </a:ln>
        </p:spPr>
      </p:sp>
      <p:sp>
        <p:nvSpPr>
          <p:cNvPr id="12" name="Text 10"/>
          <p:cNvSpPr txBox="1"/>
          <p:nvPr/>
        </p:nvSpPr>
        <p:spPr>
          <a:xfrm>
            <a:off x="4480560" y="173736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Searches only pre-existing fact-checks; doesn't extract claims from arbitrary posts</a:t>
            </a:r>
            <a:endParaRPr lang="en-US" sz="1100" dirty="0"/>
          </a:p>
        </p:txBody>
      </p:sp>
      <p:sp>
        <p:nvSpPr>
          <p:cNvPr id="13" name="Shape 11"/>
          <p:cNvSpPr/>
          <p:nvPr/>
        </p:nvSpPr>
        <p:spPr>
          <a:xfrm>
            <a:off x="8138160" y="1737360"/>
            <a:ext cx="3474720" cy="978408"/>
          </a:xfrm>
          <a:prstGeom prst="rect">
            <a:avLst/>
          </a:prstGeom>
          <a:solidFill>
            <a:srgbClr val="E3F3E9"/>
          </a:solidFill>
          <a:ln w="9525">
            <a:solidFill>
              <a:srgbClr val="E4E1D6"/>
            </a:solidFill>
            <a:prstDash val="solid"/>
          </a:ln>
        </p:spPr>
      </p:sp>
      <p:sp>
        <p:nvSpPr>
          <p:cNvPr id="14" name="Text 12"/>
          <p:cNvSpPr txBox="1"/>
          <p:nvPr/>
        </p:nvSpPr>
        <p:spPr>
          <a:xfrm>
            <a:off x="8275320" y="1737360"/>
            <a:ext cx="3200400" cy="978408"/>
          </a:xfrm>
          <a:prstGeom prst="rect">
            <a:avLst/>
          </a:prstGeom>
          <a:noFill/>
          <a:ln/>
        </p:spPr>
        <p:txBody>
          <a:bodyPr wrap="square" rtlCol="0" anchor="ctr"/>
          <a:lstStyle/>
          <a:p>
            <a:pPr indent="0" marL="0">
              <a:lnSpc>
                <a:spcPts val="1400"/>
              </a:lnSpc>
              <a:buNone/>
            </a:pPr>
            <a:r>
              <a:rPr lang="en-US" sz="1100" dirty="0">
                <a:solidFill>
                  <a:srgbClr val="1F8A54"/>
                </a:solidFill>
                <a:latin typeface="Calibri" pitchFamily="34" charset="0"/>
                <a:ea typeface="Calibri" pitchFamily="34" charset="-122"/>
                <a:cs typeface="Calibri" pitchFamily="34" charset="-120"/>
              </a:rPr>
              <a:t>Extracts claims automatically from any text or link</a:t>
            </a:r>
            <a:endParaRPr lang="en-US" sz="1100" dirty="0"/>
          </a:p>
        </p:txBody>
      </p:sp>
      <p:sp>
        <p:nvSpPr>
          <p:cNvPr id="15" name="Shape 13"/>
          <p:cNvSpPr/>
          <p:nvPr/>
        </p:nvSpPr>
        <p:spPr>
          <a:xfrm>
            <a:off x="548640" y="2788920"/>
            <a:ext cx="3657600" cy="978408"/>
          </a:xfrm>
          <a:prstGeom prst="rect">
            <a:avLst/>
          </a:prstGeom>
          <a:solidFill>
            <a:srgbClr val="FFFFFF"/>
          </a:solidFill>
          <a:ln w="9525">
            <a:solidFill>
              <a:srgbClr val="E4E1D6"/>
            </a:solidFill>
            <a:prstDash val="solid"/>
          </a:ln>
        </p:spPr>
      </p:sp>
      <p:sp>
        <p:nvSpPr>
          <p:cNvPr id="16" name="Text 14"/>
          <p:cNvSpPr txBox="1"/>
          <p:nvPr/>
        </p:nvSpPr>
        <p:spPr>
          <a:xfrm>
            <a:off x="685800" y="278892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Whole-article ML classifiers</a:t>
            </a:r>
            <a:endParaRPr lang="en-US" sz="1100" dirty="0"/>
          </a:p>
        </p:txBody>
      </p:sp>
      <p:sp>
        <p:nvSpPr>
          <p:cNvPr id="17" name="Shape 15"/>
          <p:cNvSpPr/>
          <p:nvPr/>
        </p:nvSpPr>
        <p:spPr>
          <a:xfrm>
            <a:off x="4343400" y="2788920"/>
            <a:ext cx="3657600" cy="978408"/>
          </a:xfrm>
          <a:prstGeom prst="rect">
            <a:avLst/>
          </a:prstGeom>
          <a:solidFill>
            <a:srgbClr val="FFFFFF"/>
          </a:solidFill>
          <a:ln w="9525">
            <a:solidFill>
              <a:srgbClr val="E4E1D6"/>
            </a:solidFill>
            <a:prstDash val="solid"/>
          </a:ln>
        </p:spPr>
      </p:sp>
      <p:sp>
        <p:nvSpPr>
          <p:cNvPr id="18" name="Text 16"/>
          <p:cNvSpPr txBox="1"/>
          <p:nvPr/>
        </p:nvSpPr>
        <p:spPr>
          <a:xfrm>
            <a:off x="4480560" y="278892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One “fake/real” label for a post that may mix true and false statements</a:t>
            </a:r>
            <a:endParaRPr lang="en-US" sz="1100" dirty="0"/>
          </a:p>
        </p:txBody>
      </p:sp>
      <p:sp>
        <p:nvSpPr>
          <p:cNvPr id="19" name="Shape 17"/>
          <p:cNvSpPr/>
          <p:nvPr/>
        </p:nvSpPr>
        <p:spPr>
          <a:xfrm>
            <a:off x="8138160" y="2788920"/>
            <a:ext cx="3474720" cy="978408"/>
          </a:xfrm>
          <a:prstGeom prst="rect">
            <a:avLst/>
          </a:prstGeom>
          <a:solidFill>
            <a:srgbClr val="E3F3E9"/>
          </a:solidFill>
          <a:ln w="9525">
            <a:solidFill>
              <a:srgbClr val="E4E1D6"/>
            </a:solidFill>
            <a:prstDash val="solid"/>
          </a:ln>
        </p:spPr>
      </p:sp>
      <p:sp>
        <p:nvSpPr>
          <p:cNvPr id="20" name="Text 18"/>
          <p:cNvSpPr txBox="1"/>
          <p:nvPr/>
        </p:nvSpPr>
        <p:spPr>
          <a:xfrm>
            <a:off x="8275320" y="2788920"/>
            <a:ext cx="3200400" cy="978408"/>
          </a:xfrm>
          <a:prstGeom prst="rect">
            <a:avLst/>
          </a:prstGeom>
          <a:noFill/>
          <a:ln/>
        </p:spPr>
        <p:txBody>
          <a:bodyPr wrap="square" rtlCol="0" anchor="ctr"/>
          <a:lstStyle/>
          <a:p>
            <a:pPr indent="0" marL="0">
              <a:lnSpc>
                <a:spcPts val="1400"/>
              </a:lnSpc>
              <a:buNone/>
            </a:pPr>
            <a:r>
              <a:rPr lang="en-US" sz="1100" dirty="0">
                <a:solidFill>
                  <a:srgbClr val="1F8A54"/>
                </a:solidFill>
                <a:latin typeface="Calibri" pitchFamily="34" charset="0"/>
                <a:ea typeface="Calibri" pitchFamily="34" charset="-122"/>
                <a:cs typeface="Calibri" pitchFamily="34" charset="-120"/>
              </a:rPr>
              <a:t>Verifies each claim separately, within the same post</a:t>
            </a:r>
            <a:endParaRPr lang="en-US" sz="1100" dirty="0"/>
          </a:p>
        </p:txBody>
      </p:sp>
      <p:sp>
        <p:nvSpPr>
          <p:cNvPr id="21" name="Shape 19"/>
          <p:cNvSpPr/>
          <p:nvPr/>
        </p:nvSpPr>
        <p:spPr>
          <a:xfrm>
            <a:off x="548640" y="3840480"/>
            <a:ext cx="3657600" cy="978408"/>
          </a:xfrm>
          <a:prstGeom prst="rect">
            <a:avLst/>
          </a:prstGeom>
          <a:solidFill>
            <a:srgbClr val="FFFFFF"/>
          </a:solidFill>
          <a:ln w="9525">
            <a:solidFill>
              <a:srgbClr val="E4E1D6"/>
            </a:solidFill>
            <a:prstDash val="solid"/>
          </a:ln>
        </p:spPr>
      </p:sp>
      <p:sp>
        <p:nvSpPr>
          <p:cNvPr id="22" name="Text 20"/>
          <p:cNvSpPr txBox="1"/>
          <p:nvPr/>
        </p:nvSpPr>
        <p:spPr>
          <a:xfrm>
            <a:off x="685800" y="384048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NewsGuard-style source rating</a:t>
            </a:r>
            <a:endParaRPr lang="en-US" sz="1100" dirty="0"/>
          </a:p>
        </p:txBody>
      </p:sp>
      <p:sp>
        <p:nvSpPr>
          <p:cNvPr id="23" name="Shape 21"/>
          <p:cNvSpPr/>
          <p:nvPr/>
        </p:nvSpPr>
        <p:spPr>
          <a:xfrm>
            <a:off x="4343400" y="3840480"/>
            <a:ext cx="3657600" cy="978408"/>
          </a:xfrm>
          <a:prstGeom prst="rect">
            <a:avLst/>
          </a:prstGeom>
          <a:solidFill>
            <a:srgbClr val="FFFFFF"/>
          </a:solidFill>
          <a:ln w="9525">
            <a:solidFill>
              <a:srgbClr val="E4E1D6"/>
            </a:solidFill>
            <a:prstDash val="solid"/>
          </a:ln>
        </p:spPr>
      </p:sp>
      <p:sp>
        <p:nvSpPr>
          <p:cNvPr id="24" name="Text 22"/>
          <p:cNvSpPr txBox="1"/>
          <p:nvPr/>
        </p:nvSpPr>
        <p:spPr>
          <a:xfrm>
            <a:off x="4480560" y="384048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Rates the publisher, not the specific claim being made</a:t>
            </a:r>
            <a:endParaRPr lang="en-US" sz="1100" dirty="0"/>
          </a:p>
        </p:txBody>
      </p:sp>
      <p:sp>
        <p:nvSpPr>
          <p:cNvPr id="25" name="Shape 23"/>
          <p:cNvSpPr/>
          <p:nvPr/>
        </p:nvSpPr>
        <p:spPr>
          <a:xfrm>
            <a:off x="8138160" y="3840480"/>
            <a:ext cx="3474720" cy="978408"/>
          </a:xfrm>
          <a:prstGeom prst="rect">
            <a:avLst/>
          </a:prstGeom>
          <a:solidFill>
            <a:srgbClr val="E3F3E9"/>
          </a:solidFill>
          <a:ln w="9525">
            <a:solidFill>
              <a:srgbClr val="E4E1D6"/>
            </a:solidFill>
            <a:prstDash val="solid"/>
          </a:ln>
        </p:spPr>
      </p:sp>
      <p:sp>
        <p:nvSpPr>
          <p:cNvPr id="26" name="Text 24"/>
          <p:cNvSpPr txBox="1"/>
          <p:nvPr/>
        </p:nvSpPr>
        <p:spPr>
          <a:xfrm>
            <a:off x="8275320" y="3840480"/>
            <a:ext cx="3200400" cy="978408"/>
          </a:xfrm>
          <a:prstGeom prst="rect">
            <a:avLst/>
          </a:prstGeom>
          <a:noFill/>
          <a:ln/>
        </p:spPr>
        <p:txBody>
          <a:bodyPr wrap="square" rtlCol="0" anchor="ctr"/>
          <a:lstStyle/>
          <a:p>
            <a:pPr indent="0" marL="0">
              <a:lnSpc>
                <a:spcPts val="1400"/>
              </a:lnSpc>
              <a:buNone/>
            </a:pPr>
            <a:r>
              <a:rPr lang="en-US" sz="1100" dirty="0">
                <a:solidFill>
                  <a:srgbClr val="1F8A54"/>
                </a:solidFill>
                <a:latin typeface="Calibri" pitchFamily="34" charset="0"/>
                <a:ea typeface="Calibri" pitchFamily="34" charset="-122"/>
                <a:cs typeface="Calibri" pitchFamily="34" charset="-120"/>
              </a:rPr>
              <a:t>Rates the claim itself, with cited evidence</a:t>
            </a:r>
            <a:endParaRPr lang="en-US" sz="1100" dirty="0"/>
          </a:p>
        </p:txBody>
      </p:sp>
      <p:sp>
        <p:nvSpPr>
          <p:cNvPr id="27" name="Shape 25"/>
          <p:cNvSpPr/>
          <p:nvPr/>
        </p:nvSpPr>
        <p:spPr>
          <a:xfrm>
            <a:off x="548640" y="4892040"/>
            <a:ext cx="3657600" cy="978408"/>
          </a:xfrm>
          <a:prstGeom prst="rect">
            <a:avLst/>
          </a:prstGeom>
          <a:solidFill>
            <a:srgbClr val="FFFFFF"/>
          </a:solidFill>
          <a:ln w="9525">
            <a:solidFill>
              <a:srgbClr val="E4E1D6"/>
            </a:solidFill>
            <a:prstDash val="solid"/>
          </a:ln>
        </p:spPr>
      </p:sp>
      <p:sp>
        <p:nvSpPr>
          <p:cNvPr id="28" name="Text 26"/>
          <p:cNvSpPr txBox="1"/>
          <p:nvPr/>
        </p:nvSpPr>
        <p:spPr>
          <a:xfrm>
            <a:off x="685800" y="489204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Manual fact-checking</a:t>
            </a:r>
            <a:endParaRPr lang="en-US" sz="1100" dirty="0"/>
          </a:p>
        </p:txBody>
      </p:sp>
      <p:sp>
        <p:nvSpPr>
          <p:cNvPr id="29" name="Shape 27"/>
          <p:cNvSpPr/>
          <p:nvPr/>
        </p:nvSpPr>
        <p:spPr>
          <a:xfrm>
            <a:off x="4343400" y="4892040"/>
            <a:ext cx="3657600" cy="978408"/>
          </a:xfrm>
          <a:prstGeom prst="rect">
            <a:avLst/>
          </a:prstGeom>
          <a:solidFill>
            <a:srgbClr val="FFFFFF"/>
          </a:solidFill>
          <a:ln w="9525">
            <a:solidFill>
              <a:srgbClr val="E4E1D6"/>
            </a:solidFill>
            <a:prstDash val="solid"/>
          </a:ln>
        </p:spPr>
      </p:sp>
      <p:sp>
        <p:nvSpPr>
          <p:cNvPr id="30" name="Text 28"/>
          <p:cNvSpPr txBox="1"/>
          <p:nvPr/>
        </p:nvSpPr>
        <p:spPr>
          <a:xfrm>
            <a:off x="4480560" y="4892040"/>
            <a:ext cx="3383280" cy="978408"/>
          </a:xfrm>
          <a:prstGeom prst="rect">
            <a:avLst/>
          </a:prstGeom>
          <a:noFill/>
          <a:ln/>
        </p:spPr>
        <p:txBody>
          <a:bodyPr wrap="square" rtlCol="0" anchor="ctr"/>
          <a:lstStyle/>
          <a:p>
            <a:pPr indent="0" marL="0">
              <a:lnSpc>
                <a:spcPts val="1400"/>
              </a:lnSpc>
              <a:buNone/>
            </a:pPr>
            <a:r>
              <a:rPr lang="en-US" sz="1100" dirty="0">
                <a:solidFill>
                  <a:srgbClr val="10293E"/>
                </a:solidFill>
                <a:latin typeface="Calibri" pitchFamily="34" charset="0"/>
                <a:ea typeface="Calibri" pitchFamily="34" charset="-122"/>
                <a:cs typeface="Calibri" pitchFamily="34" charset="-120"/>
              </a:rPr>
              <a:t>Accurate but far too slow for content that goes viral in minutes</a:t>
            </a:r>
            <a:endParaRPr lang="en-US" sz="1100" dirty="0"/>
          </a:p>
        </p:txBody>
      </p:sp>
      <p:sp>
        <p:nvSpPr>
          <p:cNvPr id="31" name="Shape 29"/>
          <p:cNvSpPr/>
          <p:nvPr/>
        </p:nvSpPr>
        <p:spPr>
          <a:xfrm>
            <a:off x="8138160" y="4892040"/>
            <a:ext cx="3474720" cy="978408"/>
          </a:xfrm>
          <a:prstGeom prst="rect">
            <a:avLst/>
          </a:prstGeom>
          <a:solidFill>
            <a:srgbClr val="E3F3E9"/>
          </a:solidFill>
          <a:ln w="9525">
            <a:solidFill>
              <a:srgbClr val="E4E1D6"/>
            </a:solidFill>
            <a:prstDash val="solid"/>
          </a:ln>
        </p:spPr>
      </p:sp>
      <p:sp>
        <p:nvSpPr>
          <p:cNvPr id="32" name="Text 30"/>
          <p:cNvSpPr txBox="1"/>
          <p:nvPr/>
        </p:nvSpPr>
        <p:spPr>
          <a:xfrm>
            <a:off x="8275320" y="4892040"/>
            <a:ext cx="3200400" cy="978408"/>
          </a:xfrm>
          <a:prstGeom prst="rect">
            <a:avLst/>
          </a:prstGeom>
          <a:noFill/>
          <a:ln/>
        </p:spPr>
        <p:txBody>
          <a:bodyPr wrap="square" rtlCol="0" anchor="ctr"/>
          <a:lstStyle/>
          <a:p>
            <a:pPr indent="0" marL="0">
              <a:lnSpc>
                <a:spcPts val="1400"/>
              </a:lnSpc>
              <a:buNone/>
            </a:pPr>
            <a:r>
              <a:rPr lang="en-US" sz="1100" dirty="0">
                <a:solidFill>
                  <a:srgbClr val="1F8A54"/>
                </a:solidFill>
                <a:latin typeface="Calibri" pitchFamily="34" charset="0"/>
                <a:ea typeface="Calibri" pitchFamily="34" charset="-122"/>
                <a:cs typeface="Calibri" pitchFamily="34" charset="-120"/>
              </a:rPr>
              <a:t>Automated, real-time check via browser extension</a:t>
            </a:r>
            <a:endParaRPr lang="en-US" sz="1100" dirty="0"/>
          </a:p>
        </p:txBody>
      </p:sp>
      <p:sp>
        <p:nvSpPr>
          <p:cNvPr id="33" name="Text 31"/>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Key Features</a:t>
            </a:r>
            <a:endParaRPr lang="en-US" sz="3000" dirty="0"/>
          </a:p>
        </p:txBody>
      </p:sp>
      <p:sp>
        <p:nvSpPr>
          <p:cNvPr id="3" name="Shape 1"/>
          <p:cNvSpPr/>
          <p:nvPr/>
        </p:nvSpPr>
        <p:spPr>
          <a:xfrm>
            <a:off x="548640" y="1234440"/>
            <a:ext cx="3520440" cy="2331720"/>
          </a:xfrm>
          <a:prstGeom prst="roundRect">
            <a:avLst>
              <a:gd name="adj" fmla="val 3922"/>
            </a:avLst>
          </a:prstGeom>
          <a:solidFill>
            <a:srgbClr val="FFFFFF"/>
          </a:solidFill>
          <a:ln w="12700">
            <a:solidFill>
              <a:srgbClr val="E4E1D6"/>
            </a:solidFill>
            <a:prstDash val="solid"/>
          </a:ln>
        </p:spPr>
      </p:sp>
      <p:sp>
        <p:nvSpPr>
          <p:cNvPr id="4" name="Shape 2"/>
          <p:cNvSpPr/>
          <p:nvPr/>
        </p:nvSpPr>
        <p:spPr>
          <a:xfrm>
            <a:off x="1988820" y="1508760"/>
            <a:ext cx="640080" cy="640080"/>
          </a:xfrm>
          <a:prstGeom prst="ellipse">
            <a:avLst/>
          </a:prstGeom>
          <a:solidFill>
            <a:srgbClr val="E8A33D"/>
          </a:solidFill>
          <a:ln/>
        </p:spPr>
      </p:sp>
      <p:sp>
        <p:nvSpPr>
          <p:cNvPr id="5" name="Text 3"/>
          <p:cNvSpPr txBox="1"/>
          <p:nvPr/>
        </p:nvSpPr>
        <p:spPr>
          <a:xfrm>
            <a:off x="1988820" y="1508760"/>
            <a:ext cx="640080" cy="640080"/>
          </a:xfrm>
          <a:prstGeom prst="rect">
            <a:avLst/>
          </a:prstGeom>
          <a:noFill/>
          <a:ln/>
        </p:spPr>
        <p:txBody>
          <a:bodyPr wrap="square" rtlCol="0" anchor="ctr"/>
          <a:lstStyle/>
          <a:p>
            <a:pPr algn="ctr" indent="0" marL="0">
              <a:buNone/>
            </a:pPr>
            <a:r>
              <a:rPr lang="en-US" sz="2200" b="1" dirty="0">
                <a:solidFill>
                  <a:srgbClr val="10293E"/>
                </a:solidFill>
                <a:latin typeface="Calibri" pitchFamily="34" charset="0"/>
                <a:ea typeface="Calibri" pitchFamily="34" charset="-122"/>
                <a:cs typeface="Calibri" pitchFamily="34" charset="-120"/>
              </a:rPr>
              <a:t>⚖</a:t>
            </a:r>
            <a:endParaRPr lang="en-US" sz="2200" dirty="0"/>
          </a:p>
        </p:txBody>
      </p:sp>
      <p:sp>
        <p:nvSpPr>
          <p:cNvPr id="6" name="Text 4"/>
          <p:cNvSpPr txBox="1"/>
          <p:nvPr/>
        </p:nvSpPr>
        <p:spPr>
          <a:xfrm>
            <a:off x="731520" y="2286000"/>
            <a:ext cx="3154680" cy="457200"/>
          </a:xfrm>
          <a:prstGeom prst="rect">
            <a:avLst/>
          </a:prstGeom>
          <a:noFill/>
          <a:ln/>
        </p:spPr>
        <p:txBody>
          <a:bodyPr wrap="square" rtlCol="0" anchor="ctr"/>
          <a:lstStyle/>
          <a:p>
            <a:pPr algn="ctr" indent="0" marL="0">
              <a:buNone/>
            </a:pPr>
            <a:r>
              <a:rPr lang="en-US" sz="1450" b="1" dirty="0">
                <a:solidFill>
                  <a:srgbClr val="10293E"/>
                </a:solidFill>
                <a:latin typeface="Cambria" pitchFamily="34" charset="0"/>
                <a:ea typeface="Cambria" pitchFamily="34" charset="-122"/>
                <a:cs typeface="Cambria" pitchFamily="34" charset="-120"/>
              </a:rPr>
              <a:t>Claim-level analysis</a:t>
            </a:r>
            <a:endParaRPr lang="en-US" sz="1450" dirty="0"/>
          </a:p>
        </p:txBody>
      </p:sp>
      <p:sp>
        <p:nvSpPr>
          <p:cNvPr id="7" name="Text 5"/>
          <p:cNvSpPr txBox="1"/>
          <p:nvPr/>
        </p:nvSpPr>
        <p:spPr>
          <a:xfrm>
            <a:off x="777240" y="2743200"/>
            <a:ext cx="3063240" cy="731520"/>
          </a:xfrm>
          <a:prstGeom prst="rect">
            <a:avLst/>
          </a:prstGeom>
          <a:noFill/>
          <a:ln/>
        </p:spPr>
        <p:txBody>
          <a:bodyPr wrap="square" rtlCol="0" anchor="ctr"/>
          <a:lstStyle/>
          <a:p>
            <a:pPr algn="ctr" indent="0" marL="0">
              <a:lnSpc>
                <a:spcPts val="1400"/>
              </a:lnSpc>
              <a:buNone/>
            </a:pPr>
            <a:r>
              <a:rPr lang="en-US" sz="1100" dirty="0">
                <a:solidFill>
                  <a:srgbClr val="5A6B7A"/>
                </a:solidFill>
                <a:latin typeface="Calibri" pitchFamily="34" charset="0"/>
                <a:ea typeface="Calibri" pitchFamily="34" charset="-122"/>
                <a:cs typeface="Calibri" pitchFamily="34" charset="-120"/>
              </a:rPr>
              <a:t>Checks individual statements, not whole articles</a:t>
            </a:r>
            <a:endParaRPr lang="en-US" sz="1100" dirty="0"/>
          </a:p>
        </p:txBody>
      </p:sp>
      <p:sp>
        <p:nvSpPr>
          <p:cNvPr id="8" name="Shape 6"/>
          <p:cNvSpPr/>
          <p:nvPr/>
        </p:nvSpPr>
        <p:spPr>
          <a:xfrm>
            <a:off x="4325112" y="1234440"/>
            <a:ext cx="3520440" cy="2331720"/>
          </a:xfrm>
          <a:prstGeom prst="roundRect">
            <a:avLst>
              <a:gd name="adj" fmla="val 3922"/>
            </a:avLst>
          </a:prstGeom>
          <a:solidFill>
            <a:srgbClr val="FFFFFF"/>
          </a:solidFill>
          <a:ln w="12700">
            <a:solidFill>
              <a:srgbClr val="E4E1D6"/>
            </a:solidFill>
            <a:prstDash val="solid"/>
          </a:ln>
        </p:spPr>
      </p:sp>
      <p:sp>
        <p:nvSpPr>
          <p:cNvPr id="9" name="Shape 7"/>
          <p:cNvSpPr/>
          <p:nvPr/>
        </p:nvSpPr>
        <p:spPr>
          <a:xfrm>
            <a:off x="5765292" y="1508760"/>
            <a:ext cx="640080" cy="640080"/>
          </a:xfrm>
          <a:prstGeom prst="ellipse">
            <a:avLst/>
          </a:prstGeom>
          <a:solidFill>
            <a:srgbClr val="E8A33D"/>
          </a:solidFill>
          <a:ln/>
        </p:spPr>
      </p:sp>
      <p:sp>
        <p:nvSpPr>
          <p:cNvPr id="10" name="Text 8"/>
          <p:cNvSpPr txBox="1"/>
          <p:nvPr/>
        </p:nvSpPr>
        <p:spPr>
          <a:xfrm>
            <a:off x="5765292" y="1508760"/>
            <a:ext cx="640080" cy="640080"/>
          </a:xfrm>
          <a:prstGeom prst="rect">
            <a:avLst/>
          </a:prstGeom>
          <a:noFill/>
          <a:ln/>
        </p:spPr>
        <p:txBody>
          <a:bodyPr wrap="square" rtlCol="0" anchor="ctr"/>
          <a:lstStyle/>
          <a:p>
            <a:pPr algn="ctr" indent="0" marL="0">
              <a:buNone/>
            </a:pPr>
            <a:r>
              <a:rPr lang="en-US" sz="2200" b="1" dirty="0">
                <a:solidFill>
                  <a:srgbClr val="10293E"/>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4507992" y="2286000"/>
            <a:ext cx="3154680" cy="457200"/>
          </a:xfrm>
          <a:prstGeom prst="rect">
            <a:avLst/>
          </a:prstGeom>
          <a:noFill/>
          <a:ln/>
        </p:spPr>
        <p:txBody>
          <a:bodyPr wrap="square" rtlCol="0" anchor="ctr"/>
          <a:lstStyle/>
          <a:p>
            <a:pPr algn="ctr" indent="0" marL="0">
              <a:buNone/>
            </a:pPr>
            <a:r>
              <a:rPr lang="en-US" sz="1450" b="1" dirty="0">
                <a:solidFill>
                  <a:srgbClr val="10293E"/>
                </a:solidFill>
                <a:latin typeface="Cambria" pitchFamily="34" charset="0"/>
                <a:ea typeface="Cambria" pitchFamily="34" charset="-122"/>
                <a:cs typeface="Cambria" pitchFamily="34" charset="-120"/>
              </a:rPr>
              <a:t>Dual verification</a:t>
            </a:r>
            <a:endParaRPr lang="en-US" sz="1450" dirty="0"/>
          </a:p>
        </p:txBody>
      </p:sp>
      <p:sp>
        <p:nvSpPr>
          <p:cNvPr id="12" name="Text 10"/>
          <p:cNvSpPr txBox="1"/>
          <p:nvPr/>
        </p:nvSpPr>
        <p:spPr>
          <a:xfrm>
            <a:off x="4553712" y="2743200"/>
            <a:ext cx="3063240" cy="731520"/>
          </a:xfrm>
          <a:prstGeom prst="rect">
            <a:avLst/>
          </a:prstGeom>
          <a:noFill/>
          <a:ln/>
        </p:spPr>
        <p:txBody>
          <a:bodyPr wrap="square" rtlCol="0" anchor="ctr"/>
          <a:lstStyle/>
          <a:p>
            <a:pPr algn="ctr" indent="0" marL="0">
              <a:lnSpc>
                <a:spcPts val="1400"/>
              </a:lnSpc>
              <a:buNone/>
            </a:pPr>
            <a:r>
              <a:rPr lang="en-US" sz="1100" dirty="0">
                <a:solidFill>
                  <a:srgbClr val="5A6B7A"/>
                </a:solidFill>
                <a:latin typeface="Calibri" pitchFamily="34" charset="0"/>
                <a:ea typeface="Calibri" pitchFamily="34" charset="-122"/>
                <a:cs typeface="Calibri" pitchFamily="34" charset="-120"/>
              </a:rPr>
              <a:t>Fact-checking and scam-signal detection run in parallel</a:t>
            </a:r>
            <a:endParaRPr lang="en-US" sz="1100" dirty="0"/>
          </a:p>
        </p:txBody>
      </p:sp>
      <p:sp>
        <p:nvSpPr>
          <p:cNvPr id="13" name="Shape 11"/>
          <p:cNvSpPr/>
          <p:nvPr/>
        </p:nvSpPr>
        <p:spPr>
          <a:xfrm>
            <a:off x="8101584" y="1234440"/>
            <a:ext cx="3520440" cy="2331720"/>
          </a:xfrm>
          <a:prstGeom prst="roundRect">
            <a:avLst>
              <a:gd name="adj" fmla="val 3922"/>
            </a:avLst>
          </a:prstGeom>
          <a:solidFill>
            <a:srgbClr val="FFFFFF"/>
          </a:solidFill>
          <a:ln w="12700">
            <a:solidFill>
              <a:srgbClr val="E4E1D6"/>
            </a:solidFill>
            <a:prstDash val="solid"/>
          </a:ln>
        </p:spPr>
      </p:sp>
      <p:sp>
        <p:nvSpPr>
          <p:cNvPr id="14" name="Shape 12"/>
          <p:cNvSpPr/>
          <p:nvPr/>
        </p:nvSpPr>
        <p:spPr>
          <a:xfrm>
            <a:off x="9541764" y="1508760"/>
            <a:ext cx="640080" cy="640080"/>
          </a:xfrm>
          <a:prstGeom prst="ellipse">
            <a:avLst/>
          </a:prstGeom>
          <a:solidFill>
            <a:srgbClr val="E8A33D"/>
          </a:solidFill>
          <a:ln/>
        </p:spPr>
      </p:sp>
      <p:sp>
        <p:nvSpPr>
          <p:cNvPr id="15" name="Text 13"/>
          <p:cNvSpPr txBox="1"/>
          <p:nvPr/>
        </p:nvSpPr>
        <p:spPr>
          <a:xfrm>
            <a:off x="9541764" y="1508760"/>
            <a:ext cx="640080" cy="640080"/>
          </a:xfrm>
          <a:prstGeom prst="rect">
            <a:avLst/>
          </a:prstGeom>
          <a:noFill/>
          <a:ln/>
        </p:spPr>
        <p:txBody>
          <a:bodyPr wrap="square" rtlCol="0" anchor="ctr"/>
          <a:lstStyle/>
          <a:p>
            <a:pPr algn="ctr" indent="0" marL="0">
              <a:buNone/>
            </a:pPr>
            <a:r>
              <a:rPr lang="en-US" sz="2200" b="1" dirty="0">
                <a:solidFill>
                  <a:srgbClr val="10293E"/>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8284464" y="2286000"/>
            <a:ext cx="3154680" cy="457200"/>
          </a:xfrm>
          <a:prstGeom prst="rect">
            <a:avLst/>
          </a:prstGeom>
          <a:noFill/>
          <a:ln/>
        </p:spPr>
        <p:txBody>
          <a:bodyPr wrap="square" rtlCol="0" anchor="ctr"/>
          <a:lstStyle/>
          <a:p>
            <a:pPr algn="ctr" indent="0" marL="0">
              <a:buNone/>
            </a:pPr>
            <a:r>
              <a:rPr lang="en-US" sz="1450" b="1" dirty="0">
                <a:solidFill>
                  <a:srgbClr val="10293E"/>
                </a:solidFill>
                <a:latin typeface="Cambria" pitchFamily="34" charset="0"/>
                <a:ea typeface="Cambria" pitchFamily="34" charset="-122"/>
                <a:cs typeface="Cambria" pitchFamily="34" charset="-120"/>
              </a:rPr>
              <a:t>Explainable output</a:t>
            </a:r>
            <a:endParaRPr lang="en-US" sz="1450" dirty="0"/>
          </a:p>
        </p:txBody>
      </p:sp>
      <p:sp>
        <p:nvSpPr>
          <p:cNvPr id="17" name="Text 15"/>
          <p:cNvSpPr txBox="1"/>
          <p:nvPr/>
        </p:nvSpPr>
        <p:spPr>
          <a:xfrm>
            <a:off x="8330184" y="2743200"/>
            <a:ext cx="3063240" cy="731520"/>
          </a:xfrm>
          <a:prstGeom prst="rect">
            <a:avLst/>
          </a:prstGeom>
          <a:noFill/>
          <a:ln/>
        </p:spPr>
        <p:txBody>
          <a:bodyPr wrap="square" rtlCol="0" anchor="ctr"/>
          <a:lstStyle/>
          <a:p>
            <a:pPr algn="ctr" indent="0" marL="0">
              <a:lnSpc>
                <a:spcPts val="1400"/>
              </a:lnSpc>
              <a:buNone/>
            </a:pPr>
            <a:r>
              <a:rPr lang="en-US" sz="1100" dirty="0">
                <a:solidFill>
                  <a:srgbClr val="5A6B7A"/>
                </a:solidFill>
                <a:latin typeface="Calibri" pitchFamily="34" charset="0"/>
                <a:ea typeface="Calibri" pitchFamily="34" charset="-122"/>
                <a:cs typeface="Calibri" pitchFamily="34" charset="-120"/>
              </a:rPr>
              <a:t>Every verdict comes with evidence and reasoning</a:t>
            </a:r>
            <a:endParaRPr lang="en-US" sz="1100" dirty="0"/>
          </a:p>
        </p:txBody>
      </p:sp>
      <p:sp>
        <p:nvSpPr>
          <p:cNvPr id="18" name="Shape 16"/>
          <p:cNvSpPr/>
          <p:nvPr/>
        </p:nvSpPr>
        <p:spPr>
          <a:xfrm>
            <a:off x="548640" y="3840480"/>
            <a:ext cx="3520440" cy="2331720"/>
          </a:xfrm>
          <a:prstGeom prst="roundRect">
            <a:avLst>
              <a:gd name="adj" fmla="val 3922"/>
            </a:avLst>
          </a:prstGeom>
          <a:solidFill>
            <a:srgbClr val="FFFFFF"/>
          </a:solidFill>
          <a:ln w="12700">
            <a:solidFill>
              <a:srgbClr val="E4E1D6"/>
            </a:solidFill>
            <a:prstDash val="solid"/>
          </a:ln>
        </p:spPr>
      </p:sp>
      <p:sp>
        <p:nvSpPr>
          <p:cNvPr id="19" name="Shape 17"/>
          <p:cNvSpPr/>
          <p:nvPr/>
        </p:nvSpPr>
        <p:spPr>
          <a:xfrm>
            <a:off x="1988820" y="4114800"/>
            <a:ext cx="640080" cy="640080"/>
          </a:xfrm>
          <a:prstGeom prst="ellipse">
            <a:avLst/>
          </a:prstGeom>
          <a:solidFill>
            <a:srgbClr val="E8A33D"/>
          </a:solidFill>
          <a:ln/>
        </p:spPr>
      </p:sp>
      <p:sp>
        <p:nvSpPr>
          <p:cNvPr id="20" name="Text 18"/>
          <p:cNvSpPr txBox="1"/>
          <p:nvPr/>
        </p:nvSpPr>
        <p:spPr>
          <a:xfrm>
            <a:off x="1988820" y="4114800"/>
            <a:ext cx="640080" cy="640080"/>
          </a:xfrm>
          <a:prstGeom prst="rect">
            <a:avLst/>
          </a:prstGeom>
          <a:noFill/>
          <a:ln/>
        </p:spPr>
        <p:txBody>
          <a:bodyPr wrap="square" rtlCol="0" anchor="ctr"/>
          <a:lstStyle/>
          <a:p>
            <a:pPr algn="ctr" indent="0" marL="0">
              <a:buNone/>
            </a:pPr>
            <a:r>
              <a:rPr lang="en-US" sz="2200" b="1" dirty="0">
                <a:solidFill>
                  <a:srgbClr val="10293E"/>
                </a:solidFill>
                <a:latin typeface="Calibri" pitchFamily="34" charset="0"/>
                <a:ea typeface="Calibri" pitchFamily="34" charset="-122"/>
                <a:cs typeface="Calibri" pitchFamily="34" charset="-120"/>
              </a:rPr>
              <a:t>🧩</a:t>
            </a:r>
            <a:endParaRPr lang="en-US" sz="2200" dirty="0"/>
          </a:p>
        </p:txBody>
      </p:sp>
      <p:sp>
        <p:nvSpPr>
          <p:cNvPr id="21" name="Text 19"/>
          <p:cNvSpPr txBox="1"/>
          <p:nvPr/>
        </p:nvSpPr>
        <p:spPr>
          <a:xfrm>
            <a:off x="731520" y="4892040"/>
            <a:ext cx="3154680" cy="457200"/>
          </a:xfrm>
          <a:prstGeom prst="rect">
            <a:avLst/>
          </a:prstGeom>
          <a:noFill/>
          <a:ln/>
        </p:spPr>
        <p:txBody>
          <a:bodyPr wrap="square" rtlCol="0" anchor="ctr"/>
          <a:lstStyle/>
          <a:p>
            <a:pPr algn="ctr" indent="0" marL="0">
              <a:buNone/>
            </a:pPr>
            <a:r>
              <a:rPr lang="en-US" sz="1450" b="1" dirty="0">
                <a:solidFill>
                  <a:srgbClr val="10293E"/>
                </a:solidFill>
                <a:latin typeface="Cambria" pitchFamily="34" charset="0"/>
                <a:ea typeface="Cambria" pitchFamily="34" charset="-122"/>
                <a:cs typeface="Cambria" pitchFamily="34" charset="-120"/>
              </a:rPr>
              <a:t>Browser extension</a:t>
            </a:r>
            <a:endParaRPr lang="en-US" sz="1450" dirty="0"/>
          </a:p>
        </p:txBody>
      </p:sp>
      <p:sp>
        <p:nvSpPr>
          <p:cNvPr id="22" name="Text 20"/>
          <p:cNvSpPr txBox="1"/>
          <p:nvPr/>
        </p:nvSpPr>
        <p:spPr>
          <a:xfrm>
            <a:off x="777240" y="5349240"/>
            <a:ext cx="3063240" cy="731520"/>
          </a:xfrm>
          <a:prstGeom prst="rect">
            <a:avLst/>
          </a:prstGeom>
          <a:noFill/>
          <a:ln/>
        </p:spPr>
        <p:txBody>
          <a:bodyPr wrap="square" rtlCol="0" anchor="ctr"/>
          <a:lstStyle/>
          <a:p>
            <a:pPr algn="ctr" indent="0" marL="0">
              <a:lnSpc>
                <a:spcPts val="1400"/>
              </a:lnSpc>
              <a:buNone/>
            </a:pPr>
            <a:r>
              <a:rPr lang="en-US" sz="1100" dirty="0">
                <a:solidFill>
                  <a:srgbClr val="5A6B7A"/>
                </a:solidFill>
                <a:latin typeface="Calibri" pitchFamily="34" charset="0"/>
                <a:ea typeface="Calibri" pitchFamily="34" charset="-122"/>
                <a:cs typeface="Calibri" pitchFamily="34" charset="-120"/>
              </a:rPr>
              <a:t>Check a post without leaving the page</a:t>
            </a:r>
            <a:endParaRPr lang="en-US" sz="1100" dirty="0"/>
          </a:p>
        </p:txBody>
      </p:sp>
      <p:sp>
        <p:nvSpPr>
          <p:cNvPr id="23" name="Shape 21"/>
          <p:cNvSpPr/>
          <p:nvPr/>
        </p:nvSpPr>
        <p:spPr>
          <a:xfrm>
            <a:off x="4325112" y="3840480"/>
            <a:ext cx="3520440" cy="2331720"/>
          </a:xfrm>
          <a:prstGeom prst="roundRect">
            <a:avLst>
              <a:gd name="adj" fmla="val 3922"/>
            </a:avLst>
          </a:prstGeom>
          <a:solidFill>
            <a:srgbClr val="FFFFFF"/>
          </a:solidFill>
          <a:ln w="12700">
            <a:solidFill>
              <a:srgbClr val="E4E1D6"/>
            </a:solidFill>
            <a:prstDash val="solid"/>
          </a:ln>
        </p:spPr>
      </p:sp>
      <p:sp>
        <p:nvSpPr>
          <p:cNvPr id="24" name="Shape 22"/>
          <p:cNvSpPr/>
          <p:nvPr/>
        </p:nvSpPr>
        <p:spPr>
          <a:xfrm>
            <a:off x="5765292" y="4114800"/>
            <a:ext cx="640080" cy="640080"/>
          </a:xfrm>
          <a:prstGeom prst="ellipse">
            <a:avLst/>
          </a:prstGeom>
          <a:solidFill>
            <a:srgbClr val="E8A33D"/>
          </a:solidFill>
          <a:ln/>
        </p:spPr>
      </p:sp>
      <p:sp>
        <p:nvSpPr>
          <p:cNvPr id="25" name="Text 23"/>
          <p:cNvSpPr txBox="1"/>
          <p:nvPr/>
        </p:nvSpPr>
        <p:spPr>
          <a:xfrm>
            <a:off x="5765292" y="4114800"/>
            <a:ext cx="640080" cy="640080"/>
          </a:xfrm>
          <a:prstGeom prst="rect">
            <a:avLst/>
          </a:prstGeom>
          <a:noFill/>
          <a:ln/>
        </p:spPr>
        <p:txBody>
          <a:bodyPr wrap="square" rtlCol="0" anchor="ctr"/>
          <a:lstStyle/>
          <a:p>
            <a:pPr algn="ctr" indent="0" marL="0">
              <a:buNone/>
            </a:pPr>
            <a:r>
              <a:rPr lang="en-US" sz="2200" b="1" dirty="0">
                <a:solidFill>
                  <a:srgbClr val="10293E"/>
                </a:solidFill>
                <a:latin typeface="Calibri" pitchFamily="34" charset="0"/>
                <a:ea typeface="Calibri" pitchFamily="34" charset="-122"/>
                <a:cs typeface="Calibri" pitchFamily="34" charset="-120"/>
              </a:rPr>
              <a:t>★</a:t>
            </a:r>
            <a:endParaRPr lang="en-US" sz="2200" dirty="0"/>
          </a:p>
        </p:txBody>
      </p:sp>
      <p:sp>
        <p:nvSpPr>
          <p:cNvPr id="26" name="Text 24"/>
          <p:cNvSpPr txBox="1"/>
          <p:nvPr/>
        </p:nvSpPr>
        <p:spPr>
          <a:xfrm>
            <a:off x="4507992" y="4892040"/>
            <a:ext cx="3154680" cy="457200"/>
          </a:xfrm>
          <a:prstGeom prst="rect">
            <a:avLst/>
          </a:prstGeom>
          <a:noFill/>
          <a:ln/>
        </p:spPr>
        <p:txBody>
          <a:bodyPr wrap="square" rtlCol="0" anchor="ctr"/>
          <a:lstStyle/>
          <a:p>
            <a:pPr algn="ctr" indent="0" marL="0">
              <a:buNone/>
            </a:pPr>
            <a:r>
              <a:rPr lang="en-US" sz="1450" b="1" dirty="0">
                <a:solidFill>
                  <a:srgbClr val="10293E"/>
                </a:solidFill>
                <a:latin typeface="Cambria" pitchFamily="34" charset="0"/>
                <a:ea typeface="Cambria" pitchFamily="34" charset="-122"/>
                <a:cs typeface="Cambria" pitchFamily="34" charset="-120"/>
              </a:rPr>
              <a:t>Source credibility</a:t>
            </a:r>
            <a:endParaRPr lang="en-US" sz="1450" dirty="0"/>
          </a:p>
        </p:txBody>
      </p:sp>
      <p:sp>
        <p:nvSpPr>
          <p:cNvPr id="27" name="Text 25"/>
          <p:cNvSpPr txBox="1"/>
          <p:nvPr/>
        </p:nvSpPr>
        <p:spPr>
          <a:xfrm>
            <a:off x="4553712" y="5349240"/>
            <a:ext cx="3063240" cy="731520"/>
          </a:xfrm>
          <a:prstGeom prst="rect">
            <a:avLst/>
          </a:prstGeom>
          <a:noFill/>
          <a:ln/>
        </p:spPr>
        <p:txBody>
          <a:bodyPr wrap="square" rtlCol="0" anchor="ctr"/>
          <a:lstStyle/>
          <a:p>
            <a:pPr algn="ctr" indent="0" marL="0">
              <a:lnSpc>
                <a:spcPts val="1400"/>
              </a:lnSpc>
              <a:buNone/>
            </a:pPr>
            <a:r>
              <a:rPr lang="en-US" sz="1100" dirty="0">
                <a:solidFill>
                  <a:srgbClr val="5A6B7A"/>
                </a:solidFill>
                <a:latin typeface="Calibri" pitchFamily="34" charset="0"/>
                <a:ea typeface="Calibri" pitchFamily="34" charset="-122"/>
                <a:cs typeface="Calibri" pitchFamily="34" charset="-120"/>
              </a:rPr>
              <a:t>Weighs evidence by how trustworthy its source is</a:t>
            </a:r>
            <a:endParaRPr lang="en-US" sz="1100" dirty="0"/>
          </a:p>
        </p:txBody>
      </p:sp>
      <p:sp>
        <p:nvSpPr>
          <p:cNvPr id="28" name="Shape 26"/>
          <p:cNvSpPr/>
          <p:nvPr/>
        </p:nvSpPr>
        <p:spPr>
          <a:xfrm>
            <a:off x="8101584" y="3840480"/>
            <a:ext cx="3520440" cy="2331720"/>
          </a:xfrm>
          <a:prstGeom prst="roundRect">
            <a:avLst>
              <a:gd name="adj" fmla="val 3922"/>
            </a:avLst>
          </a:prstGeom>
          <a:solidFill>
            <a:srgbClr val="FFFFFF"/>
          </a:solidFill>
          <a:ln w="12700">
            <a:solidFill>
              <a:srgbClr val="E4E1D6"/>
            </a:solidFill>
            <a:prstDash val="solid"/>
          </a:ln>
        </p:spPr>
      </p:sp>
      <p:sp>
        <p:nvSpPr>
          <p:cNvPr id="29" name="Shape 27"/>
          <p:cNvSpPr/>
          <p:nvPr/>
        </p:nvSpPr>
        <p:spPr>
          <a:xfrm>
            <a:off x="9541764" y="4114800"/>
            <a:ext cx="640080" cy="640080"/>
          </a:xfrm>
          <a:prstGeom prst="ellipse">
            <a:avLst/>
          </a:prstGeom>
          <a:solidFill>
            <a:srgbClr val="E8A33D"/>
          </a:solidFill>
          <a:ln/>
        </p:spPr>
      </p:sp>
      <p:sp>
        <p:nvSpPr>
          <p:cNvPr id="30" name="Text 28"/>
          <p:cNvSpPr txBox="1"/>
          <p:nvPr/>
        </p:nvSpPr>
        <p:spPr>
          <a:xfrm>
            <a:off x="9541764" y="4114800"/>
            <a:ext cx="640080" cy="640080"/>
          </a:xfrm>
          <a:prstGeom prst="rect">
            <a:avLst/>
          </a:prstGeom>
          <a:noFill/>
          <a:ln/>
        </p:spPr>
        <p:txBody>
          <a:bodyPr wrap="square" rtlCol="0" anchor="ctr"/>
          <a:lstStyle/>
          <a:p>
            <a:pPr algn="ctr" indent="0" marL="0">
              <a:buNone/>
            </a:pPr>
            <a:r>
              <a:rPr lang="en-US" sz="2200" b="1" dirty="0">
                <a:solidFill>
                  <a:srgbClr val="10293E"/>
                </a:solidFill>
                <a:latin typeface="Calibri" pitchFamily="34" charset="0"/>
                <a:ea typeface="Calibri" pitchFamily="34" charset="-122"/>
                <a:cs typeface="Calibri" pitchFamily="34" charset="-120"/>
              </a:rPr>
              <a:t>⏱</a:t>
            </a:r>
            <a:endParaRPr lang="en-US" sz="2200" dirty="0"/>
          </a:p>
        </p:txBody>
      </p:sp>
      <p:sp>
        <p:nvSpPr>
          <p:cNvPr id="31" name="Text 29"/>
          <p:cNvSpPr txBox="1"/>
          <p:nvPr/>
        </p:nvSpPr>
        <p:spPr>
          <a:xfrm>
            <a:off x="8284464" y="4892040"/>
            <a:ext cx="3154680" cy="457200"/>
          </a:xfrm>
          <a:prstGeom prst="rect">
            <a:avLst/>
          </a:prstGeom>
          <a:noFill/>
          <a:ln/>
        </p:spPr>
        <p:txBody>
          <a:bodyPr wrap="square" rtlCol="0" anchor="ctr"/>
          <a:lstStyle/>
          <a:p>
            <a:pPr algn="ctr" indent="0" marL="0">
              <a:buNone/>
            </a:pPr>
            <a:r>
              <a:rPr lang="en-US" sz="1450" b="1" dirty="0">
                <a:solidFill>
                  <a:srgbClr val="10293E"/>
                </a:solidFill>
                <a:latin typeface="Cambria" pitchFamily="34" charset="0"/>
                <a:ea typeface="Cambria" pitchFamily="34" charset="-122"/>
                <a:cs typeface="Cambria" pitchFamily="34" charset="-120"/>
              </a:rPr>
              <a:t>Real-time</a:t>
            </a:r>
            <a:endParaRPr lang="en-US" sz="1450" dirty="0"/>
          </a:p>
        </p:txBody>
      </p:sp>
      <p:sp>
        <p:nvSpPr>
          <p:cNvPr id="32" name="Text 30"/>
          <p:cNvSpPr txBox="1"/>
          <p:nvPr/>
        </p:nvSpPr>
        <p:spPr>
          <a:xfrm>
            <a:off x="8330184" y="5349240"/>
            <a:ext cx="3063240" cy="731520"/>
          </a:xfrm>
          <a:prstGeom prst="rect">
            <a:avLst/>
          </a:prstGeom>
          <a:noFill/>
          <a:ln/>
        </p:spPr>
        <p:txBody>
          <a:bodyPr wrap="square" rtlCol="0" anchor="ctr"/>
          <a:lstStyle/>
          <a:p>
            <a:pPr algn="ctr" indent="0" marL="0">
              <a:lnSpc>
                <a:spcPts val="1400"/>
              </a:lnSpc>
              <a:buNone/>
            </a:pPr>
            <a:r>
              <a:rPr lang="en-US" sz="1100" dirty="0">
                <a:solidFill>
                  <a:srgbClr val="5A6B7A"/>
                </a:solidFill>
                <a:latin typeface="Calibri" pitchFamily="34" charset="0"/>
                <a:ea typeface="Calibri" pitchFamily="34" charset="-122"/>
                <a:cs typeface="Calibri" pitchFamily="34" charset="-120"/>
              </a:rPr>
              <a:t>Designed for content that goes viral in minutes</a:t>
            </a:r>
            <a:endParaRPr lang="en-US" sz="1100" dirty="0"/>
          </a:p>
        </p:txBody>
      </p:sp>
      <p:sp>
        <p:nvSpPr>
          <p:cNvPr id="33" name="Text 31"/>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How It Works — A Worked Example</a:t>
            </a:r>
            <a:endParaRPr lang="en-US" sz="3000" dirty="0"/>
          </a:p>
        </p:txBody>
      </p:sp>
      <p:sp>
        <p:nvSpPr>
          <p:cNvPr id="3" name="Shape 1"/>
          <p:cNvSpPr/>
          <p:nvPr/>
        </p:nvSpPr>
        <p:spPr>
          <a:xfrm>
            <a:off x="548640" y="1143000"/>
            <a:ext cx="5029200" cy="777240"/>
          </a:xfrm>
          <a:prstGeom prst="roundRect">
            <a:avLst>
              <a:gd name="adj" fmla="val 9412"/>
            </a:avLst>
          </a:prstGeom>
          <a:solidFill>
            <a:srgbClr val="10293E"/>
          </a:solidFill>
          <a:ln/>
        </p:spPr>
      </p:sp>
      <p:sp>
        <p:nvSpPr>
          <p:cNvPr id="4" name="Text 2"/>
          <p:cNvSpPr txBox="1"/>
          <p:nvPr/>
        </p:nvSpPr>
        <p:spPr>
          <a:xfrm>
            <a:off x="777240" y="1216152"/>
            <a:ext cx="4572000" cy="274320"/>
          </a:xfrm>
          <a:prstGeom prst="rect">
            <a:avLst/>
          </a:prstGeom>
          <a:noFill/>
          <a:ln/>
        </p:spPr>
        <p:txBody>
          <a:bodyPr wrap="square" rtlCol="0" anchor="ctr"/>
          <a:lstStyle/>
          <a:p>
            <a:pPr indent="0" marL="0">
              <a:buNone/>
            </a:pPr>
            <a:r>
              <a:rPr lang="en-US" sz="1050" dirty="0">
                <a:solidFill>
                  <a:srgbClr val="9FB2C3"/>
                </a:solidFill>
                <a:latin typeface="Calibri" pitchFamily="34" charset="0"/>
                <a:ea typeface="Calibri" pitchFamily="34" charset="-122"/>
                <a:cs typeface="Calibri" pitchFamily="34" charset="-120"/>
              </a:rPr>
              <a:t>Post seen on Instagram:</a:t>
            </a:r>
            <a:endParaRPr lang="en-US" sz="1050" dirty="0"/>
          </a:p>
        </p:txBody>
      </p:sp>
      <p:sp>
        <p:nvSpPr>
          <p:cNvPr id="5" name="Text 3"/>
          <p:cNvSpPr txBox="1"/>
          <p:nvPr/>
        </p:nvSpPr>
        <p:spPr>
          <a:xfrm>
            <a:off x="777240" y="1444752"/>
            <a:ext cx="4617720" cy="457200"/>
          </a:xfrm>
          <a:prstGeom prst="rect">
            <a:avLst/>
          </a:prstGeom>
          <a:noFill/>
          <a:ln/>
        </p:spPr>
        <p:txBody>
          <a:bodyPr wrap="square" rtlCol="0" anchor="ctr"/>
          <a:lstStyle/>
          <a:p>
            <a:pPr indent="0" marL="0">
              <a:lnSpc>
                <a:spcPts val="1400"/>
              </a:lnSpc>
              <a:buNone/>
            </a:pPr>
            <a:r>
              <a:rPr lang="en-US" sz="1150" i="1" dirty="0">
                <a:solidFill>
                  <a:srgbClr val="FFFFFF"/>
                </a:solidFill>
                <a:latin typeface="Cambria" pitchFamily="34" charset="0"/>
                <a:ea typeface="Cambria" pitchFamily="34" charset="-122"/>
                <a:cs typeface="Cambria" pitchFamily="34" charset="-120"/>
              </a:rPr>
              <a:t>“TCS is hiring 10,000 freshers — apply now, pay ₹500 registration fee. Limited seats!”</a:t>
            </a:r>
            <a:endParaRPr lang="en-US" sz="1150" dirty="0"/>
          </a:p>
        </p:txBody>
      </p:sp>
      <p:sp>
        <p:nvSpPr>
          <p:cNvPr id="6" name="Shape 4"/>
          <p:cNvSpPr/>
          <p:nvPr/>
        </p:nvSpPr>
        <p:spPr>
          <a:xfrm>
            <a:off x="548640" y="2148840"/>
            <a:ext cx="384048" cy="384048"/>
          </a:xfrm>
          <a:prstGeom prst="ellipse">
            <a:avLst/>
          </a:prstGeom>
          <a:solidFill>
            <a:srgbClr val="E7EFF1"/>
          </a:solidFill>
          <a:ln/>
        </p:spPr>
      </p:sp>
      <p:sp>
        <p:nvSpPr>
          <p:cNvPr id="7" name="Text 5"/>
          <p:cNvSpPr txBox="1"/>
          <p:nvPr/>
        </p:nvSpPr>
        <p:spPr>
          <a:xfrm>
            <a:off x="548640" y="2148840"/>
            <a:ext cx="384048" cy="384048"/>
          </a:xfrm>
          <a:prstGeom prst="rect">
            <a:avLst/>
          </a:prstGeom>
          <a:noFill/>
          <a:ln/>
        </p:spPr>
        <p:txBody>
          <a:bodyPr wrap="square"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51560" y="2130552"/>
            <a:ext cx="4572000" cy="457200"/>
          </a:xfrm>
          <a:prstGeom prst="rect">
            <a:avLst/>
          </a:prstGeom>
          <a:noFill/>
          <a:ln/>
        </p:spPr>
        <p:txBody>
          <a:bodyPr wrap="square" rtlCol="0" anchor="ctr"/>
          <a:lstStyle/>
          <a:p>
            <a:pPr indent="0" marL="0">
              <a:lnSpc>
                <a:spcPts val="1400"/>
              </a:lnSpc>
              <a:buNone/>
            </a:pPr>
            <a:r>
              <a:rPr lang="en-US" sz="1150" dirty="0">
                <a:solidFill>
                  <a:srgbClr val="10293E"/>
                </a:solidFill>
                <a:latin typeface="Calibri" pitchFamily="34" charset="0"/>
                <a:ea typeface="Calibri" pitchFamily="34" charset="-122"/>
                <a:cs typeface="Calibri" pitchFamily="34" charset="-120"/>
              </a:rPr>
              <a:t>Claim extracted: “TCS is hiring 10,000 freshers”</a:t>
            </a:r>
            <a:endParaRPr lang="en-US" sz="1150" dirty="0"/>
          </a:p>
        </p:txBody>
      </p:sp>
      <p:sp>
        <p:nvSpPr>
          <p:cNvPr id="9" name="Shape 7"/>
          <p:cNvSpPr/>
          <p:nvPr/>
        </p:nvSpPr>
        <p:spPr>
          <a:xfrm>
            <a:off x="548640" y="2715768"/>
            <a:ext cx="384048" cy="384048"/>
          </a:xfrm>
          <a:prstGeom prst="ellipse">
            <a:avLst/>
          </a:prstGeom>
          <a:solidFill>
            <a:srgbClr val="E7EFF1"/>
          </a:solidFill>
          <a:ln/>
        </p:spPr>
      </p:sp>
      <p:sp>
        <p:nvSpPr>
          <p:cNvPr id="10" name="Text 8"/>
          <p:cNvSpPr txBox="1"/>
          <p:nvPr/>
        </p:nvSpPr>
        <p:spPr>
          <a:xfrm>
            <a:off x="548640" y="2715768"/>
            <a:ext cx="384048" cy="384048"/>
          </a:xfrm>
          <a:prstGeom prst="rect">
            <a:avLst/>
          </a:prstGeom>
          <a:noFill/>
          <a:ln/>
        </p:spPr>
        <p:txBody>
          <a:bodyPr wrap="square"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51560" y="2697480"/>
            <a:ext cx="4572000" cy="457200"/>
          </a:xfrm>
          <a:prstGeom prst="rect">
            <a:avLst/>
          </a:prstGeom>
          <a:noFill/>
          <a:ln/>
        </p:spPr>
        <p:txBody>
          <a:bodyPr wrap="square" rtlCol="0" anchor="ctr"/>
          <a:lstStyle/>
          <a:p>
            <a:pPr indent="0" marL="0">
              <a:lnSpc>
                <a:spcPts val="1400"/>
              </a:lnSpc>
              <a:buNone/>
            </a:pPr>
            <a:r>
              <a:rPr lang="en-US" sz="1150" dirty="0">
                <a:solidFill>
                  <a:srgbClr val="10293E"/>
                </a:solidFill>
                <a:latin typeface="Calibri" pitchFamily="34" charset="0"/>
                <a:ea typeface="Calibri" pitchFamily="34" charset="-122"/>
                <a:cs typeface="Calibri" pitchFamily="34" charset="-120"/>
              </a:rPr>
              <a:t>Evidence: no matching drive on tcs.com/careers</a:t>
            </a:r>
            <a:endParaRPr lang="en-US" sz="1150" dirty="0"/>
          </a:p>
        </p:txBody>
      </p:sp>
      <p:sp>
        <p:nvSpPr>
          <p:cNvPr id="12" name="Shape 10"/>
          <p:cNvSpPr/>
          <p:nvPr/>
        </p:nvSpPr>
        <p:spPr>
          <a:xfrm>
            <a:off x="548640" y="3282696"/>
            <a:ext cx="384048" cy="384048"/>
          </a:xfrm>
          <a:prstGeom prst="ellipse">
            <a:avLst/>
          </a:prstGeom>
          <a:solidFill>
            <a:srgbClr val="E7EFF1"/>
          </a:solidFill>
          <a:ln/>
        </p:spPr>
      </p:sp>
      <p:sp>
        <p:nvSpPr>
          <p:cNvPr id="13" name="Text 11"/>
          <p:cNvSpPr txBox="1"/>
          <p:nvPr/>
        </p:nvSpPr>
        <p:spPr>
          <a:xfrm>
            <a:off x="548640" y="3282696"/>
            <a:ext cx="384048" cy="384048"/>
          </a:xfrm>
          <a:prstGeom prst="rect">
            <a:avLst/>
          </a:prstGeom>
          <a:noFill/>
          <a:ln/>
        </p:spPr>
        <p:txBody>
          <a:bodyPr wrap="square"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51560" y="3264408"/>
            <a:ext cx="4572000" cy="457200"/>
          </a:xfrm>
          <a:prstGeom prst="rect">
            <a:avLst/>
          </a:prstGeom>
          <a:noFill/>
          <a:ln/>
        </p:spPr>
        <p:txBody>
          <a:bodyPr wrap="square" rtlCol="0" anchor="ctr"/>
          <a:lstStyle/>
          <a:p>
            <a:pPr indent="0" marL="0">
              <a:lnSpc>
                <a:spcPts val="1400"/>
              </a:lnSpc>
              <a:buNone/>
            </a:pPr>
            <a:r>
              <a:rPr lang="en-US" sz="1150" dirty="0">
                <a:solidFill>
                  <a:srgbClr val="10293E"/>
                </a:solidFill>
                <a:latin typeface="Calibri" pitchFamily="34" charset="0"/>
                <a:ea typeface="Calibri" pitchFamily="34" charset="-122"/>
                <a:cs typeface="Calibri" pitchFamily="34" charset="-120"/>
              </a:rPr>
              <a:t>Scam check: fee request + urgency + link mismatch flagged</a:t>
            </a:r>
            <a:endParaRPr lang="en-US" sz="1150" dirty="0"/>
          </a:p>
        </p:txBody>
      </p:sp>
      <p:sp>
        <p:nvSpPr>
          <p:cNvPr id="15" name="Shape 13"/>
          <p:cNvSpPr/>
          <p:nvPr/>
        </p:nvSpPr>
        <p:spPr>
          <a:xfrm>
            <a:off x="548640" y="3849624"/>
            <a:ext cx="384048" cy="384048"/>
          </a:xfrm>
          <a:prstGeom prst="ellipse">
            <a:avLst/>
          </a:prstGeom>
          <a:solidFill>
            <a:srgbClr val="E7EFF1"/>
          </a:solidFill>
          <a:ln/>
        </p:spPr>
      </p:sp>
      <p:sp>
        <p:nvSpPr>
          <p:cNvPr id="16" name="Text 14"/>
          <p:cNvSpPr txBox="1"/>
          <p:nvPr/>
        </p:nvSpPr>
        <p:spPr>
          <a:xfrm>
            <a:off x="548640" y="3849624"/>
            <a:ext cx="384048" cy="384048"/>
          </a:xfrm>
          <a:prstGeom prst="rect">
            <a:avLst/>
          </a:prstGeom>
          <a:noFill/>
          <a:ln/>
        </p:spPr>
        <p:txBody>
          <a:bodyPr wrap="square"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51560" y="3831336"/>
            <a:ext cx="4572000" cy="457200"/>
          </a:xfrm>
          <a:prstGeom prst="rect">
            <a:avLst/>
          </a:prstGeom>
          <a:noFill/>
          <a:ln/>
        </p:spPr>
        <p:txBody>
          <a:bodyPr wrap="square" rtlCol="0" anchor="ctr"/>
          <a:lstStyle/>
          <a:p>
            <a:pPr indent="0" marL="0">
              <a:lnSpc>
                <a:spcPts val="1400"/>
              </a:lnSpc>
              <a:buNone/>
            </a:pPr>
            <a:r>
              <a:rPr lang="en-US" sz="1150" dirty="0">
                <a:solidFill>
                  <a:srgbClr val="10293E"/>
                </a:solidFill>
                <a:latin typeface="Calibri" pitchFamily="34" charset="0"/>
                <a:ea typeface="Calibri" pitchFamily="34" charset="-122"/>
                <a:cs typeface="Calibri" pitchFamily="34" charset="-120"/>
              </a:rPr>
              <a:t>Both branches fused into one verdict</a:t>
            </a:r>
            <a:endParaRPr lang="en-US" sz="1150" dirty="0"/>
          </a:p>
        </p:txBody>
      </p:sp>
      <p:sp>
        <p:nvSpPr>
          <p:cNvPr id="18" name="Shape 16"/>
          <p:cNvSpPr/>
          <p:nvPr/>
        </p:nvSpPr>
        <p:spPr>
          <a:xfrm>
            <a:off x="5989320" y="1143000"/>
            <a:ext cx="5669280" cy="5074920"/>
          </a:xfrm>
          <a:prstGeom prst="roundRect">
            <a:avLst>
              <a:gd name="adj" fmla="val 1802"/>
            </a:avLst>
          </a:prstGeom>
          <a:solidFill>
            <a:srgbClr val="FFFFFF"/>
          </a:solidFill>
          <a:ln w="12700">
            <a:solidFill>
              <a:srgbClr val="E4E1D6"/>
            </a:solidFill>
            <a:prstDash val="solid"/>
          </a:ln>
        </p:spPr>
      </p:sp>
      <p:sp>
        <p:nvSpPr>
          <p:cNvPr id="19" name="Text 17"/>
          <p:cNvSpPr txBox="1"/>
          <p:nvPr/>
        </p:nvSpPr>
        <p:spPr>
          <a:xfrm>
            <a:off x="6309360" y="1371600"/>
            <a:ext cx="3657600" cy="365760"/>
          </a:xfrm>
          <a:prstGeom prst="rect">
            <a:avLst/>
          </a:prstGeom>
          <a:noFill/>
          <a:ln/>
        </p:spPr>
        <p:txBody>
          <a:bodyPr wrap="square" rtlCol="0" anchor="ctr"/>
          <a:lstStyle/>
          <a:p>
            <a:pPr indent="0" marL="0">
              <a:buNone/>
            </a:pPr>
            <a:r>
              <a:rPr lang="en-US" sz="1400" b="1" dirty="0">
                <a:solidFill>
                  <a:srgbClr val="5A6B7A"/>
                </a:solidFill>
                <a:latin typeface="Cambria" pitchFamily="34" charset="0"/>
                <a:ea typeface="Cambria" pitchFamily="34" charset="-122"/>
                <a:cs typeface="Cambria" pitchFamily="34" charset="-120"/>
              </a:rPr>
              <a:t>Final Output</a:t>
            </a:r>
            <a:endParaRPr lang="en-US" sz="1400" dirty="0"/>
          </a:p>
        </p:txBody>
      </p:sp>
      <p:sp>
        <p:nvSpPr>
          <p:cNvPr id="20" name="Shape 18"/>
          <p:cNvSpPr/>
          <p:nvPr/>
        </p:nvSpPr>
        <p:spPr>
          <a:xfrm>
            <a:off x="6309360" y="1828800"/>
            <a:ext cx="2194560" cy="457200"/>
          </a:xfrm>
          <a:prstGeom prst="roundRect">
            <a:avLst>
              <a:gd name="adj" fmla="val 50000"/>
            </a:avLst>
          </a:prstGeom>
          <a:solidFill>
            <a:srgbClr val="FCE6D9"/>
          </a:solidFill>
          <a:ln/>
        </p:spPr>
      </p:sp>
      <p:sp>
        <p:nvSpPr>
          <p:cNvPr id="21" name="Text 19"/>
          <p:cNvSpPr txBox="1"/>
          <p:nvPr/>
        </p:nvSpPr>
        <p:spPr>
          <a:xfrm>
            <a:off x="6309360" y="1828800"/>
            <a:ext cx="2194560" cy="457200"/>
          </a:xfrm>
          <a:prstGeom prst="rect">
            <a:avLst/>
          </a:prstGeom>
          <a:noFill/>
          <a:ln/>
        </p:spPr>
        <p:txBody>
          <a:bodyPr wrap="square" rtlCol="0" anchor="ctr"/>
          <a:lstStyle/>
          <a:p>
            <a:pPr algn="ctr" indent="0" marL="0">
              <a:buNone/>
            </a:pPr>
            <a:r>
              <a:rPr lang="en-US" sz="1300" b="1" dirty="0">
                <a:solidFill>
                  <a:srgbClr val="C2410C"/>
                </a:solidFill>
                <a:latin typeface="Calibri" pitchFamily="34" charset="0"/>
                <a:ea typeface="Calibri" pitchFamily="34" charset="-122"/>
                <a:cs typeface="Calibri" pitchFamily="34" charset="-120"/>
              </a:rPr>
              <a:t>LIKELY SCAM</a:t>
            </a:r>
            <a:endParaRPr lang="en-US" sz="1300" dirty="0"/>
          </a:p>
        </p:txBody>
      </p:sp>
      <p:sp>
        <p:nvSpPr>
          <p:cNvPr id="22" name="Text 20"/>
          <p:cNvSpPr txBox="1"/>
          <p:nvPr/>
        </p:nvSpPr>
        <p:spPr>
          <a:xfrm>
            <a:off x="8732520" y="1828800"/>
            <a:ext cx="2560320" cy="45720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Trust score: 20 / 100</a:t>
            </a:r>
            <a:endParaRPr lang="en-US" sz="1250" dirty="0"/>
          </a:p>
        </p:txBody>
      </p:sp>
      <p:sp>
        <p:nvSpPr>
          <p:cNvPr id="23" name="Text 21"/>
          <p:cNvSpPr txBox="1"/>
          <p:nvPr/>
        </p:nvSpPr>
        <p:spPr>
          <a:xfrm>
            <a:off x="6309360" y="2514600"/>
            <a:ext cx="2743200" cy="274320"/>
          </a:xfrm>
          <a:prstGeom prst="rect">
            <a:avLst/>
          </a:prstGeom>
          <a:noFill/>
          <a:ln/>
        </p:spPr>
        <p:txBody>
          <a:bodyPr wrap="square" rtlCol="0" anchor="ctr"/>
          <a:lstStyle/>
          <a:p>
            <a:pPr indent="0" marL="0">
              <a:buNone/>
            </a:pPr>
            <a:r>
              <a:rPr lang="en-US" sz="1150" b="1" dirty="0">
                <a:solidFill>
                  <a:srgbClr val="10293E"/>
                </a:solidFill>
                <a:latin typeface="Calibri" pitchFamily="34" charset="0"/>
                <a:ea typeface="Calibri" pitchFamily="34" charset="-122"/>
                <a:cs typeface="Calibri" pitchFamily="34" charset="-120"/>
              </a:rPr>
              <a:t>Red flags:</a:t>
            </a:r>
            <a:endParaRPr lang="en-US" sz="1150" dirty="0"/>
          </a:p>
        </p:txBody>
      </p:sp>
      <p:sp>
        <p:nvSpPr>
          <p:cNvPr id="24" name="Text 22"/>
          <p:cNvSpPr txBox="1"/>
          <p:nvPr/>
        </p:nvSpPr>
        <p:spPr>
          <a:xfrm>
            <a:off x="6309360" y="2834640"/>
            <a:ext cx="5029200" cy="292608"/>
          </a:xfrm>
          <a:prstGeom prst="rect">
            <a:avLst/>
          </a:prstGeom>
          <a:noFill/>
          <a:ln/>
        </p:spPr>
        <p:txBody>
          <a:bodyPr wrap="square" rtlCol="0" anchor="ctr"/>
          <a:lstStyle/>
          <a:p>
            <a:pPr indent="0" marL="0">
              <a:buNone/>
            </a:pPr>
            <a:r>
              <a:rPr lang="en-US" sz="1100" dirty="0">
                <a:solidFill>
                  <a:srgbClr val="C2410C"/>
                </a:solidFill>
                <a:latin typeface="Calibri" pitchFamily="34" charset="0"/>
                <a:ea typeface="Calibri" pitchFamily="34" charset="-122"/>
                <a:cs typeface="Calibri" pitchFamily="34" charset="-120"/>
              </a:rPr>
              <a:t>— Link domain doesn't match official TCS site</a:t>
            </a:r>
            <a:endParaRPr lang="en-US" sz="1100" dirty="0"/>
          </a:p>
        </p:txBody>
      </p:sp>
      <p:sp>
        <p:nvSpPr>
          <p:cNvPr id="25" name="Text 23"/>
          <p:cNvSpPr txBox="1"/>
          <p:nvPr/>
        </p:nvSpPr>
        <p:spPr>
          <a:xfrm>
            <a:off x="6309360" y="3145536"/>
            <a:ext cx="5029200" cy="292608"/>
          </a:xfrm>
          <a:prstGeom prst="rect">
            <a:avLst/>
          </a:prstGeom>
          <a:noFill/>
          <a:ln/>
        </p:spPr>
        <p:txBody>
          <a:bodyPr wrap="square" rtlCol="0" anchor="ctr"/>
          <a:lstStyle/>
          <a:p>
            <a:pPr indent="0" marL="0">
              <a:buNone/>
            </a:pPr>
            <a:r>
              <a:rPr lang="en-US" sz="1100" dirty="0">
                <a:solidFill>
                  <a:srgbClr val="C2410C"/>
                </a:solidFill>
                <a:latin typeface="Calibri" pitchFamily="34" charset="0"/>
                <a:ea typeface="Calibri" pitchFamily="34" charset="-122"/>
                <a:cs typeface="Calibri" pitchFamily="34" charset="-120"/>
              </a:rPr>
              <a:t>— Registration fee requested before offer</a:t>
            </a:r>
            <a:endParaRPr lang="en-US" sz="1100" dirty="0"/>
          </a:p>
        </p:txBody>
      </p:sp>
      <p:sp>
        <p:nvSpPr>
          <p:cNvPr id="26" name="Text 24"/>
          <p:cNvSpPr txBox="1"/>
          <p:nvPr/>
        </p:nvSpPr>
        <p:spPr>
          <a:xfrm>
            <a:off x="6309360" y="3456432"/>
            <a:ext cx="5029200" cy="292608"/>
          </a:xfrm>
          <a:prstGeom prst="rect">
            <a:avLst/>
          </a:prstGeom>
          <a:noFill/>
          <a:ln/>
        </p:spPr>
        <p:txBody>
          <a:bodyPr wrap="square" rtlCol="0" anchor="ctr"/>
          <a:lstStyle/>
          <a:p>
            <a:pPr indent="0" marL="0">
              <a:buNone/>
            </a:pPr>
            <a:r>
              <a:rPr lang="en-US" sz="1100" dirty="0">
                <a:solidFill>
                  <a:srgbClr val="C2410C"/>
                </a:solidFill>
                <a:latin typeface="Calibri" pitchFamily="34" charset="0"/>
                <a:ea typeface="Calibri" pitchFamily="34" charset="-122"/>
                <a:cs typeface="Calibri" pitchFamily="34" charset="-120"/>
              </a:rPr>
              <a:t>— “Limited seats, apply now” urgency language</a:t>
            </a:r>
            <a:endParaRPr lang="en-US" sz="1100" dirty="0"/>
          </a:p>
        </p:txBody>
      </p:sp>
      <p:sp>
        <p:nvSpPr>
          <p:cNvPr id="27" name="Shape 25"/>
          <p:cNvSpPr/>
          <p:nvPr/>
        </p:nvSpPr>
        <p:spPr>
          <a:xfrm>
            <a:off x="6309360" y="3931920"/>
            <a:ext cx="5029200" cy="0"/>
          </a:xfrm>
          <a:prstGeom prst="line">
            <a:avLst/>
          </a:prstGeom>
          <a:noFill/>
          <a:ln w="12700">
            <a:solidFill>
              <a:srgbClr val="E4E1D6"/>
            </a:solidFill>
            <a:prstDash val="solid"/>
          </a:ln>
        </p:spPr>
      </p:sp>
      <p:sp>
        <p:nvSpPr>
          <p:cNvPr id="28" name="Text 26"/>
          <p:cNvSpPr txBox="1"/>
          <p:nvPr/>
        </p:nvSpPr>
        <p:spPr>
          <a:xfrm>
            <a:off x="6309360" y="4069080"/>
            <a:ext cx="2743200" cy="274320"/>
          </a:xfrm>
          <a:prstGeom prst="rect">
            <a:avLst/>
          </a:prstGeom>
          <a:noFill/>
          <a:ln/>
        </p:spPr>
        <p:txBody>
          <a:bodyPr wrap="square" rtlCol="0" anchor="ctr"/>
          <a:lstStyle/>
          <a:p>
            <a:pPr indent="0" marL="0">
              <a:buNone/>
            </a:pPr>
            <a:r>
              <a:rPr lang="en-US" sz="1150" b="1" dirty="0">
                <a:solidFill>
                  <a:srgbClr val="10293E"/>
                </a:solidFill>
                <a:latin typeface="Calibri" pitchFamily="34" charset="0"/>
                <a:ea typeface="Calibri" pitchFamily="34" charset="-122"/>
                <a:cs typeface="Calibri" pitchFamily="34" charset="-120"/>
              </a:rPr>
              <a:t>Explanation:</a:t>
            </a:r>
            <a:endParaRPr lang="en-US" sz="1150" dirty="0"/>
          </a:p>
        </p:txBody>
      </p:sp>
      <p:sp>
        <p:nvSpPr>
          <p:cNvPr id="29" name="Text 27"/>
          <p:cNvSpPr txBox="1"/>
          <p:nvPr/>
        </p:nvSpPr>
        <p:spPr>
          <a:xfrm>
            <a:off x="6309360" y="4370832"/>
            <a:ext cx="5029200" cy="685800"/>
          </a:xfrm>
          <a:prstGeom prst="rect">
            <a:avLst/>
          </a:prstGeom>
          <a:noFill/>
          <a:ln/>
        </p:spPr>
        <p:txBody>
          <a:bodyPr wrap="square" rtlCol="0" anchor="ctr"/>
          <a:lstStyle/>
          <a:p>
            <a:pPr indent="0" marL="0">
              <a:lnSpc>
                <a:spcPts val="1500"/>
              </a:lnSpc>
              <a:buNone/>
            </a:pPr>
            <a:r>
              <a:rPr lang="en-US" sz="1100" dirty="0">
                <a:solidFill>
                  <a:srgbClr val="5A6B7A"/>
                </a:solidFill>
                <a:latin typeface="Calibri" pitchFamily="34" charset="0"/>
                <a:ea typeface="Calibri" pitchFamily="34" charset="-122"/>
                <a:cs typeface="Calibri" pitchFamily="34" charset="-120"/>
              </a:rPr>
              <a:t>No matching announcement was found on TCS's official careers page. The link and fee request match known job-scam patterns.</a:t>
            </a:r>
            <a:endParaRPr lang="en-US" sz="1100" dirty="0"/>
          </a:p>
        </p:txBody>
      </p:sp>
      <p:sp>
        <p:nvSpPr>
          <p:cNvPr id="30" name="Shape 28"/>
          <p:cNvSpPr/>
          <p:nvPr/>
        </p:nvSpPr>
        <p:spPr>
          <a:xfrm>
            <a:off x="6309360" y="5212080"/>
            <a:ext cx="5029200" cy="822960"/>
          </a:xfrm>
          <a:prstGeom prst="roundRect">
            <a:avLst>
              <a:gd name="adj" fmla="val 8889"/>
            </a:avLst>
          </a:prstGeom>
          <a:solidFill>
            <a:srgbClr val="E7EFF1"/>
          </a:solidFill>
          <a:ln/>
        </p:spPr>
      </p:sp>
      <p:sp>
        <p:nvSpPr>
          <p:cNvPr id="31" name="Text 29"/>
          <p:cNvSpPr txBox="1"/>
          <p:nvPr/>
        </p:nvSpPr>
        <p:spPr>
          <a:xfrm>
            <a:off x="6492240" y="5212080"/>
            <a:ext cx="4663440" cy="822960"/>
          </a:xfrm>
          <a:prstGeom prst="rect">
            <a:avLst/>
          </a:prstGeom>
          <a:noFill/>
          <a:ln/>
        </p:spPr>
        <p:txBody>
          <a:bodyPr wrap="square" rtlCol="0" anchor="ctr"/>
          <a:lstStyle/>
          <a:p>
            <a:pPr indent="0" marL="0">
              <a:lnSpc>
                <a:spcPts val="1400"/>
              </a:lnSpc>
              <a:buNone/>
            </a:pPr>
            <a:r>
              <a:rPr lang="en-US" sz="1050" dirty="0">
                <a:solidFill>
                  <a:srgbClr val="1C7293"/>
                </a:solidFill>
                <a:latin typeface="Calibri" pitchFamily="34" charset="0"/>
                <a:ea typeface="Calibri" pitchFamily="34" charset="-122"/>
                <a:cs typeface="Calibri" pitchFamily="34" charset="-120"/>
              </a:rPr>
              <a:t>What to do: Don't pay any fee. Apply only via tcs.com/careers. Report the post.</a:t>
            </a:r>
            <a:endParaRPr lang="en-US" sz="1050" dirty="0"/>
          </a:p>
        </p:txBody>
      </p:sp>
      <p:sp>
        <p:nvSpPr>
          <p:cNvPr id="32" name="Text 30"/>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Methodology</a:t>
            </a:r>
            <a:endParaRPr lang="en-US" sz="3000" dirty="0"/>
          </a:p>
        </p:txBody>
      </p:sp>
      <p:sp>
        <p:nvSpPr>
          <p:cNvPr id="3" name="Shape 1"/>
          <p:cNvSpPr/>
          <p:nvPr/>
        </p:nvSpPr>
        <p:spPr>
          <a:xfrm>
            <a:off x="548640" y="1234440"/>
            <a:ext cx="502920" cy="502920"/>
          </a:xfrm>
          <a:prstGeom prst="ellipse">
            <a:avLst/>
          </a:prstGeom>
          <a:solidFill>
            <a:srgbClr val="1C7293"/>
          </a:solidFill>
          <a:ln/>
        </p:spPr>
      </p:sp>
      <p:sp>
        <p:nvSpPr>
          <p:cNvPr id="4" name="Text 2"/>
          <p:cNvSpPr txBox="1"/>
          <p:nvPr/>
        </p:nvSpPr>
        <p:spPr>
          <a:xfrm>
            <a:off x="548640" y="123444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800100" y="1737360"/>
            <a:ext cx="0" cy="338328"/>
          </a:xfrm>
          <a:prstGeom prst="line">
            <a:avLst/>
          </a:prstGeom>
          <a:noFill/>
          <a:ln w="19050">
            <a:solidFill>
              <a:srgbClr val="D8D4C6"/>
            </a:solidFill>
            <a:prstDash val="dash"/>
          </a:ln>
        </p:spPr>
      </p:sp>
      <p:sp>
        <p:nvSpPr>
          <p:cNvPr id="6" name="Text 4"/>
          <p:cNvSpPr txBox="1"/>
          <p:nvPr/>
        </p:nvSpPr>
        <p:spPr>
          <a:xfrm>
            <a:off x="1234440" y="1216152"/>
            <a:ext cx="2011680" cy="502920"/>
          </a:xfrm>
          <a:prstGeom prst="rect">
            <a:avLst/>
          </a:prstGeom>
          <a:noFill/>
          <a:ln/>
        </p:spPr>
        <p:txBody>
          <a:bodyPr wrap="square" rtlCol="0" anchor="ctr"/>
          <a:lstStyle/>
          <a:p>
            <a:pPr indent="0" marL="0">
              <a:buNone/>
            </a:pPr>
            <a:r>
              <a:rPr lang="en-US" sz="1400" b="1" dirty="0">
                <a:solidFill>
                  <a:srgbClr val="10293E"/>
                </a:solidFill>
                <a:latin typeface="Cambria" pitchFamily="34" charset="0"/>
                <a:ea typeface="Cambria" pitchFamily="34" charset="-122"/>
                <a:cs typeface="Cambria" pitchFamily="34" charset="-120"/>
              </a:rPr>
              <a:t>Collect</a:t>
            </a:r>
            <a:endParaRPr lang="en-US" sz="1400" dirty="0"/>
          </a:p>
        </p:txBody>
      </p:sp>
      <p:sp>
        <p:nvSpPr>
          <p:cNvPr id="7" name="Text 5"/>
          <p:cNvSpPr txBox="1"/>
          <p:nvPr/>
        </p:nvSpPr>
        <p:spPr>
          <a:xfrm>
            <a:off x="3337560" y="1216152"/>
            <a:ext cx="8229600" cy="502920"/>
          </a:xfrm>
          <a:prstGeom prst="rect">
            <a:avLst/>
          </a:prstGeom>
          <a:noFill/>
          <a:ln/>
        </p:spPr>
        <p:txBody>
          <a:bodyPr wrap="square" rtlCol="0" anchor="ctr"/>
          <a:lstStyle/>
          <a:p>
            <a:pPr indent="0" marL="0">
              <a:lnSpc>
                <a:spcPts val="1500"/>
              </a:lnSpc>
              <a:buNone/>
            </a:pPr>
            <a:r>
              <a:rPr lang="en-US" sz="1200" dirty="0">
                <a:solidFill>
                  <a:srgbClr val="5A6B7A"/>
                </a:solidFill>
                <a:latin typeface="Calibri" pitchFamily="34" charset="0"/>
                <a:ea typeface="Calibri" pitchFamily="34" charset="-122"/>
                <a:cs typeface="Calibri" pitchFamily="34" charset="-120"/>
              </a:rPr>
              <a:t>Gather input text, URLs, or captions from the user's chosen channel</a:t>
            </a:r>
            <a:endParaRPr lang="en-US" sz="1200" dirty="0"/>
          </a:p>
        </p:txBody>
      </p:sp>
      <p:sp>
        <p:nvSpPr>
          <p:cNvPr id="8" name="Shape 6"/>
          <p:cNvSpPr/>
          <p:nvPr/>
        </p:nvSpPr>
        <p:spPr>
          <a:xfrm>
            <a:off x="548640" y="2075688"/>
            <a:ext cx="502920" cy="502920"/>
          </a:xfrm>
          <a:prstGeom prst="ellipse">
            <a:avLst/>
          </a:prstGeom>
          <a:solidFill>
            <a:srgbClr val="10293E"/>
          </a:solidFill>
          <a:ln/>
        </p:spPr>
      </p:sp>
      <p:sp>
        <p:nvSpPr>
          <p:cNvPr id="9" name="Text 7"/>
          <p:cNvSpPr txBox="1"/>
          <p:nvPr/>
        </p:nvSpPr>
        <p:spPr>
          <a:xfrm>
            <a:off x="548640" y="2075688"/>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800100" y="2578608"/>
            <a:ext cx="0" cy="338328"/>
          </a:xfrm>
          <a:prstGeom prst="line">
            <a:avLst/>
          </a:prstGeom>
          <a:noFill/>
          <a:ln w="19050">
            <a:solidFill>
              <a:srgbClr val="D8D4C6"/>
            </a:solidFill>
            <a:prstDash val="dash"/>
          </a:ln>
        </p:spPr>
      </p:sp>
      <p:sp>
        <p:nvSpPr>
          <p:cNvPr id="11" name="Text 9"/>
          <p:cNvSpPr txBox="1"/>
          <p:nvPr/>
        </p:nvSpPr>
        <p:spPr>
          <a:xfrm>
            <a:off x="1234440" y="2057400"/>
            <a:ext cx="2011680" cy="502920"/>
          </a:xfrm>
          <a:prstGeom prst="rect">
            <a:avLst/>
          </a:prstGeom>
          <a:noFill/>
          <a:ln/>
        </p:spPr>
        <p:txBody>
          <a:bodyPr wrap="square" rtlCol="0" anchor="ctr"/>
          <a:lstStyle/>
          <a:p>
            <a:pPr indent="0" marL="0">
              <a:buNone/>
            </a:pPr>
            <a:r>
              <a:rPr lang="en-US" sz="1400" b="1" dirty="0">
                <a:solidFill>
                  <a:srgbClr val="10293E"/>
                </a:solidFill>
                <a:latin typeface="Cambria" pitchFamily="34" charset="0"/>
                <a:ea typeface="Cambria" pitchFamily="34" charset="-122"/>
                <a:cs typeface="Cambria" pitchFamily="34" charset="-120"/>
              </a:rPr>
              <a:t>Extract</a:t>
            </a:r>
            <a:endParaRPr lang="en-US" sz="1400" dirty="0"/>
          </a:p>
        </p:txBody>
      </p:sp>
      <p:sp>
        <p:nvSpPr>
          <p:cNvPr id="12" name="Text 10"/>
          <p:cNvSpPr txBox="1"/>
          <p:nvPr/>
        </p:nvSpPr>
        <p:spPr>
          <a:xfrm>
            <a:off x="3337560" y="2057400"/>
            <a:ext cx="8229600" cy="502920"/>
          </a:xfrm>
          <a:prstGeom prst="rect">
            <a:avLst/>
          </a:prstGeom>
          <a:noFill/>
          <a:ln/>
        </p:spPr>
        <p:txBody>
          <a:bodyPr wrap="square" rtlCol="0" anchor="ctr"/>
          <a:lstStyle/>
          <a:p>
            <a:pPr indent="0" marL="0">
              <a:lnSpc>
                <a:spcPts val="1500"/>
              </a:lnSpc>
              <a:buNone/>
            </a:pPr>
            <a:r>
              <a:rPr lang="en-US" sz="1200" dirty="0">
                <a:solidFill>
                  <a:srgbClr val="5A6B7A"/>
                </a:solidFill>
                <a:latin typeface="Calibri" pitchFamily="34" charset="0"/>
                <a:ea typeface="Calibri" pitchFamily="34" charset="-122"/>
                <a:cs typeface="Calibri" pitchFamily="34" charset="-120"/>
              </a:rPr>
              <a:t>Score each sentence for check-worthiness; keep the verifiable claims</a:t>
            </a:r>
            <a:endParaRPr lang="en-US" sz="1200" dirty="0"/>
          </a:p>
        </p:txBody>
      </p:sp>
      <p:sp>
        <p:nvSpPr>
          <p:cNvPr id="13" name="Shape 11"/>
          <p:cNvSpPr/>
          <p:nvPr/>
        </p:nvSpPr>
        <p:spPr>
          <a:xfrm>
            <a:off x="548640" y="2916936"/>
            <a:ext cx="502920" cy="502920"/>
          </a:xfrm>
          <a:prstGeom prst="ellipse">
            <a:avLst/>
          </a:prstGeom>
          <a:solidFill>
            <a:srgbClr val="1C7293"/>
          </a:solidFill>
          <a:ln/>
        </p:spPr>
      </p:sp>
      <p:sp>
        <p:nvSpPr>
          <p:cNvPr id="14" name="Text 12"/>
          <p:cNvSpPr txBox="1"/>
          <p:nvPr/>
        </p:nvSpPr>
        <p:spPr>
          <a:xfrm>
            <a:off x="548640" y="2916936"/>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Shape 13"/>
          <p:cNvSpPr/>
          <p:nvPr/>
        </p:nvSpPr>
        <p:spPr>
          <a:xfrm>
            <a:off x="800100" y="3419856"/>
            <a:ext cx="0" cy="338328"/>
          </a:xfrm>
          <a:prstGeom prst="line">
            <a:avLst/>
          </a:prstGeom>
          <a:noFill/>
          <a:ln w="19050">
            <a:solidFill>
              <a:srgbClr val="D8D4C6"/>
            </a:solidFill>
            <a:prstDash val="dash"/>
          </a:ln>
        </p:spPr>
      </p:sp>
      <p:sp>
        <p:nvSpPr>
          <p:cNvPr id="16" name="Text 14"/>
          <p:cNvSpPr txBox="1"/>
          <p:nvPr/>
        </p:nvSpPr>
        <p:spPr>
          <a:xfrm>
            <a:off x="1234440" y="2898648"/>
            <a:ext cx="2011680" cy="502920"/>
          </a:xfrm>
          <a:prstGeom prst="rect">
            <a:avLst/>
          </a:prstGeom>
          <a:noFill/>
          <a:ln/>
        </p:spPr>
        <p:txBody>
          <a:bodyPr wrap="square" rtlCol="0" anchor="ctr"/>
          <a:lstStyle/>
          <a:p>
            <a:pPr indent="0" marL="0">
              <a:buNone/>
            </a:pPr>
            <a:r>
              <a:rPr lang="en-US" sz="1400" b="1" dirty="0">
                <a:solidFill>
                  <a:srgbClr val="10293E"/>
                </a:solidFill>
                <a:latin typeface="Cambria" pitchFamily="34" charset="0"/>
                <a:ea typeface="Cambria" pitchFamily="34" charset="-122"/>
                <a:cs typeface="Cambria" pitchFamily="34" charset="-120"/>
              </a:rPr>
              <a:t>Retrieve</a:t>
            </a:r>
            <a:endParaRPr lang="en-US" sz="1400" dirty="0"/>
          </a:p>
        </p:txBody>
      </p:sp>
      <p:sp>
        <p:nvSpPr>
          <p:cNvPr id="17" name="Text 15"/>
          <p:cNvSpPr txBox="1"/>
          <p:nvPr/>
        </p:nvSpPr>
        <p:spPr>
          <a:xfrm>
            <a:off x="3337560" y="2898648"/>
            <a:ext cx="8229600" cy="502920"/>
          </a:xfrm>
          <a:prstGeom prst="rect">
            <a:avLst/>
          </a:prstGeom>
          <a:noFill/>
          <a:ln/>
        </p:spPr>
        <p:txBody>
          <a:bodyPr wrap="square" rtlCol="0" anchor="ctr"/>
          <a:lstStyle/>
          <a:p>
            <a:pPr indent="0" marL="0">
              <a:lnSpc>
                <a:spcPts val="1500"/>
              </a:lnSpc>
              <a:buNone/>
            </a:pPr>
            <a:r>
              <a:rPr lang="en-US" sz="1200" dirty="0">
                <a:solidFill>
                  <a:srgbClr val="5A6B7A"/>
                </a:solidFill>
                <a:latin typeface="Calibri" pitchFamily="34" charset="0"/>
                <a:ea typeface="Calibri" pitchFamily="34" charset="-122"/>
                <a:cs typeface="Calibri" pitchFamily="34" charset="-120"/>
              </a:rPr>
              <a:t>Run semantic search against a trusted-source knowledge base / vector DB</a:t>
            </a:r>
            <a:endParaRPr lang="en-US" sz="1200" dirty="0"/>
          </a:p>
        </p:txBody>
      </p:sp>
      <p:sp>
        <p:nvSpPr>
          <p:cNvPr id="18" name="Shape 16"/>
          <p:cNvSpPr/>
          <p:nvPr/>
        </p:nvSpPr>
        <p:spPr>
          <a:xfrm>
            <a:off x="548640" y="3758184"/>
            <a:ext cx="502920" cy="502920"/>
          </a:xfrm>
          <a:prstGeom prst="ellipse">
            <a:avLst/>
          </a:prstGeom>
          <a:solidFill>
            <a:srgbClr val="10293E"/>
          </a:solidFill>
          <a:ln/>
        </p:spPr>
      </p:sp>
      <p:sp>
        <p:nvSpPr>
          <p:cNvPr id="19" name="Text 17"/>
          <p:cNvSpPr txBox="1"/>
          <p:nvPr/>
        </p:nvSpPr>
        <p:spPr>
          <a:xfrm>
            <a:off x="548640" y="3758184"/>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Shape 18"/>
          <p:cNvSpPr/>
          <p:nvPr/>
        </p:nvSpPr>
        <p:spPr>
          <a:xfrm>
            <a:off x="800100" y="4261104"/>
            <a:ext cx="0" cy="338328"/>
          </a:xfrm>
          <a:prstGeom prst="line">
            <a:avLst/>
          </a:prstGeom>
          <a:noFill/>
          <a:ln w="19050">
            <a:solidFill>
              <a:srgbClr val="D8D4C6"/>
            </a:solidFill>
            <a:prstDash val="dash"/>
          </a:ln>
        </p:spPr>
      </p:sp>
      <p:sp>
        <p:nvSpPr>
          <p:cNvPr id="21" name="Text 19"/>
          <p:cNvSpPr txBox="1"/>
          <p:nvPr/>
        </p:nvSpPr>
        <p:spPr>
          <a:xfrm>
            <a:off x="1234440" y="3739896"/>
            <a:ext cx="2011680" cy="502920"/>
          </a:xfrm>
          <a:prstGeom prst="rect">
            <a:avLst/>
          </a:prstGeom>
          <a:noFill/>
          <a:ln/>
        </p:spPr>
        <p:txBody>
          <a:bodyPr wrap="square" rtlCol="0" anchor="ctr"/>
          <a:lstStyle/>
          <a:p>
            <a:pPr indent="0" marL="0">
              <a:buNone/>
            </a:pPr>
            <a:r>
              <a:rPr lang="en-US" sz="1400" b="1" dirty="0">
                <a:solidFill>
                  <a:srgbClr val="10293E"/>
                </a:solidFill>
                <a:latin typeface="Cambria" pitchFamily="34" charset="0"/>
                <a:ea typeface="Cambria" pitchFamily="34" charset="-122"/>
                <a:cs typeface="Cambria" pitchFamily="34" charset="-120"/>
              </a:rPr>
              <a:t>Compare</a:t>
            </a:r>
            <a:endParaRPr lang="en-US" sz="1400" dirty="0"/>
          </a:p>
        </p:txBody>
      </p:sp>
      <p:sp>
        <p:nvSpPr>
          <p:cNvPr id="22" name="Text 20"/>
          <p:cNvSpPr txBox="1"/>
          <p:nvPr/>
        </p:nvSpPr>
        <p:spPr>
          <a:xfrm>
            <a:off x="3337560" y="3739896"/>
            <a:ext cx="8229600" cy="502920"/>
          </a:xfrm>
          <a:prstGeom prst="rect">
            <a:avLst/>
          </a:prstGeom>
          <a:noFill/>
          <a:ln/>
        </p:spPr>
        <p:txBody>
          <a:bodyPr wrap="square" rtlCol="0" anchor="ctr"/>
          <a:lstStyle/>
          <a:p>
            <a:pPr indent="0" marL="0">
              <a:lnSpc>
                <a:spcPts val="1500"/>
              </a:lnSpc>
              <a:buNone/>
            </a:pPr>
            <a:r>
              <a:rPr lang="en-US" sz="1200" dirty="0">
                <a:solidFill>
                  <a:srgbClr val="5A6B7A"/>
                </a:solidFill>
                <a:latin typeface="Calibri" pitchFamily="34" charset="0"/>
                <a:ea typeface="Calibri" pitchFamily="34" charset="-122"/>
                <a:cs typeface="Calibri" pitchFamily="34" charset="-120"/>
              </a:rPr>
              <a:t>Use RAG + NLI to test each claim against its retrieved evidence</a:t>
            </a:r>
            <a:endParaRPr lang="en-US" sz="1200" dirty="0"/>
          </a:p>
        </p:txBody>
      </p:sp>
      <p:sp>
        <p:nvSpPr>
          <p:cNvPr id="23" name="Shape 21"/>
          <p:cNvSpPr/>
          <p:nvPr/>
        </p:nvSpPr>
        <p:spPr>
          <a:xfrm>
            <a:off x="548640" y="4599432"/>
            <a:ext cx="502920" cy="502920"/>
          </a:xfrm>
          <a:prstGeom prst="ellipse">
            <a:avLst/>
          </a:prstGeom>
          <a:solidFill>
            <a:srgbClr val="1C7293"/>
          </a:solidFill>
          <a:ln/>
        </p:spPr>
      </p:sp>
      <p:sp>
        <p:nvSpPr>
          <p:cNvPr id="24" name="Text 22"/>
          <p:cNvSpPr txBox="1"/>
          <p:nvPr/>
        </p:nvSpPr>
        <p:spPr>
          <a:xfrm>
            <a:off x="548640" y="459943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Shape 23"/>
          <p:cNvSpPr/>
          <p:nvPr/>
        </p:nvSpPr>
        <p:spPr>
          <a:xfrm>
            <a:off x="800100" y="5102352"/>
            <a:ext cx="0" cy="338328"/>
          </a:xfrm>
          <a:prstGeom prst="line">
            <a:avLst/>
          </a:prstGeom>
          <a:noFill/>
          <a:ln w="19050">
            <a:solidFill>
              <a:srgbClr val="D8D4C6"/>
            </a:solidFill>
            <a:prstDash val="dash"/>
          </a:ln>
        </p:spPr>
      </p:sp>
      <p:sp>
        <p:nvSpPr>
          <p:cNvPr id="26" name="Text 24"/>
          <p:cNvSpPr txBox="1"/>
          <p:nvPr/>
        </p:nvSpPr>
        <p:spPr>
          <a:xfrm>
            <a:off x="1234440" y="4581144"/>
            <a:ext cx="2011680" cy="502920"/>
          </a:xfrm>
          <a:prstGeom prst="rect">
            <a:avLst/>
          </a:prstGeom>
          <a:noFill/>
          <a:ln/>
        </p:spPr>
        <p:txBody>
          <a:bodyPr wrap="square" rtlCol="0" anchor="ctr"/>
          <a:lstStyle/>
          <a:p>
            <a:pPr indent="0" marL="0">
              <a:buNone/>
            </a:pPr>
            <a:r>
              <a:rPr lang="en-US" sz="1400" b="1" dirty="0">
                <a:solidFill>
                  <a:srgbClr val="10293E"/>
                </a:solidFill>
                <a:latin typeface="Cambria" pitchFamily="34" charset="0"/>
                <a:ea typeface="Cambria" pitchFamily="34" charset="-122"/>
                <a:cs typeface="Cambria" pitchFamily="34" charset="-120"/>
              </a:rPr>
              <a:t>Score</a:t>
            </a:r>
            <a:endParaRPr lang="en-US" sz="1400" dirty="0"/>
          </a:p>
        </p:txBody>
      </p:sp>
      <p:sp>
        <p:nvSpPr>
          <p:cNvPr id="27" name="Text 25"/>
          <p:cNvSpPr txBox="1"/>
          <p:nvPr/>
        </p:nvSpPr>
        <p:spPr>
          <a:xfrm>
            <a:off x="3337560" y="4581144"/>
            <a:ext cx="8229600" cy="502920"/>
          </a:xfrm>
          <a:prstGeom prst="rect">
            <a:avLst/>
          </a:prstGeom>
          <a:noFill/>
          <a:ln/>
        </p:spPr>
        <p:txBody>
          <a:bodyPr wrap="square" rtlCol="0" anchor="ctr"/>
          <a:lstStyle/>
          <a:p>
            <a:pPr indent="0" marL="0">
              <a:lnSpc>
                <a:spcPts val="1500"/>
              </a:lnSpc>
              <a:buNone/>
            </a:pPr>
            <a:r>
              <a:rPr lang="en-US" sz="1200" dirty="0">
                <a:solidFill>
                  <a:srgbClr val="5A6B7A"/>
                </a:solidFill>
                <a:latin typeface="Calibri" pitchFamily="34" charset="0"/>
                <a:ea typeface="Calibri" pitchFamily="34" charset="-122"/>
                <a:cs typeface="Calibri" pitchFamily="34" charset="-120"/>
              </a:rPr>
              <a:t>Fuse claim-verification and scam-signal branches into one trust score</a:t>
            </a:r>
            <a:endParaRPr lang="en-US" sz="1200" dirty="0"/>
          </a:p>
        </p:txBody>
      </p:sp>
      <p:sp>
        <p:nvSpPr>
          <p:cNvPr id="28" name="Shape 26"/>
          <p:cNvSpPr/>
          <p:nvPr/>
        </p:nvSpPr>
        <p:spPr>
          <a:xfrm>
            <a:off x="548640" y="5440680"/>
            <a:ext cx="502920" cy="502920"/>
          </a:xfrm>
          <a:prstGeom prst="ellipse">
            <a:avLst/>
          </a:prstGeom>
          <a:solidFill>
            <a:srgbClr val="10293E"/>
          </a:solidFill>
          <a:ln/>
        </p:spPr>
      </p:sp>
      <p:sp>
        <p:nvSpPr>
          <p:cNvPr id="29" name="Text 27"/>
          <p:cNvSpPr txBox="1"/>
          <p:nvPr/>
        </p:nvSpPr>
        <p:spPr>
          <a:xfrm>
            <a:off x="548640" y="544068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0" name="Text 28"/>
          <p:cNvSpPr txBox="1"/>
          <p:nvPr/>
        </p:nvSpPr>
        <p:spPr>
          <a:xfrm>
            <a:off x="1234440" y="5422392"/>
            <a:ext cx="2011680" cy="502920"/>
          </a:xfrm>
          <a:prstGeom prst="rect">
            <a:avLst/>
          </a:prstGeom>
          <a:noFill/>
          <a:ln/>
        </p:spPr>
        <p:txBody>
          <a:bodyPr wrap="square" rtlCol="0" anchor="ctr"/>
          <a:lstStyle/>
          <a:p>
            <a:pPr indent="0" marL="0">
              <a:buNone/>
            </a:pPr>
            <a:r>
              <a:rPr lang="en-US" sz="1400" b="1" dirty="0">
                <a:solidFill>
                  <a:srgbClr val="10293E"/>
                </a:solidFill>
                <a:latin typeface="Cambria" pitchFamily="34" charset="0"/>
                <a:ea typeface="Cambria" pitchFamily="34" charset="-122"/>
                <a:cs typeface="Cambria" pitchFamily="34" charset="-120"/>
              </a:rPr>
              <a:t>Explain</a:t>
            </a:r>
            <a:endParaRPr lang="en-US" sz="1400" dirty="0"/>
          </a:p>
        </p:txBody>
      </p:sp>
      <p:sp>
        <p:nvSpPr>
          <p:cNvPr id="31" name="Text 29"/>
          <p:cNvSpPr txBox="1"/>
          <p:nvPr/>
        </p:nvSpPr>
        <p:spPr>
          <a:xfrm>
            <a:off x="3337560" y="5422392"/>
            <a:ext cx="8229600" cy="502920"/>
          </a:xfrm>
          <a:prstGeom prst="rect">
            <a:avLst/>
          </a:prstGeom>
          <a:noFill/>
          <a:ln/>
        </p:spPr>
        <p:txBody>
          <a:bodyPr wrap="square" rtlCol="0" anchor="ctr"/>
          <a:lstStyle/>
          <a:p>
            <a:pPr indent="0" marL="0">
              <a:lnSpc>
                <a:spcPts val="1500"/>
              </a:lnSpc>
              <a:buNone/>
            </a:pPr>
            <a:r>
              <a:rPr lang="en-US" sz="1200" dirty="0">
                <a:solidFill>
                  <a:srgbClr val="5A6B7A"/>
                </a:solidFill>
                <a:latin typeface="Calibri" pitchFamily="34" charset="0"/>
                <a:ea typeface="Calibri" pitchFamily="34" charset="-122"/>
                <a:cs typeface="Calibri" pitchFamily="34" charset="-120"/>
              </a:rPr>
              <a:t>Generate a plain-language explanation grounded only in retrieved evidence</a:t>
            </a:r>
            <a:endParaRPr lang="en-US" sz="1200" dirty="0"/>
          </a:p>
        </p:txBody>
      </p:sp>
      <p:sp>
        <p:nvSpPr>
          <p:cNvPr id="32" name="Text 30"/>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Models &amp; Techniques Used</a:t>
            </a:r>
            <a:endParaRPr lang="en-US" sz="3000" dirty="0"/>
          </a:p>
        </p:txBody>
      </p:sp>
      <p:sp>
        <p:nvSpPr>
          <p:cNvPr id="3" name="Shape 1"/>
          <p:cNvSpPr/>
          <p:nvPr/>
        </p:nvSpPr>
        <p:spPr>
          <a:xfrm>
            <a:off x="548640" y="1143000"/>
            <a:ext cx="2926080" cy="457200"/>
          </a:xfrm>
          <a:prstGeom prst="rect">
            <a:avLst/>
          </a:prstGeom>
          <a:solidFill>
            <a:srgbClr val="10293E"/>
          </a:solidFill>
          <a:ln/>
        </p:spPr>
      </p:sp>
      <p:sp>
        <p:nvSpPr>
          <p:cNvPr id="4" name="Text 2"/>
          <p:cNvSpPr txBox="1"/>
          <p:nvPr/>
        </p:nvSpPr>
        <p:spPr>
          <a:xfrm>
            <a:off x="685800" y="1143000"/>
            <a:ext cx="265176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p>
        </p:txBody>
      </p:sp>
      <p:sp>
        <p:nvSpPr>
          <p:cNvPr id="5" name="Shape 3"/>
          <p:cNvSpPr/>
          <p:nvPr/>
        </p:nvSpPr>
        <p:spPr>
          <a:xfrm>
            <a:off x="3566160" y="1143000"/>
            <a:ext cx="2834640" cy="457200"/>
          </a:xfrm>
          <a:prstGeom prst="rect">
            <a:avLst/>
          </a:prstGeom>
          <a:solidFill>
            <a:srgbClr val="10293E"/>
          </a:solidFill>
          <a:ln/>
        </p:spPr>
      </p:sp>
      <p:sp>
        <p:nvSpPr>
          <p:cNvPr id="6" name="Text 4"/>
          <p:cNvSpPr txBox="1"/>
          <p:nvPr/>
        </p:nvSpPr>
        <p:spPr>
          <a:xfrm>
            <a:off x="3703320" y="1143000"/>
            <a:ext cx="25603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Technique</a:t>
            </a:r>
            <a:endParaRPr lang="en-US" sz="1250" dirty="0"/>
          </a:p>
        </p:txBody>
      </p:sp>
      <p:sp>
        <p:nvSpPr>
          <p:cNvPr id="7" name="Shape 5"/>
          <p:cNvSpPr/>
          <p:nvPr/>
        </p:nvSpPr>
        <p:spPr>
          <a:xfrm>
            <a:off x="6492240" y="1143000"/>
            <a:ext cx="5120640" cy="457200"/>
          </a:xfrm>
          <a:prstGeom prst="rect">
            <a:avLst/>
          </a:prstGeom>
          <a:solidFill>
            <a:srgbClr val="10293E"/>
          </a:solidFill>
          <a:ln/>
        </p:spPr>
      </p:sp>
      <p:sp>
        <p:nvSpPr>
          <p:cNvPr id="8" name="Text 6"/>
          <p:cNvSpPr txBox="1"/>
          <p:nvPr/>
        </p:nvSpPr>
        <p:spPr>
          <a:xfrm>
            <a:off x="6629400" y="1143000"/>
            <a:ext cx="48463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p>
        </p:txBody>
      </p:sp>
      <p:sp>
        <p:nvSpPr>
          <p:cNvPr id="9" name="Shape 7"/>
          <p:cNvSpPr/>
          <p:nvPr/>
        </p:nvSpPr>
        <p:spPr>
          <a:xfrm>
            <a:off x="548640" y="1737360"/>
            <a:ext cx="2926080" cy="722376"/>
          </a:xfrm>
          <a:prstGeom prst="rect">
            <a:avLst/>
          </a:prstGeom>
          <a:solidFill>
            <a:srgbClr val="FFFFFF"/>
          </a:solidFill>
          <a:ln w="9525">
            <a:solidFill>
              <a:srgbClr val="E4E1D6"/>
            </a:solidFill>
            <a:prstDash val="solid"/>
          </a:ln>
        </p:spPr>
      </p:sp>
      <p:sp>
        <p:nvSpPr>
          <p:cNvPr id="10" name="Text 8"/>
          <p:cNvSpPr txBox="1"/>
          <p:nvPr/>
        </p:nvSpPr>
        <p:spPr>
          <a:xfrm>
            <a:off x="685800" y="1737360"/>
            <a:ext cx="2651760" cy="722376"/>
          </a:xfrm>
          <a:prstGeom prst="rect">
            <a:avLst/>
          </a:prstGeom>
          <a:noFill/>
          <a:ln/>
        </p:spPr>
        <p:txBody>
          <a:bodyPr wrap="square" rtlCol="0" anchor="ctr"/>
          <a:lstStyle/>
          <a:p>
            <a:pPr indent="0" marL="0">
              <a:lnSpc>
                <a:spcPts val="1300"/>
              </a:lnSpc>
              <a:buNone/>
            </a:pPr>
            <a:r>
              <a:rPr lang="en-US" sz="1200" b="1" dirty="0">
                <a:solidFill>
                  <a:srgbClr val="10293E"/>
                </a:solidFill>
                <a:latin typeface="Calibri" pitchFamily="34" charset="0"/>
                <a:ea typeface="Calibri" pitchFamily="34" charset="-122"/>
                <a:cs typeface="Calibri" pitchFamily="34" charset="-120"/>
              </a:rPr>
              <a:t>Claim extraction</a:t>
            </a:r>
            <a:endParaRPr lang="en-US" sz="1200" dirty="0"/>
          </a:p>
        </p:txBody>
      </p:sp>
      <p:sp>
        <p:nvSpPr>
          <p:cNvPr id="11" name="Shape 9"/>
          <p:cNvSpPr/>
          <p:nvPr/>
        </p:nvSpPr>
        <p:spPr>
          <a:xfrm>
            <a:off x="3566160" y="1737360"/>
            <a:ext cx="2834640" cy="722376"/>
          </a:xfrm>
          <a:prstGeom prst="rect">
            <a:avLst/>
          </a:prstGeom>
          <a:solidFill>
            <a:srgbClr val="FFFFFF"/>
          </a:solidFill>
          <a:ln w="9525">
            <a:solidFill>
              <a:srgbClr val="E4E1D6"/>
            </a:solidFill>
            <a:prstDash val="solid"/>
          </a:ln>
        </p:spPr>
      </p:sp>
      <p:sp>
        <p:nvSpPr>
          <p:cNvPr id="12" name="Text 10"/>
          <p:cNvSpPr txBox="1"/>
          <p:nvPr/>
        </p:nvSpPr>
        <p:spPr>
          <a:xfrm>
            <a:off x="3703320" y="1737360"/>
            <a:ext cx="2560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Transformer / NLP (e.g. RoBERTa, ClaimBuster-style)</a:t>
            </a:r>
            <a:endParaRPr lang="en-US" sz="1100" dirty="0"/>
          </a:p>
        </p:txBody>
      </p:sp>
      <p:sp>
        <p:nvSpPr>
          <p:cNvPr id="13" name="Shape 11"/>
          <p:cNvSpPr/>
          <p:nvPr/>
        </p:nvSpPr>
        <p:spPr>
          <a:xfrm>
            <a:off x="6492240" y="1737360"/>
            <a:ext cx="5120640" cy="722376"/>
          </a:xfrm>
          <a:prstGeom prst="rect">
            <a:avLst/>
          </a:prstGeom>
          <a:solidFill>
            <a:srgbClr val="FFFFFF"/>
          </a:solidFill>
          <a:ln w="9525">
            <a:solidFill>
              <a:srgbClr val="E4E1D6"/>
            </a:solidFill>
            <a:prstDash val="solid"/>
          </a:ln>
        </p:spPr>
      </p:sp>
      <p:sp>
        <p:nvSpPr>
          <p:cNvPr id="14" name="Text 12"/>
          <p:cNvSpPr txBox="1"/>
          <p:nvPr/>
        </p:nvSpPr>
        <p:spPr>
          <a:xfrm>
            <a:off x="6629400" y="1737360"/>
            <a:ext cx="4846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Identify check-worthy factual sentences</a:t>
            </a:r>
            <a:endParaRPr lang="en-US" sz="1100" dirty="0"/>
          </a:p>
        </p:txBody>
      </p:sp>
      <p:sp>
        <p:nvSpPr>
          <p:cNvPr id="15" name="Shape 13"/>
          <p:cNvSpPr/>
          <p:nvPr/>
        </p:nvSpPr>
        <p:spPr>
          <a:xfrm>
            <a:off x="548640" y="2514600"/>
            <a:ext cx="2926080" cy="722376"/>
          </a:xfrm>
          <a:prstGeom prst="rect">
            <a:avLst/>
          </a:prstGeom>
          <a:solidFill>
            <a:srgbClr val="F1EFE6"/>
          </a:solidFill>
          <a:ln w="9525">
            <a:solidFill>
              <a:srgbClr val="E4E1D6"/>
            </a:solidFill>
            <a:prstDash val="solid"/>
          </a:ln>
        </p:spPr>
      </p:sp>
      <p:sp>
        <p:nvSpPr>
          <p:cNvPr id="16" name="Text 14"/>
          <p:cNvSpPr txBox="1"/>
          <p:nvPr/>
        </p:nvSpPr>
        <p:spPr>
          <a:xfrm>
            <a:off x="685800" y="2514600"/>
            <a:ext cx="2651760" cy="722376"/>
          </a:xfrm>
          <a:prstGeom prst="rect">
            <a:avLst/>
          </a:prstGeom>
          <a:noFill/>
          <a:ln/>
        </p:spPr>
        <p:txBody>
          <a:bodyPr wrap="square" rtlCol="0" anchor="ctr"/>
          <a:lstStyle/>
          <a:p>
            <a:pPr indent="0" marL="0">
              <a:lnSpc>
                <a:spcPts val="1300"/>
              </a:lnSpc>
              <a:buNone/>
            </a:pPr>
            <a:r>
              <a:rPr lang="en-US" sz="1200" b="1" dirty="0">
                <a:solidFill>
                  <a:srgbClr val="10293E"/>
                </a:solidFill>
                <a:latin typeface="Calibri" pitchFamily="34" charset="0"/>
                <a:ea typeface="Calibri" pitchFamily="34" charset="-122"/>
                <a:cs typeface="Calibri" pitchFamily="34" charset="-120"/>
              </a:rPr>
              <a:t>Semantic search</a:t>
            </a:r>
            <a:endParaRPr lang="en-US" sz="1200" dirty="0"/>
          </a:p>
        </p:txBody>
      </p:sp>
      <p:sp>
        <p:nvSpPr>
          <p:cNvPr id="17" name="Shape 15"/>
          <p:cNvSpPr/>
          <p:nvPr/>
        </p:nvSpPr>
        <p:spPr>
          <a:xfrm>
            <a:off x="3566160" y="2514600"/>
            <a:ext cx="2834640" cy="722376"/>
          </a:xfrm>
          <a:prstGeom prst="rect">
            <a:avLst/>
          </a:prstGeom>
          <a:solidFill>
            <a:srgbClr val="F1EFE6"/>
          </a:solidFill>
          <a:ln w="9525">
            <a:solidFill>
              <a:srgbClr val="E4E1D6"/>
            </a:solidFill>
            <a:prstDash val="solid"/>
          </a:ln>
        </p:spPr>
      </p:sp>
      <p:sp>
        <p:nvSpPr>
          <p:cNvPr id="18" name="Text 16"/>
          <p:cNvSpPr txBox="1"/>
          <p:nvPr/>
        </p:nvSpPr>
        <p:spPr>
          <a:xfrm>
            <a:off x="3703320" y="2514600"/>
            <a:ext cx="2560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Sentence embeddings / TF-IDF cosine similarity</a:t>
            </a:r>
            <a:endParaRPr lang="en-US" sz="1100" dirty="0"/>
          </a:p>
        </p:txBody>
      </p:sp>
      <p:sp>
        <p:nvSpPr>
          <p:cNvPr id="19" name="Shape 17"/>
          <p:cNvSpPr/>
          <p:nvPr/>
        </p:nvSpPr>
        <p:spPr>
          <a:xfrm>
            <a:off x="6492240" y="2514600"/>
            <a:ext cx="5120640" cy="722376"/>
          </a:xfrm>
          <a:prstGeom prst="rect">
            <a:avLst/>
          </a:prstGeom>
          <a:solidFill>
            <a:srgbClr val="F1EFE6"/>
          </a:solidFill>
          <a:ln w="9525">
            <a:solidFill>
              <a:srgbClr val="E4E1D6"/>
            </a:solidFill>
            <a:prstDash val="solid"/>
          </a:ln>
        </p:spPr>
      </p:sp>
      <p:sp>
        <p:nvSpPr>
          <p:cNvPr id="20" name="Text 18"/>
          <p:cNvSpPr txBox="1"/>
          <p:nvPr/>
        </p:nvSpPr>
        <p:spPr>
          <a:xfrm>
            <a:off x="6629400" y="2514600"/>
            <a:ext cx="4846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Match claim meaning to relevant evidence</a:t>
            </a:r>
            <a:endParaRPr lang="en-US" sz="1100" dirty="0"/>
          </a:p>
        </p:txBody>
      </p:sp>
      <p:sp>
        <p:nvSpPr>
          <p:cNvPr id="21" name="Shape 19"/>
          <p:cNvSpPr/>
          <p:nvPr/>
        </p:nvSpPr>
        <p:spPr>
          <a:xfrm>
            <a:off x="548640" y="3291840"/>
            <a:ext cx="2926080" cy="722376"/>
          </a:xfrm>
          <a:prstGeom prst="rect">
            <a:avLst/>
          </a:prstGeom>
          <a:solidFill>
            <a:srgbClr val="FFFFFF"/>
          </a:solidFill>
          <a:ln w="9525">
            <a:solidFill>
              <a:srgbClr val="E4E1D6"/>
            </a:solidFill>
            <a:prstDash val="solid"/>
          </a:ln>
        </p:spPr>
      </p:sp>
      <p:sp>
        <p:nvSpPr>
          <p:cNvPr id="22" name="Text 20"/>
          <p:cNvSpPr txBox="1"/>
          <p:nvPr/>
        </p:nvSpPr>
        <p:spPr>
          <a:xfrm>
            <a:off x="685800" y="3291840"/>
            <a:ext cx="2651760" cy="722376"/>
          </a:xfrm>
          <a:prstGeom prst="rect">
            <a:avLst/>
          </a:prstGeom>
          <a:noFill/>
          <a:ln/>
        </p:spPr>
        <p:txBody>
          <a:bodyPr wrap="square" rtlCol="0" anchor="ctr"/>
          <a:lstStyle/>
          <a:p>
            <a:pPr indent="0" marL="0">
              <a:lnSpc>
                <a:spcPts val="1300"/>
              </a:lnSpc>
              <a:buNone/>
            </a:pPr>
            <a:r>
              <a:rPr lang="en-US" sz="1200" b="1" dirty="0">
                <a:solidFill>
                  <a:srgbClr val="10293E"/>
                </a:solidFill>
                <a:latin typeface="Calibri" pitchFamily="34" charset="0"/>
                <a:ea typeface="Calibri" pitchFamily="34" charset="-122"/>
                <a:cs typeface="Calibri" pitchFamily="34" charset="-120"/>
              </a:rPr>
              <a:t>Evidence retrieval</a:t>
            </a:r>
            <a:endParaRPr lang="en-US" sz="1200" dirty="0"/>
          </a:p>
        </p:txBody>
      </p:sp>
      <p:sp>
        <p:nvSpPr>
          <p:cNvPr id="23" name="Shape 21"/>
          <p:cNvSpPr/>
          <p:nvPr/>
        </p:nvSpPr>
        <p:spPr>
          <a:xfrm>
            <a:off x="3566160" y="3291840"/>
            <a:ext cx="2834640" cy="722376"/>
          </a:xfrm>
          <a:prstGeom prst="rect">
            <a:avLst/>
          </a:prstGeom>
          <a:solidFill>
            <a:srgbClr val="FFFFFF"/>
          </a:solidFill>
          <a:ln w="9525">
            <a:solidFill>
              <a:srgbClr val="E4E1D6"/>
            </a:solidFill>
            <a:prstDash val="solid"/>
          </a:ln>
        </p:spPr>
      </p:sp>
      <p:sp>
        <p:nvSpPr>
          <p:cNvPr id="24" name="Text 22"/>
          <p:cNvSpPr txBox="1"/>
          <p:nvPr/>
        </p:nvSpPr>
        <p:spPr>
          <a:xfrm>
            <a:off x="3703320" y="3291840"/>
            <a:ext cx="2560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Vector database (FAISS / Chroma)</a:t>
            </a:r>
            <a:endParaRPr lang="en-US" sz="1100" dirty="0"/>
          </a:p>
        </p:txBody>
      </p:sp>
      <p:sp>
        <p:nvSpPr>
          <p:cNvPr id="25" name="Shape 23"/>
          <p:cNvSpPr/>
          <p:nvPr/>
        </p:nvSpPr>
        <p:spPr>
          <a:xfrm>
            <a:off x="6492240" y="3291840"/>
            <a:ext cx="5120640" cy="722376"/>
          </a:xfrm>
          <a:prstGeom prst="rect">
            <a:avLst/>
          </a:prstGeom>
          <a:solidFill>
            <a:srgbClr val="FFFFFF"/>
          </a:solidFill>
          <a:ln w="9525">
            <a:solidFill>
              <a:srgbClr val="E4E1D6"/>
            </a:solidFill>
            <a:prstDash val="solid"/>
          </a:ln>
        </p:spPr>
      </p:sp>
      <p:sp>
        <p:nvSpPr>
          <p:cNvPr id="26" name="Text 24"/>
          <p:cNvSpPr txBox="1"/>
          <p:nvPr/>
        </p:nvSpPr>
        <p:spPr>
          <a:xfrm>
            <a:off x="6629400" y="3291840"/>
            <a:ext cx="4846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Store and search indexed trusted-source knowledge</a:t>
            </a:r>
            <a:endParaRPr lang="en-US" sz="1100" dirty="0"/>
          </a:p>
        </p:txBody>
      </p:sp>
      <p:sp>
        <p:nvSpPr>
          <p:cNvPr id="27" name="Shape 25"/>
          <p:cNvSpPr/>
          <p:nvPr/>
        </p:nvSpPr>
        <p:spPr>
          <a:xfrm>
            <a:off x="548640" y="4069080"/>
            <a:ext cx="2926080" cy="722376"/>
          </a:xfrm>
          <a:prstGeom prst="rect">
            <a:avLst/>
          </a:prstGeom>
          <a:solidFill>
            <a:srgbClr val="F1EFE6"/>
          </a:solidFill>
          <a:ln w="9525">
            <a:solidFill>
              <a:srgbClr val="E4E1D6"/>
            </a:solidFill>
            <a:prstDash val="solid"/>
          </a:ln>
        </p:spPr>
      </p:sp>
      <p:sp>
        <p:nvSpPr>
          <p:cNvPr id="28" name="Text 26"/>
          <p:cNvSpPr txBox="1"/>
          <p:nvPr/>
        </p:nvSpPr>
        <p:spPr>
          <a:xfrm>
            <a:off x="685800" y="4069080"/>
            <a:ext cx="2651760" cy="722376"/>
          </a:xfrm>
          <a:prstGeom prst="rect">
            <a:avLst/>
          </a:prstGeom>
          <a:noFill/>
          <a:ln/>
        </p:spPr>
        <p:txBody>
          <a:bodyPr wrap="square" rtlCol="0" anchor="ctr"/>
          <a:lstStyle/>
          <a:p>
            <a:pPr indent="0" marL="0">
              <a:lnSpc>
                <a:spcPts val="1300"/>
              </a:lnSpc>
              <a:buNone/>
            </a:pPr>
            <a:r>
              <a:rPr lang="en-US" sz="1200" b="1" dirty="0">
                <a:solidFill>
                  <a:srgbClr val="10293E"/>
                </a:solidFill>
                <a:latin typeface="Calibri" pitchFamily="34" charset="0"/>
                <a:ea typeface="Calibri" pitchFamily="34" charset="-122"/>
                <a:cs typeface="Calibri" pitchFamily="34" charset="-120"/>
              </a:rPr>
              <a:t>Reasoning</a:t>
            </a:r>
            <a:endParaRPr lang="en-US" sz="1200" dirty="0"/>
          </a:p>
        </p:txBody>
      </p:sp>
      <p:sp>
        <p:nvSpPr>
          <p:cNvPr id="29" name="Shape 27"/>
          <p:cNvSpPr/>
          <p:nvPr/>
        </p:nvSpPr>
        <p:spPr>
          <a:xfrm>
            <a:off x="3566160" y="4069080"/>
            <a:ext cx="2834640" cy="722376"/>
          </a:xfrm>
          <a:prstGeom prst="rect">
            <a:avLst/>
          </a:prstGeom>
          <a:solidFill>
            <a:srgbClr val="F1EFE6"/>
          </a:solidFill>
          <a:ln w="9525">
            <a:solidFill>
              <a:srgbClr val="E4E1D6"/>
            </a:solidFill>
            <a:prstDash val="solid"/>
          </a:ln>
        </p:spPr>
      </p:sp>
      <p:sp>
        <p:nvSpPr>
          <p:cNvPr id="30" name="Text 28"/>
          <p:cNvSpPr txBox="1"/>
          <p:nvPr/>
        </p:nvSpPr>
        <p:spPr>
          <a:xfrm>
            <a:off x="3703320" y="4069080"/>
            <a:ext cx="2560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RAG (Retrieval-Augmented Generation)</a:t>
            </a:r>
            <a:endParaRPr lang="en-US" sz="1100" dirty="0"/>
          </a:p>
        </p:txBody>
      </p:sp>
      <p:sp>
        <p:nvSpPr>
          <p:cNvPr id="31" name="Shape 29"/>
          <p:cNvSpPr/>
          <p:nvPr/>
        </p:nvSpPr>
        <p:spPr>
          <a:xfrm>
            <a:off x="6492240" y="4069080"/>
            <a:ext cx="5120640" cy="722376"/>
          </a:xfrm>
          <a:prstGeom prst="rect">
            <a:avLst/>
          </a:prstGeom>
          <a:solidFill>
            <a:srgbClr val="F1EFE6"/>
          </a:solidFill>
          <a:ln w="9525">
            <a:solidFill>
              <a:srgbClr val="E4E1D6"/>
            </a:solidFill>
            <a:prstDash val="solid"/>
          </a:ln>
        </p:spPr>
      </p:sp>
      <p:sp>
        <p:nvSpPr>
          <p:cNvPr id="32" name="Text 30"/>
          <p:cNvSpPr txBox="1"/>
          <p:nvPr/>
        </p:nvSpPr>
        <p:spPr>
          <a:xfrm>
            <a:off x="6629400" y="4069080"/>
            <a:ext cx="4846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Ground the AI's explanation in retrieved evidence only</a:t>
            </a:r>
            <a:endParaRPr lang="en-US" sz="1100" dirty="0"/>
          </a:p>
        </p:txBody>
      </p:sp>
      <p:sp>
        <p:nvSpPr>
          <p:cNvPr id="33" name="Shape 31"/>
          <p:cNvSpPr/>
          <p:nvPr/>
        </p:nvSpPr>
        <p:spPr>
          <a:xfrm>
            <a:off x="548640" y="4846320"/>
            <a:ext cx="2926080" cy="722376"/>
          </a:xfrm>
          <a:prstGeom prst="rect">
            <a:avLst/>
          </a:prstGeom>
          <a:solidFill>
            <a:srgbClr val="FFFFFF"/>
          </a:solidFill>
          <a:ln w="9525">
            <a:solidFill>
              <a:srgbClr val="E4E1D6"/>
            </a:solidFill>
            <a:prstDash val="solid"/>
          </a:ln>
        </p:spPr>
      </p:sp>
      <p:sp>
        <p:nvSpPr>
          <p:cNvPr id="34" name="Text 32"/>
          <p:cNvSpPr txBox="1"/>
          <p:nvPr/>
        </p:nvSpPr>
        <p:spPr>
          <a:xfrm>
            <a:off x="685800" y="4846320"/>
            <a:ext cx="2651760" cy="722376"/>
          </a:xfrm>
          <a:prstGeom prst="rect">
            <a:avLst/>
          </a:prstGeom>
          <a:noFill/>
          <a:ln/>
        </p:spPr>
        <p:txBody>
          <a:bodyPr wrap="square" rtlCol="0" anchor="ctr"/>
          <a:lstStyle/>
          <a:p>
            <a:pPr indent="0" marL="0">
              <a:lnSpc>
                <a:spcPts val="1300"/>
              </a:lnSpc>
              <a:buNone/>
            </a:pPr>
            <a:r>
              <a:rPr lang="en-US" sz="1200" b="1" dirty="0">
                <a:solidFill>
                  <a:srgbClr val="10293E"/>
                </a:solidFill>
                <a:latin typeface="Calibri" pitchFamily="34" charset="0"/>
                <a:ea typeface="Calibri" pitchFamily="34" charset="-122"/>
                <a:cs typeface="Calibri" pitchFamily="34" charset="-120"/>
              </a:rPr>
              <a:t>Verification</a:t>
            </a:r>
            <a:endParaRPr lang="en-US" sz="1200" dirty="0"/>
          </a:p>
        </p:txBody>
      </p:sp>
      <p:sp>
        <p:nvSpPr>
          <p:cNvPr id="35" name="Shape 33"/>
          <p:cNvSpPr/>
          <p:nvPr/>
        </p:nvSpPr>
        <p:spPr>
          <a:xfrm>
            <a:off x="3566160" y="4846320"/>
            <a:ext cx="2834640" cy="722376"/>
          </a:xfrm>
          <a:prstGeom prst="rect">
            <a:avLst/>
          </a:prstGeom>
          <a:solidFill>
            <a:srgbClr val="FFFFFF"/>
          </a:solidFill>
          <a:ln w="9525">
            <a:solidFill>
              <a:srgbClr val="E4E1D6"/>
            </a:solidFill>
            <a:prstDash val="solid"/>
          </a:ln>
        </p:spPr>
      </p:sp>
      <p:sp>
        <p:nvSpPr>
          <p:cNvPr id="36" name="Text 34"/>
          <p:cNvSpPr txBox="1"/>
          <p:nvPr/>
        </p:nvSpPr>
        <p:spPr>
          <a:xfrm>
            <a:off x="3703320" y="4846320"/>
            <a:ext cx="2560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Natural Language Inference (NLI)</a:t>
            </a:r>
            <a:endParaRPr lang="en-US" sz="1100" dirty="0"/>
          </a:p>
        </p:txBody>
      </p:sp>
      <p:sp>
        <p:nvSpPr>
          <p:cNvPr id="37" name="Shape 35"/>
          <p:cNvSpPr/>
          <p:nvPr/>
        </p:nvSpPr>
        <p:spPr>
          <a:xfrm>
            <a:off x="6492240" y="4846320"/>
            <a:ext cx="5120640" cy="722376"/>
          </a:xfrm>
          <a:prstGeom prst="rect">
            <a:avLst/>
          </a:prstGeom>
          <a:solidFill>
            <a:srgbClr val="FFFFFF"/>
          </a:solidFill>
          <a:ln w="9525">
            <a:solidFill>
              <a:srgbClr val="E4E1D6"/>
            </a:solidFill>
            <a:prstDash val="solid"/>
          </a:ln>
        </p:spPr>
      </p:sp>
      <p:sp>
        <p:nvSpPr>
          <p:cNvPr id="38" name="Text 36"/>
          <p:cNvSpPr txBox="1"/>
          <p:nvPr/>
        </p:nvSpPr>
        <p:spPr>
          <a:xfrm>
            <a:off x="6629400" y="4846320"/>
            <a:ext cx="4846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Determine entailment, contradiction, or neutrality</a:t>
            </a:r>
            <a:endParaRPr lang="en-US" sz="1100" dirty="0"/>
          </a:p>
        </p:txBody>
      </p:sp>
      <p:sp>
        <p:nvSpPr>
          <p:cNvPr id="39" name="Shape 37"/>
          <p:cNvSpPr/>
          <p:nvPr/>
        </p:nvSpPr>
        <p:spPr>
          <a:xfrm>
            <a:off x="548640" y="5623560"/>
            <a:ext cx="2926080" cy="722376"/>
          </a:xfrm>
          <a:prstGeom prst="rect">
            <a:avLst/>
          </a:prstGeom>
          <a:solidFill>
            <a:srgbClr val="F1EFE6"/>
          </a:solidFill>
          <a:ln w="9525">
            <a:solidFill>
              <a:srgbClr val="E4E1D6"/>
            </a:solidFill>
            <a:prstDash val="solid"/>
          </a:ln>
        </p:spPr>
      </p:sp>
      <p:sp>
        <p:nvSpPr>
          <p:cNvPr id="40" name="Text 38"/>
          <p:cNvSpPr txBox="1"/>
          <p:nvPr/>
        </p:nvSpPr>
        <p:spPr>
          <a:xfrm>
            <a:off x="685800" y="5623560"/>
            <a:ext cx="2651760" cy="722376"/>
          </a:xfrm>
          <a:prstGeom prst="rect">
            <a:avLst/>
          </a:prstGeom>
          <a:noFill/>
          <a:ln/>
        </p:spPr>
        <p:txBody>
          <a:bodyPr wrap="square" rtlCol="0" anchor="ctr"/>
          <a:lstStyle/>
          <a:p>
            <a:pPr indent="0" marL="0">
              <a:lnSpc>
                <a:spcPts val="1300"/>
              </a:lnSpc>
              <a:buNone/>
            </a:pPr>
            <a:r>
              <a:rPr lang="en-US" sz="1200" b="1" dirty="0">
                <a:solidFill>
                  <a:srgbClr val="10293E"/>
                </a:solidFill>
                <a:latin typeface="Calibri" pitchFamily="34" charset="0"/>
                <a:ea typeface="Calibri" pitchFamily="34" charset="-122"/>
                <a:cs typeface="Calibri" pitchFamily="34" charset="-120"/>
              </a:rPr>
              <a:t>Fraud detection</a:t>
            </a:r>
            <a:endParaRPr lang="en-US" sz="1200" dirty="0"/>
          </a:p>
        </p:txBody>
      </p:sp>
      <p:sp>
        <p:nvSpPr>
          <p:cNvPr id="41" name="Shape 39"/>
          <p:cNvSpPr/>
          <p:nvPr/>
        </p:nvSpPr>
        <p:spPr>
          <a:xfrm>
            <a:off x="3566160" y="5623560"/>
            <a:ext cx="2834640" cy="722376"/>
          </a:xfrm>
          <a:prstGeom prst="rect">
            <a:avLst/>
          </a:prstGeom>
          <a:solidFill>
            <a:srgbClr val="F1EFE6"/>
          </a:solidFill>
          <a:ln w="9525">
            <a:solidFill>
              <a:srgbClr val="E4E1D6"/>
            </a:solidFill>
            <a:prstDash val="solid"/>
          </a:ln>
        </p:spPr>
      </p:sp>
      <p:sp>
        <p:nvSpPr>
          <p:cNvPr id="42" name="Text 40"/>
          <p:cNvSpPr txBox="1"/>
          <p:nvPr/>
        </p:nvSpPr>
        <p:spPr>
          <a:xfrm>
            <a:off x="3703320" y="5623560"/>
            <a:ext cx="2560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Rule-based pattern matching</a:t>
            </a:r>
            <a:endParaRPr lang="en-US" sz="1100" dirty="0"/>
          </a:p>
        </p:txBody>
      </p:sp>
      <p:sp>
        <p:nvSpPr>
          <p:cNvPr id="43" name="Shape 41"/>
          <p:cNvSpPr/>
          <p:nvPr/>
        </p:nvSpPr>
        <p:spPr>
          <a:xfrm>
            <a:off x="6492240" y="5623560"/>
            <a:ext cx="5120640" cy="722376"/>
          </a:xfrm>
          <a:prstGeom prst="rect">
            <a:avLst/>
          </a:prstGeom>
          <a:solidFill>
            <a:srgbClr val="F1EFE6"/>
          </a:solidFill>
          <a:ln w="9525">
            <a:solidFill>
              <a:srgbClr val="E4E1D6"/>
            </a:solidFill>
            <a:prstDash val="solid"/>
          </a:ln>
        </p:spPr>
      </p:sp>
      <p:sp>
        <p:nvSpPr>
          <p:cNvPr id="44" name="Text 42"/>
          <p:cNvSpPr txBox="1"/>
          <p:nvPr/>
        </p:nvSpPr>
        <p:spPr>
          <a:xfrm>
            <a:off x="6629400" y="5623560"/>
            <a:ext cx="4846320" cy="722376"/>
          </a:xfrm>
          <a:prstGeom prst="rect">
            <a:avLst/>
          </a:prstGeom>
          <a:noFill/>
          <a:ln/>
        </p:spPr>
        <p:txBody>
          <a:bodyPr wrap="square" rtlCol="0" anchor="ctr"/>
          <a:lstStyle/>
          <a:p>
            <a:pPr indent="0" marL="0">
              <a:lnSpc>
                <a:spcPts val="1300"/>
              </a:lnSpc>
              <a:buNone/>
            </a:pPr>
            <a:r>
              <a:rPr lang="en-US" sz="1100" dirty="0">
                <a:solidFill>
                  <a:srgbClr val="10293E"/>
                </a:solidFill>
                <a:latin typeface="Calibri" pitchFamily="34" charset="0"/>
                <a:ea typeface="Calibri" pitchFamily="34" charset="-122"/>
                <a:cs typeface="Calibri" pitchFamily="34" charset="-120"/>
              </a:rPr>
              <a:t>Flag fees, urgency, and domain mismatches</a:t>
            </a:r>
            <a:endParaRPr lang="en-US" sz="1100" dirty="0"/>
          </a:p>
        </p:txBody>
      </p:sp>
      <p:sp>
        <p:nvSpPr>
          <p:cNvPr id="45" name="Text 43"/>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93E"/>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Advantages</a:t>
            </a:r>
            <a:endParaRPr lang="en-US" sz="3000" dirty="0"/>
          </a:p>
        </p:txBody>
      </p:sp>
      <p:sp>
        <p:nvSpPr>
          <p:cNvPr id="3" name="Shape 1"/>
          <p:cNvSpPr/>
          <p:nvPr/>
        </p:nvSpPr>
        <p:spPr>
          <a:xfrm>
            <a:off x="548640" y="1577340"/>
            <a:ext cx="365760" cy="365760"/>
          </a:xfrm>
          <a:prstGeom prst="ellipse">
            <a:avLst/>
          </a:prstGeom>
          <a:solidFill>
            <a:srgbClr val="E8A33D"/>
          </a:solidFill>
          <a:ln/>
        </p:spPr>
      </p:sp>
      <p:sp>
        <p:nvSpPr>
          <p:cNvPr id="4" name="Text 2"/>
          <p:cNvSpPr txBox="1"/>
          <p:nvPr/>
        </p:nvSpPr>
        <p:spPr>
          <a:xfrm>
            <a:off x="548640" y="1577340"/>
            <a:ext cx="365760" cy="365760"/>
          </a:xfrm>
          <a:prstGeom prst="rect">
            <a:avLst/>
          </a:prstGeom>
          <a:noFill/>
          <a:ln/>
        </p:spPr>
        <p:txBody>
          <a:bodyPr wrap="square" rtlCol="0" anchor="ctr"/>
          <a:lstStyle/>
          <a:p>
            <a:pPr algn="ctr" indent="0" marL="0">
              <a:buNone/>
            </a:pPr>
            <a:r>
              <a:rPr lang="en-US" sz="1400" b="1" dirty="0">
                <a:solidFill>
                  <a:srgbClr val="10293E"/>
                </a:solidFill>
                <a:latin typeface="Calibri" pitchFamily="34" charset="0"/>
                <a:ea typeface="Calibri" pitchFamily="34" charset="-122"/>
                <a:cs typeface="Calibri" pitchFamily="34" charset="-120"/>
              </a:rPr>
              <a:t>✓</a:t>
            </a:r>
            <a:endParaRPr lang="en-US" sz="1400" dirty="0"/>
          </a:p>
        </p:txBody>
      </p:sp>
      <p:sp>
        <p:nvSpPr>
          <p:cNvPr id="5" name="Text 3"/>
          <p:cNvSpPr txBox="1"/>
          <p:nvPr/>
        </p:nvSpPr>
        <p:spPr>
          <a:xfrm>
            <a:off x="1097280" y="1371600"/>
            <a:ext cx="48006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Verifies individual claims, not whole articles</a:t>
            </a:r>
            <a:endParaRPr lang="en-US" sz="1350" dirty="0"/>
          </a:p>
        </p:txBody>
      </p:sp>
      <p:sp>
        <p:nvSpPr>
          <p:cNvPr id="6" name="Shape 4"/>
          <p:cNvSpPr/>
          <p:nvPr/>
        </p:nvSpPr>
        <p:spPr>
          <a:xfrm>
            <a:off x="6217920" y="1577340"/>
            <a:ext cx="365760" cy="365760"/>
          </a:xfrm>
          <a:prstGeom prst="ellipse">
            <a:avLst/>
          </a:prstGeom>
          <a:solidFill>
            <a:srgbClr val="E8A33D"/>
          </a:solidFill>
          <a:ln/>
        </p:spPr>
      </p:sp>
      <p:sp>
        <p:nvSpPr>
          <p:cNvPr id="7" name="Text 5"/>
          <p:cNvSpPr txBox="1"/>
          <p:nvPr/>
        </p:nvSpPr>
        <p:spPr>
          <a:xfrm>
            <a:off x="6217920" y="1577340"/>
            <a:ext cx="365760" cy="365760"/>
          </a:xfrm>
          <a:prstGeom prst="rect">
            <a:avLst/>
          </a:prstGeom>
          <a:noFill/>
          <a:ln/>
        </p:spPr>
        <p:txBody>
          <a:bodyPr wrap="square" rtlCol="0" anchor="ctr"/>
          <a:lstStyle/>
          <a:p>
            <a:pPr algn="ctr" indent="0" marL="0">
              <a:buNone/>
            </a:pPr>
            <a:r>
              <a:rPr lang="en-US" sz="1400" b="1" dirty="0">
                <a:solidFill>
                  <a:srgbClr val="10293E"/>
                </a:solidFill>
                <a:latin typeface="Calibri" pitchFamily="34" charset="0"/>
                <a:ea typeface="Calibri" pitchFamily="34" charset="-122"/>
                <a:cs typeface="Calibri" pitchFamily="34" charset="-120"/>
              </a:rPr>
              <a:t>✓</a:t>
            </a:r>
            <a:endParaRPr lang="en-US" sz="1400" dirty="0"/>
          </a:p>
        </p:txBody>
      </p:sp>
      <p:sp>
        <p:nvSpPr>
          <p:cNvPr id="8" name="Text 6"/>
          <p:cNvSpPr txBox="1"/>
          <p:nvPr/>
        </p:nvSpPr>
        <p:spPr>
          <a:xfrm>
            <a:off x="6766560" y="1371600"/>
            <a:ext cx="48006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Shows evidence and reasoning, not a black-box label</a:t>
            </a:r>
            <a:endParaRPr lang="en-US" sz="1350" dirty="0"/>
          </a:p>
        </p:txBody>
      </p:sp>
      <p:sp>
        <p:nvSpPr>
          <p:cNvPr id="9" name="Shape 7"/>
          <p:cNvSpPr/>
          <p:nvPr/>
        </p:nvSpPr>
        <p:spPr>
          <a:xfrm>
            <a:off x="548640" y="2583180"/>
            <a:ext cx="365760" cy="365760"/>
          </a:xfrm>
          <a:prstGeom prst="ellipse">
            <a:avLst/>
          </a:prstGeom>
          <a:solidFill>
            <a:srgbClr val="E8A33D"/>
          </a:solidFill>
          <a:ln/>
        </p:spPr>
      </p:sp>
      <p:sp>
        <p:nvSpPr>
          <p:cNvPr id="10" name="Text 8"/>
          <p:cNvSpPr txBox="1"/>
          <p:nvPr/>
        </p:nvSpPr>
        <p:spPr>
          <a:xfrm>
            <a:off x="548640" y="2583180"/>
            <a:ext cx="365760" cy="365760"/>
          </a:xfrm>
          <a:prstGeom prst="rect">
            <a:avLst/>
          </a:prstGeom>
          <a:noFill/>
          <a:ln/>
        </p:spPr>
        <p:txBody>
          <a:bodyPr wrap="square" rtlCol="0" anchor="ctr"/>
          <a:lstStyle/>
          <a:p>
            <a:pPr algn="ctr" indent="0" marL="0">
              <a:buNone/>
            </a:pPr>
            <a:r>
              <a:rPr lang="en-US" sz="1400" b="1" dirty="0">
                <a:solidFill>
                  <a:srgbClr val="10293E"/>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1097280" y="2377440"/>
            <a:ext cx="48006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Catches scams even with no clean fact to check</a:t>
            </a:r>
            <a:endParaRPr lang="en-US" sz="1350" dirty="0"/>
          </a:p>
        </p:txBody>
      </p:sp>
      <p:sp>
        <p:nvSpPr>
          <p:cNvPr id="12" name="Shape 10"/>
          <p:cNvSpPr/>
          <p:nvPr/>
        </p:nvSpPr>
        <p:spPr>
          <a:xfrm>
            <a:off x="6217920" y="2583180"/>
            <a:ext cx="365760" cy="365760"/>
          </a:xfrm>
          <a:prstGeom prst="ellipse">
            <a:avLst/>
          </a:prstGeom>
          <a:solidFill>
            <a:srgbClr val="E8A33D"/>
          </a:solidFill>
          <a:ln/>
        </p:spPr>
      </p:sp>
      <p:sp>
        <p:nvSpPr>
          <p:cNvPr id="13" name="Text 11"/>
          <p:cNvSpPr txBox="1"/>
          <p:nvPr/>
        </p:nvSpPr>
        <p:spPr>
          <a:xfrm>
            <a:off x="6217920" y="2583180"/>
            <a:ext cx="365760" cy="365760"/>
          </a:xfrm>
          <a:prstGeom prst="rect">
            <a:avLst/>
          </a:prstGeom>
          <a:noFill/>
          <a:ln/>
        </p:spPr>
        <p:txBody>
          <a:bodyPr wrap="square" rtlCol="0" anchor="ctr"/>
          <a:lstStyle/>
          <a:p>
            <a:pPr algn="ctr" indent="0" marL="0">
              <a:buNone/>
            </a:pPr>
            <a:r>
              <a:rPr lang="en-US" sz="1400" b="1" dirty="0">
                <a:solidFill>
                  <a:srgbClr val="10293E"/>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6766560" y="2377440"/>
            <a:ext cx="48006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Works in real time via the browser extension</a:t>
            </a:r>
            <a:endParaRPr lang="en-US" sz="1350" dirty="0"/>
          </a:p>
        </p:txBody>
      </p:sp>
      <p:sp>
        <p:nvSpPr>
          <p:cNvPr id="15" name="Shape 13"/>
          <p:cNvSpPr/>
          <p:nvPr/>
        </p:nvSpPr>
        <p:spPr>
          <a:xfrm>
            <a:off x="548640" y="3589020"/>
            <a:ext cx="365760" cy="365760"/>
          </a:xfrm>
          <a:prstGeom prst="ellipse">
            <a:avLst/>
          </a:prstGeom>
          <a:solidFill>
            <a:srgbClr val="E8A33D"/>
          </a:solidFill>
          <a:ln/>
        </p:spPr>
      </p:sp>
      <p:sp>
        <p:nvSpPr>
          <p:cNvPr id="16" name="Text 14"/>
          <p:cNvSpPr txBox="1"/>
          <p:nvPr/>
        </p:nvSpPr>
        <p:spPr>
          <a:xfrm>
            <a:off x="548640" y="3589020"/>
            <a:ext cx="365760" cy="365760"/>
          </a:xfrm>
          <a:prstGeom prst="rect">
            <a:avLst/>
          </a:prstGeom>
          <a:noFill/>
          <a:ln/>
        </p:spPr>
        <p:txBody>
          <a:bodyPr wrap="square" rtlCol="0" anchor="ctr"/>
          <a:lstStyle/>
          <a:p>
            <a:pPr algn="ctr" indent="0" marL="0">
              <a:buNone/>
            </a:pPr>
            <a:r>
              <a:rPr lang="en-US" sz="1400" b="1" dirty="0">
                <a:solidFill>
                  <a:srgbClr val="10293E"/>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097280" y="3383280"/>
            <a:ext cx="48006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Confidence scores instead of false certainty</a:t>
            </a:r>
            <a:endParaRPr lang="en-US" sz="1350" dirty="0"/>
          </a:p>
        </p:txBody>
      </p:sp>
      <p:sp>
        <p:nvSpPr>
          <p:cNvPr id="18" name="Shape 16"/>
          <p:cNvSpPr/>
          <p:nvPr/>
        </p:nvSpPr>
        <p:spPr>
          <a:xfrm>
            <a:off x="6217920" y="3589020"/>
            <a:ext cx="365760" cy="365760"/>
          </a:xfrm>
          <a:prstGeom prst="ellipse">
            <a:avLst/>
          </a:prstGeom>
          <a:solidFill>
            <a:srgbClr val="E8A33D"/>
          </a:solidFill>
          <a:ln/>
        </p:spPr>
      </p:sp>
      <p:sp>
        <p:nvSpPr>
          <p:cNvPr id="19" name="Text 17"/>
          <p:cNvSpPr txBox="1"/>
          <p:nvPr/>
        </p:nvSpPr>
        <p:spPr>
          <a:xfrm>
            <a:off x="6217920" y="3589020"/>
            <a:ext cx="365760" cy="365760"/>
          </a:xfrm>
          <a:prstGeom prst="rect">
            <a:avLst/>
          </a:prstGeom>
          <a:noFill/>
          <a:ln/>
        </p:spPr>
        <p:txBody>
          <a:bodyPr wrap="square" rtlCol="0" anchor="ctr"/>
          <a:lstStyle/>
          <a:p>
            <a:pPr algn="ctr" indent="0" marL="0">
              <a:buNone/>
            </a:pPr>
            <a:r>
              <a:rPr lang="en-US" sz="1400" b="1" dirty="0">
                <a:solidFill>
                  <a:srgbClr val="10293E"/>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766560" y="3383280"/>
            <a:ext cx="48006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Modular design — each stage can be upgraded independently</a:t>
            </a:r>
            <a:endParaRPr lang="en-US" sz="1350" dirty="0"/>
          </a:p>
        </p:txBody>
      </p:sp>
      <p:sp>
        <p:nvSpPr>
          <p:cNvPr id="21" name="Text 19"/>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Implementation — Technology Stack</a:t>
            </a:r>
            <a:endParaRPr lang="en-US" sz="3000" dirty="0"/>
          </a:p>
        </p:txBody>
      </p:sp>
      <p:sp>
        <p:nvSpPr>
          <p:cNvPr id="3" name="Shape 1"/>
          <p:cNvSpPr/>
          <p:nvPr/>
        </p:nvSpPr>
        <p:spPr>
          <a:xfrm>
            <a:off x="548640" y="1234440"/>
            <a:ext cx="3520440" cy="1508760"/>
          </a:xfrm>
          <a:prstGeom prst="roundRect">
            <a:avLst>
              <a:gd name="adj" fmla="val 6061"/>
            </a:avLst>
          </a:prstGeom>
          <a:solidFill>
            <a:srgbClr val="FFFFFF"/>
          </a:solidFill>
          <a:ln w="12700">
            <a:solidFill>
              <a:srgbClr val="E4E1D6"/>
            </a:solidFill>
            <a:prstDash val="solid"/>
          </a:ln>
        </p:spPr>
      </p:sp>
      <p:sp>
        <p:nvSpPr>
          <p:cNvPr id="4" name="Shape 2"/>
          <p:cNvSpPr/>
          <p:nvPr/>
        </p:nvSpPr>
        <p:spPr>
          <a:xfrm>
            <a:off x="777240" y="1435608"/>
            <a:ext cx="402336" cy="402336"/>
          </a:xfrm>
          <a:prstGeom prst="ellipse">
            <a:avLst/>
          </a:prstGeom>
          <a:solidFill>
            <a:srgbClr val="E7EFF1"/>
          </a:solidFill>
          <a:ln/>
        </p:spPr>
      </p:sp>
      <p:sp>
        <p:nvSpPr>
          <p:cNvPr id="5" name="Text 3"/>
          <p:cNvSpPr txBox="1"/>
          <p:nvPr/>
        </p:nvSpPr>
        <p:spPr>
          <a:xfrm>
            <a:off x="777240" y="1435608"/>
            <a:ext cx="402336" cy="402336"/>
          </a:xfrm>
          <a:prstGeom prst="rect">
            <a:avLst/>
          </a:prstGeom>
          <a:noFill/>
          <a:ln/>
        </p:spPr>
        <p:txBody>
          <a:bodyPr wrap="square"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435608"/>
            <a:ext cx="2560320" cy="402336"/>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Frontend</a:t>
            </a:r>
            <a:endParaRPr lang="en-US" sz="1100" dirty="0"/>
          </a:p>
        </p:txBody>
      </p:sp>
      <p:sp>
        <p:nvSpPr>
          <p:cNvPr id="7" name="Text 5"/>
          <p:cNvSpPr txBox="1"/>
          <p:nvPr/>
        </p:nvSpPr>
        <p:spPr>
          <a:xfrm>
            <a:off x="822960" y="1984248"/>
            <a:ext cx="3063240" cy="502920"/>
          </a:xfrm>
          <a:prstGeom prst="rect">
            <a:avLst/>
          </a:prstGeom>
          <a:noFill/>
          <a:ln/>
        </p:spPr>
        <p:txBody>
          <a:bodyPr wrap="square" rtlCol="0" anchor="ctr"/>
          <a:lstStyle/>
          <a:p>
            <a:pPr indent="0" marL="0">
              <a:lnSpc>
                <a:spcPts val="1600"/>
              </a:lnSpc>
              <a:buNone/>
            </a:pPr>
            <a:r>
              <a:rPr lang="en-US" sz="1350" b="1" dirty="0">
                <a:solidFill>
                  <a:srgbClr val="10293E"/>
                </a:solidFill>
                <a:latin typeface="Cambria" pitchFamily="34" charset="0"/>
                <a:ea typeface="Cambria" pitchFamily="34" charset="-122"/>
                <a:cs typeface="Cambria" pitchFamily="34" charset="-120"/>
              </a:rPr>
              <a:t>React / HTML · CSS · JS</a:t>
            </a:r>
            <a:endParaRPr lang="en-US" sz="1350" dirty="0"/>
          </a:p>
        </p:txBody>
      </p:sp>
      <p:sp>
        <p:nvSpPr>
          <p:cNvPr id="8" name="Text 6"/>
          <p:cNvSpPr txBox="1"/>
          <p:nvPr/>
        </p:nvSpPr>
        <p:spPr>
          <a:xfrm>
            <a:off x="822960" y="2395728"/>
            <a:ext cx="3063240" cy="32004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Web dashboard</a:t>
            </a:r>
            <a:endParaRPr lang="en-US" sz="1050" dirty="0"/>
          </a:p>
        </p:txBody>
      </p:sp>
      <p:sp>
        <p:nvSpPr>
          <p:cNvPr id="9" name="Shape 7"/>
          <p:cNvSpPr/>
          <p:nvPr/>
        </p:nvSpPr>
        <p:spPr>
          <a:xfrm>
            <a:off x="4325112" y="1234440"/>
            <a:ext cx="3520440" cy="1508760"/>
          </a:xfrm>
          <a:prstGeom prst="roundRect">
            <a:avLst>
              <a:gd name="adj" fmla="val 6061"/>
            </a:avLst>
          </a:prstGeom>
          <a:solidFill>
            <a:srgbClr val="FFFFFF"/>
          </a:solidFill>
          <a:ln w="12700">
            <a:solidFill>
              <a:srgbClr val="E4E1D6"/>
            </a:solidFill>
            <a:prstDash val="solid"/>
          </a:ln>
        </p:spPr>
      </p:sp>
      <p:sp>
        <p:nvSpPr>
          <p:cNvPr id="10" name="Shape 8"/>
          <p:cNvSpPr/>
          <p:nvPr/>
        </p:nvSpPr>
        <p:spPr>
          <a:xfrm>
            <a:off x="4553712" y="1435608"/>
            <a:ext cx="402336" cy="402336"/>
          </a:xfrm>
          <a:prstGeom prst="ellipse">
            <a:avLst/>
          </a:prstGeom>
          <a:solidFill>
            <a:srgbClr val="E7EFF1"/>
          </a:solidFill>
          <a:ln/>
        </p:spPr>
      </p:sp>
      <p:sp>
        <p:nvSpPr>
          <p:cNvPr id="11" name="Text 9"/>
          <p:cNvSpPr txBox="1"/>
          <p:nvPr/>
        </p:nvSpPr>
        <p:spPr>
          <a:xfrm>
            <a:off x="4553712" y="1435608"/>
            <a:ext cx="402336" cy="402336"/>
          </a:xfrm>
          <a:prstGeom prst="rect">
            <a:avLst/>
          </a:prstGeom>
          <a:noFill/>
          <a:ln/>
        </p:spPr>
        <p:txBody>
          <a:bodyPr wrap="square"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102352" y="1435608"/>
            <a:ext cx="2560320" cy="402336"/>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Client add-on</a:t>
            </a:r>
            <a:endParaRPr lang="en-US" sz="1100" dirty="0"/>
          </a:p>
        </p:txBody>
      </p:sp>
      <p:sp>
        <p:nvSpPr>
          <p:cNvPr id="13" name="Text 11"/>
          <p:cNvSpPr txBox="1"/>
          <p:nvPr/>
        </p:nvSpPr>
        <p:spPr>
          <a:xfrm>
            <a:off x="4599432" y="1984248"/>
            <a:ext cx="3063240" cy="502920"/>
          </a:xfrm>
          <a:prstGeom prst="rect">
            <a:avLst/>
          </a:prstGeom>
          <a:noFill/>
          <a:ln/>
        </p:spPr>
        <p:txBody>
          <a:bodyPr wrap="square" rtlCol="0" anchor="ctr"/>
          <a:lstStyle/>
          <a:p>
            <a:pPr indent="0" marL="0">
              <a:lnSpc>
                <a:spcPts val="1600"/>
              </a:lnSpc>
              <a:buNone/>
            </a:pPr>
            <a:r>
              <a:rPr lang="en-US" sz="1350" b="1" dirty="0">
                <a:solidFill>
                  <a:srgbClr val="10293E"/>
                </a:solidFill>
                <a:latin typeface="Cambria" pitchFamily="34" charset="0"/>
                <a:ea typeface="Cambria" pitchFamily="34" charset="-122"/>
                <a:cs typeface="Cambria" pitchFamily="34" charset="-120"/>
              </a:rPr>
              <a:t>Manifest V3 (Chrome / Edge)</a:t>
            </a:r>
            <a:endParaRPr lang="en-US" sz="1350" dirty="0"/>
          </a:p>
        </p:txBody>
      </p:sp>
      <p:sp>
        <p:nvSpPr>
          <p:cNvPr id="14" name="Text 12"/>
          <p:cNvSpPr txBox="1"/>
          <p:nvPr/>
        </p:nvSpPr>
        <p:spPr>
          <a:xfrm>
            <a:off x="4599432" y="2395728"/>
            <a:ext cx="3063240" cy="32004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Browser extension</a:t>
            </a:r>
            <a:endParaRPr lang="en-US" sz="1050" dirty="0"/>
          </a:p>
        </p:txBody>
      </p:sp>
      <p:sp>
        <p:nvSpPr>
          <p:cNvPr id="15" name="Shape 13"/>
          <p:cNvSpPr/>
          <p:nvPr/>
        </p:nvSpPr>
        <p:spPr>
          <a:xfrm>
            <a:off x="8101584" y="1234440"/>
            <a:ext cx="3520440" cy="1508760"/>
          </a:xfrm>
          <a:prstGeom prst="roundRect">
            <a:avLst>
              <a:gd name="adj" fmla="val 6061"/>
            </a:avLst>
          </a:prstGeom>
          <a:solidFill>
            <a:srgbClr val="FFFFFF"/>
          </a:solidFill>
          <a:ln w="12700">
            <a:solidFill>
              <a:srgbClr val="E4E1D6"/>
            </a:solidFill>
            <a:prstDash val="solid"/>
          </a:ln>
        </p:spPr>
      </p:sp>
      <p:sp>
        <p:nvSpPr>
          <p:cNvPr id="16" name="Shape 14"/>
          <p:cNvSpPr/>
          <p:nvPr/>
        </p:nvSpPr>
        <p:spPr>
          <a:xfrm>
            <a:off x="8330184" y="1435608"/>
            <a:ext cx="402336" cy="402336"/>
          </a:xfrm>
          <a:prstGeom prst="ellipse">
            <a:avLst/>
          </a:prstGeom>
          <a:solidFill>
            <a:srgbClr val="E7EFF1"/>
          </a:solidFill>
          <a:ln/>
        </p:spPr>
      </p:sp>
      <p:sp>
        <p:nvSpPr>
          <p:cNvPr id="17" name="Text 15"/>
          <p:cNvSpPr txBox="1"/>
          <p:nvPr/>
        </p:nvSpPr>
        <p:spPr>
          <a:xfrm>
            <a:off x="8330184" y="1435608"/>
            <a:ext cx="402336" cy="402336"/>
          </a:xfrm>
          <a:prstGeom prst="rect">
            <a:avLst/>
          </a:prstGeom>
          <a:noFill/>
          <a:ln/>
        </p:spPr>
        <p:txBody>
          <a:bodyPr wrap="square"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8878824" y="1435608"/>
            <a:ext cx="2560320" cy="402336"/>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Backend</a:t>
            </a:r>
            <a:endParaRPr lang="en-US" sz="1100" dirty="0"/>
          </a:p>
        </p:txBody>
      </p:sp>
      <p:sp>
        <p:nvSpPr>
          <p:cNvPr id="19" name="Text 17"/>
          <p:cNvSpPr txBox="1"/>
          <p:nvPr/>
        </p:nvSpPr>
        <p:spPr>
          <a:xfrm>
            <a:off x="8375904" y="1984248"/>
            <a:ext cx="3063240" cy="502920"/>
          </a:xfrm>
          <a:prstGeom prst="rect">
            <a:avLst/>
          </a:prstGeom>
          <a:noFill/>
          <a:ln/>
        </p:spPr>
        <p:txBody>
          <a:bodyPr wrap="square" rtlCol="0" anchor="ctr"/>
          <a:lstStyle/>
          <a:p>
            <a:pPr indent="0" marL="0">
              <a:lnSpc>
                <a:spcPts val="1600"/>
              </a:lnSpc>
              <a:buNone/>
            </a:pPr>
            <a:r>
              <a:rPr lang="en-US" sz="1350" b="1" dirty="0">
                <a:solidFill>
                  <a:srgbClr val="10293E"/>
                </a:solidFill>
                <a:latin typeface="Cambria" pitchFamily="34" charset="0"/>
                <a:ea typeface="Cambria" pitchFamily="34" charset="-122"/>
                <a:cs typeface="Cambria" pitchFamily="34" charset="-120"/>
              </a:rPr>
              <a:t>Python · FastAPI</a:t>
            </a:r>
            <a:endParaRPr lang="en-US" sz="1350" dirty="0"/>
          </a:p>
        </p:txBody>
      </p:sp>
      <p:sp>
        <p:nvSpPr>
          <p:cNvPr id="20" name="Text 18"/>
          <p:cNvSpPr txBox="1"/>
          <p:nvPr/>
        </p:nvSpPr>
        <p:spPr>
          <a:xfrm>
            <a:off x="8375904" y="2395728"/>
            <a:ext cx="3063240" cy="32004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REST API layer</a:t>
            </a:r>
            <a:endParaRPr lang="en-US" sz="1050" dirty="0"/>
          </a:p>
        </p:txBody>
      </p:sp>
      <p:sp>
        <p:nvSpPr>
          <p:cNvPr id="21" name="Shape 19"/>
          <p:cNvSpPr/>
          <p:nvPr/>
        </p:nvSpPr>
        <p:spPr>
          <a:xfrm>
            <a:off x="548640" y="2999232"/>
            <a:ext cx="3520440" cy="1508760"/>
          </a:xfrm>
          <a:prstGeom prst="roundRect">
            <a:avLst>
              <a:gd name="adj" fmla="val 6061"/>
            </a:avLst>
          </a:prstGeom>
          <a:solidFill>
            <a:srgbClr val="FFFFFF"/>
          </a:solidFill>
          <a:ln w="12700">
            <a:solidFill>
              <a:srgbClr val="E4E1D6"/>
            </a:solidFill>
            <a:prstDash val="solid"/>
          </a:ln>
        </p:spPr>
      </p:sp>
      <p:sp>
        <p:nvSpPr>
          <p:cNvPr id="22" name="Shape 20"/>
          <p:cNvSpPr/>
          <p:nvPr/>
        </p:nvSpPr>
        <p:spPr>
          <a:xfrm>
            <a:off x="777240" y="3200400"/>
            <a:ext cx="402336" cy="402336"/>
          </a:xfrm>
          <a:prstGeom prst="ellipse">
            <a:avLst/>
          </a:prstGeom>
          <a:solidFill>
            <a:srgbClr val="E7EFF1"/>
          </a:solidFill>
          <a:ln/>
        </p:spPr>
      </p:sp>
      <p:sp>
        <p:nvSpPr>
          <p:cNvPr id="23" name="Text 21"/>
          <p:cNvSpPr txBox="1"/>
          <p:nvPr/>
        </p:nvSpPr>
        <p:spPr>
          <a:xfrm>
            <a:off x="777240" y="3200400"/>
            <a:ext cx="402336" cy="402336"/>
          </a:xfrm>
          <a:prstGeom prst="rect">
            <a:avLst/>
          </a:prstGeom>
          <a:noFill/>
          <a:ln/>
        </p:spPr>
        <p:txBody>
          <a:bodyPr wrap="square"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325880" y="3200400"/>
            <a:ext cx="2560320" cy="402336"/>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Retrieval</a:t>
            </a:r>
            <a:endParaRPr lang="en-US" sz="1100" dirty="0"/>
          </a:p>
        </p:txBody>
      </p:sp>
      <p:sp>
        <p:nvSpPr>
          <p:cNvPr id="25" name="Text 23"/>
          <p:cNvSpPr txBox="1"/>
          <p:nvPr/>
        </p:nvSpPr>
        <p:spPr>
          <a:xfrm>
            <a:off x="822960" y="3749040"/>
            <a:ext cx="3063240" cy="502920"/>
          </a:xfrm>
          <a:prstGeom prst="rect">
            <a:avLst/>
          </a:prstGeom>
          <a:noFill/>
          <a:ln/>
        </p:spPr>
        <p:txBody>
          <a:bodyPr wrap="square" rtlCol="0" anchor="ctr"/>
          <a:lstStyle/>
          <a:p>
            <a:pPr indent="0" marL="0">
              <a:lnSpc>
                <a:spcPts val="1600"/>
              </a:lnSpc>
              <a:buNone/>
            </a:pPr>
            <a:r>
              <a:rPr lang="en-US" sz="1350" b="1" dirty="0">
                <a:solidFill>
                  <a:srgbClr val="10293E"/>
                </a:solidFill>
                <a:latin typeface="Cambria" pitchFamily="34" charset="0"/>
                <a:ea typeface="Cambria" pitchFamily="34" charset="-122"/>
                <a:cs typeface="Cambria" pitchFamily="34" charset="-120"/>
              </a:rPr>
              <a:t>TF-IDF, upgradeable to FAISS / Chroma</a:t>
            </a:r>
            <a:endParaRPr lang="en-US" sz="1350" dirty="0"/>
          </a:p>
        </p:txBody>
      </p:sp>
      <p:sp>
        <p:nvSpPr>
          <p:cNvPr id="26" name="Text 24"/>
          <p:cNvSpPr txBox="1"/>
          <p:nvPr/>
        </p:nvSpPr>
        <p:spPr>
          <a:xfrm>
            <a:off x="822960" y="4160520"/>
            <a:ext cx="3063240" cy="32004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Evidence search</a:t>
            </a:r>
            <a:endParaRPr lang="en-US" sz="1050" dirty="0"/>
          </a:p>
        </p:txBody>
      </p:sp>
      <p:sp>
        <p:nvSpPr>
          <p:cNvPr id="27" name="Shape 25"/>
          <p:cNvSpPr/>
          <p:nvPr/>
        </p:nvSpPr>
        <p:spPr>
          <a:xfrm>
            <a:off x="4325112" y="2999232"/>
            <a:ext cx="3520440" cy="1508760"/>
          </a:xfrm>
          <a:prstGeom prst="roundRect">
            <a:avLst>
              <a:gd name="adj" fmla="val 6061"/>
            </a:avLst>
          </a:prstGeom>
          <a:solidFill>
            <a:srgbClr val="FFFFFF"/>
          </a:solidFill>
          <a:ln w="12700">
            <a:solidFill>
              <a:srgbClr val="E4E1D6"/>
            </a:solidFill>
            <a:prstDash val="solid"/>
          </a:ln>
        </p:spPr>
      </p:sp>
      <p:sp>
        <p:nvSpPr>
          <p:cNvPr id="28" name="Shape 26"/>
          <p:cNvSpPr/>
          <p:nvPr/>
        </p:nvSpPr>
        <p:spPr>
          <a:xfrm>
            <a:off x="4553712" y="3200400"/>
            <a:ext cx="402336" cy="402336"/>
          </a:xfrm>
          <a:prstGeom prst="ellipse">
            <a:avLst/>
          </a:prstGeom>
          <a:solidFill>
            <a:srgbClr val="E7EFF1"/>
          </a:solidFill>
          <a:ln/>
        </p:spPr>
      </p:sp>
      <p:sp>
        <p:nvSpPr>
          <p:cNvPr id="29" name="Text 27"/>
          <p:cNvSpPr txBox="1"/>
          <p:nvPr/>
        </p:nvSpPr>
        <p:spPr>
          <a:xfrm>
            <a:off x="4553712" y="3200400"/>
            <a:ext cx="402336" cy="402336"/>
          </a:xfrm>
          <a:prstGeom prst="rect">
            <a:avLst/>
          </a:prstGeom>
          <a:noFill/>
          <a:ln/>
        </p:spPr>
        <p:txBody>
          <a:bodyPr wrap="square"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5</a:t>
            </a:r>
            <a:endParaRPr lang="en-US" sz="1400" dirty="0"/>
          </a:p>
        </p:txBody>
      </p:sp>
      <p:sp>
        <p:nvSpPr>
          <p:cNvPr id="30" name="Text 28"/>
          <p:cNvSpPr txBox="1"/>
          <p:nvPr/>
        </p:nvSpPr>
        <p:spPr>
          <a:xfrm>
            <a:off x="5102352" y="3200400"/>
            <a:ext cx="2560320" cy="402336"/>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AI / NLP</a:t>
            </a:r>
            <a:endParaRPr lang="en-US" sz="1100" dirty="0"/>
          </a:p>
        </p:txBody>
      </p:sp>
      <p:sp>
        <p:nvSpPr>
          <p:cNvPr id="31" name="Text 29"/>
          <p:cNvSpPr txBox="1"/>
          <p:nvPr/>
        </p:nvSpPr>
        <p:spPr>
          <a:xfrm>
            <a:off x="4599432" y="3749040"/>
            <a:ext cx="3063240" cy="502920"/>
          </a:xfrm>
          <a:prstGeom prst="rect">
            <a:avLst/>
          </a:prstGeom>
          <a:noFill/>
          <a:ln/>
        </p:spPr>
        <p:txBody>
          <a:bodyPr wrap="square" rtlCol="0" anchor="ctr"/>
          <a:lstStyle/>
          <a:p>
            <a:pPr indent="0" marL="0">
              <a:lnSpc>
                <a:spcPts val="1600"/>
              </a:lnSpc>
              <a:buNone/>
            </a:pPr>
            <a:r>
              <a:rPr lang="en-US" sz="1350" b="1" dirty="0">
                <a:solidFill>
                  <a:srgbClr val="10293E"/>
                </a:solidFill>
                <a:latin typeface="Cambria" pitchFamily="34" charset="0"/>
                <a:ea typeface="Cambria" pitchFamily="34" charset="-122"/>
                <a:cs typeface="Cambria" pitchFamily="34" charset="-120"/>
              </a:rPr>
              <a:t>Transformers · NLI model</a:t>
            </a:r>
            <a:endParaRPr lang="en-US" sz="1350" dirty="0"/>
          </a:p>
        </p:txBody>
      </p:sp>
      <p:sp>
        <p:nvSpPr>
          <p:cNvPr id="32" name="Text 30"/>
          <p:cNvSpPr txBox="1"/>
          <p:nvPr/>
        </p:nvSpPr>
        <p:spPr>
          <a:xfrm>
            <a:off x="4599432" y="4160520"/>
            <a:ext cx="3063240" cy="32004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Claim understanding &amp; comparison</a:t>
            </a:r>
            <a:endParaRPr lang="en-US" sz="1050" dirty="0"/>
          </a:p>
        </p:txBody>
      </p:sp>
      <p:sp>
        <p:nvSpPr>
          <p:cNvPr id="33" name="Shape 31"/>
          <p:cNvSpPr/>
          <p:nvPr/>
        </p:nvSpPr>
        <p:spPr>
          <a:xfrm>
            <a:off x="8101584" y="2999232"/>
            <a:ext cx="3520440" cy="1508760"/>
          </a:xfrm>
          <a:prstGeom prst="roundRect">
            <a:avLst>
              <a:gd name="adj" fmla="val 6061"/>
            </a:avLst>
          </a:prstGeom>
          <a:solidFill>
            <a:srgbClr val="FFFFFF"/>
          </a:solidFill>
          <a:ln w="12700">
            <a:solidFill>
              <a:srgbClr val="E4E1D6"/>
            </a:solidFill>
            <a:prstDash val="solid"/>
          </a:ln>
        </p:spPr>
      </p:sp>
      <p:sp>
        <p:nvSpPr>
          <p:cNvPr id="34" name="Shape 32"/>
          <p:cNvSpPr/>
          <p:nvPr/>
        </p:nvSpPr>
        <p:spPr>
          <a:xfrm>
            <a:off x="8330184" y="3200400"/>
            <a:ext cx="402336" cy="402336"/>
          </a:xfrm>
          <a:prstGeom prst="ellipse">
            <a:avLst/>
          </a:prstGeom>
          <a:solidFill>
            <a:srgbClr val="E7EFF1"/>
          </a:solidFill>
          <a:ln/>
        </p:spPr>
      </p:sp>
      <p:sp>
        <p:nvSpPr>
          <p:cNvPr id="35" name="Text 33"/>
          <p:cNvSpPr txBox="1"/>
          <p:nvPr/>
        </p:nvSpPr>
        <p:spPr>
          <a:xfrm>
            <a:off x="8330184" y="3200400"/>
            <a:ext cx="402336" cy="402336"/>
          </a:xfrm>
          <a:prstGeom prst="rect">
            <a:avLst/>
          </a:prstGeom>
          <a:noFill/>
          <a:ln/>
        </p:spPr>
        <p:txBody>
          <a:bodyPr wrap="square"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6</a:t>
            </a:r>
            <a:endParaRPr lang="en-US" sz="1400" dirty="0"/>
          </a:p>
        </p:txBody>
      </p:sp>
      <p:sp>
        <p:nvSpPr>
          <p:cNvPr id="36" name="Text 34"/>
          <p:cNvSpPr txBox="1"/>
          <p:nvPr/>
        </p:nvSpPr>
        <p:spPr>
          <a:xfrm>
            <a:off x="8878824" y="3200400"/>
            <a:ext cx="2560320" cy="402336"/>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Database</a:t>
            </a:r>
            <a:endParaRPr lang="en-US" sz="1100" dirty="0"/>
          </a:p>
        </p:txBody>
      </p:sp>
      <p:sp>
        <p:nvSpPr>
          <p:cNvPr id="37" name="Text 35"/>
          <p:cNvSpPr txBox="1"/>
          <p:nvPr/>
        </p:nvSpPr>
        <p:spPr>
          <a:xfrm>
            <a:off x="8375904" y="3749040"/>
            <a:ext cx="3063240" cy="502920"/>
          </a:xfrm>
          <a:prstGeom prst="rect">
            <a:avLst/>
          </a:prstGeom>
          <a:noFill/>
          <a:ln/>
        </p:spPr>
        <p:txBody>
          <a:bodyPr wrap="square" rtlCol="0" anchor="ctr"/>
          <a:lstStyle/>
          <a:p>
            <a:pPr indent="0" marL="0">
              <a:lnSpc>
                <a:spcPts val="1600"/>
              </a:lnSpc>
              <a:buNone/>
            </a:pPr>
            <a:r>
              <a:rPr lang="en-US" sz="1350" b="1" dirty="0">
                <a:solidFill>
                  <a:srgbClr val="10293E"/>
                </a:solidFill>
                <a:latin typeface="Cambria" pitchFamily="34" charset="0"/>
                <a:ea typeface="Cambria" pitchFamily="34" charset="-122"/>
                <a:cs typeface="Cambria" pitchFamily="34" charset="-120"/>
              </a:rPr>
              <a:t>PostgreSQL</a:t>
            </a:r>
            <a:endParaRPr lang="en-US" sz="1350" dirty="0"/>
          </a:p>
        </p:txBody>
      </p:sp>
      <p:sp>
        <p:nvSpPr>
          <p:cNvPr id="38" name="Text 36"/>
          <p:cNvSpPr txBox="1"/>
          <p:nvPr/>
        </p:nvSpPr>
        <p:spPr>
          <a:xfrm>
            <a:off x="8375904" y="4160520"/>
            <a:ext cx="3063240" cy="320040"/>
          </a:xfrm>
          <a:prstGeom prst="rect">
            <a:avLst/>
          </a:prstGeom>
          <a:noFill/>
          <a:ln/>
        </p:spPr>
        <p:txBody>
          <a:bodyPr wrap="square" rtlCol="0" anchor="ctr"/>
          <a:lstStyle/>
          <a:p>
            <a:pPr indent="0" marL="0">
              <a:buNone/>
            </a:pPr>
            <a:r>
              <a:rPr lang="en-US" sz="1050" dirty="0">
                <a:solidFill>
                  <a:srgbClr val="5A6B7A"/>
                </a:solidFill>
                <a:latin typeface="Calibri" pitchFamily="34" charset="0"/>
                <a:ea typeface="Calibri" pitchFamily="34" charset="-122"/>
                <a:cs typeface="Calibri" pitchFamily="34" charset="-120"/>
              </a:rPr>
              <a:t>Scan history, reports</a:t>
            </a:r>
            <a:endParaRPr lang="en-US" sz="1050" dirty="0"/>
          </a:p>
        </p:txBody>
      </p:sp>
      <p:sp>
        <p:nvSpPr>
          <p:cNvPr id="39" name="Text 37"/>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Sample Model Output</a:t>
            </a:r>
            <a:endParaRPr lang="en-US" sz="3000" dirty="0"/>
          </a:p>
        </p:txBody>
      </p:sp>
      <p:sp>
        <p:nvSpPr>
          <p:cNvPr id="3" name="Text 1"/>
          <p:cNvSpPr txBox="1"/>
          <p:nvPr/>
        </p:nvSpPr>
        <p:spPr>
          <a:xfrm>
            <a:off x="548640" y="1097280"/>
            <a:ext cx="11064240" cy="365760"/>
          </a:xfrm>
          <a:prstGeom prst="rect">
            <a:avLst/>
          </a:prstGeom>
          <a:noFill/>
          <a:ln/>
        </p:spPr>
        <p:txBody>
          <a:bodyPr wrap="square" rtlCol="0" anchor="ctr"/>
          <a:lstStyle/>
          <a:p>
            <a:pPr indent="0" marL="0">
              <a:buNone/>
            </a:pPr>
            <a:r>
              <a:rPr lang="en-US" sz="1400" i="1" dirty="0">
                <a:solidFill>
                  <a:srgbClr val="5A6B7A"/>
                </a:solidFill>
                <a:latin typeface="Cambria" pitchFamily="34" charset="0"/>
                <a:ea typeface="Cambria" pitchFamily="34" charset="-122"/>
                <a:cs typeface="Cambria" pitchFamily="34" charset="-120"/>
              </a:rPr>
              <a:t>Claim: “Drinking coffee completely prevents heart disease”</a:t>
            </a:r>
            <a:endParaRPr lang="en-US" sz="1400" dirty="0"/>
          </a:p>
        </p:txBody>
      </p:sp>
      <p:sp>
        <p:nvSpPr>
          <p:cNvPr id="4" name="Shape 2"/>
          <p:cNvSpPr/>
          <p:nvPr/>
        </p:nvSpPr>
        <p:spPr>
          <a:xfrm>
            <a:off x="548640" y="1600200"/>
            <a:ext cx="11064240" cy="4709160"/>
          </a:xfrm>
          <a:prstGeom prst="roundRect">
            <a:avLst>
              <a:gd name="adj" fmla="val 1942"/>
            </a:avLst>
          </a:prstGeom>
          <a:solidFill>
            <a:srgbClr val="FFFFFF"/>
          </a:solidFill>
          <a:ln w="12700">
            <a:solidFill>
              <a:srgbClr val="E4E1D6"/>
            </a:solidFill>
            <a:prstDash val="solid"/>
          </a:ln>
        </p:spPr>
      </p:sp>
      <p:sp>
        <p:nvSpPr>
          <p:cNvPr id="5" name="Shape 3"/>
          <p:cNvSpPr/>
          <p:nvPr/>
        </p:nvSpPr>
        <p:spPr>
          <a:xfrm>
            <a:off x="914400" y="1920240"/>
            <a:ext cx="1920240" cy="457200"/>
          </a:xfrm>
          <a:prstGeom prst="roundRect">
            <a:avLst>
              <a:gd name="adj" fmla="val 50000"/>
            </a:avLst>
          </a:prstGeom>
          <a:solidFill>
            <a:srgbClr val="FCE6D9"/>
          </a:solidFill>
          <a:ln/>
        </p:spPr>
      </p:sp>
      <p:sp>
        <p:nvSpPr>
          <p:cNvPr id="6" name="Text 4"/>
          <p:cNvSpPr txBox="1"/>
          <p:nvPr/>
        </p:nvSpPr>
        <p:spPr>
          <a:xfrm>
            <a:off x="914400" y="1920240"/>
            <a:ext cx="1920240" cy="457200"/>
          </a:xfrm>
          <a:prstGeom prst="rect">
            <a:avLst/>
          </a:prstGeom>
          <a:noFill/>
          <a:ln/>
        </p:spPr>
        <p:txBody>
          <a:bodyPr wrap="square" rtlCol="0" anchor="ctr"/>
          <a:lstStyle/>
          <a:p>
            <a:pPr algn="ctr" indent="0" marL="0">
              <a:buNone/>
            </a:pPr>
            <a:r>
              <a:rPr lang="en-US" sz="1150" b="1" dirty="0">
                <a:solidFill>
                  <a:srgbClr val="C2410C"/>
                </a:solidFill>
                <a:latin typeface="Calibri" pitchFamily="34" charset="0"/>
                <a:ea typeface="Calibri" pitchFamily="34" charset="-122"/>
                <a:cs typeface="Calibri" pitchFamily="34" charset="-120"/>
              </a:rPr>
              <a:t>CONTRADICTED</a:t>
            </a:r>
            <a:endParaRPr lang="en-US" sz="1150" dirty="0"/>
          </a:p>
        </p:txBody>
      </p:sp>
      <p:sp>
        <p:nvSpPr>
          <p:cNvPr id="7" name="Text 5"/>
          <p:cNvSpPr txBox="1"/>
          <p:nvPr/>
        </p:nvSpPr>
        <p:spPr>
          <a:xfrm>
            <a:off x="3108960" y="1920240"/>
            <a:ext cx="3200400" cy="457200"/>
          </a:xfrm>
          <a:prstGeom prst="rect">
            <a:avLst/>
          </a:prstGeom>
          <a:noFill/>
          <a:ln/>
        </p:spPr>
        <p:txBody>
          <a:bodyPr wrap="square" rtlCol="0" anchor="ctr"/>
          <a:lstStyle/>
          <a:p>
            <a:pPr indent="0" marL="0">
              <a:buNone/>
            </a:pPr>
            <a:r>
              <a:rPr lang="en-US" sz="1250" dirty="0">
                <a:solidFill>
                  <a:srgbClr val="5A6B7A"/>
                </a:solidFill>
                <a:latin typeface="Calibri" pitchFamily="34" charset="0"/>
                <a:ea typeface="Calibri" pitchFamily="34" charset="-122"/>
                <a:cs typeface="Calibri" pitchFamily="34" charset="-120"/>
              </a:rPr>
              <a:t>Verification confidence: 91%</a:t>
            </a:r>
            <a:endParaRPr lang="en-US" sz="1250" dirty="0"/>
          </a:p>
        </p:txBody>
      </p:sp>
      <p:sp>
        <p:nvSpPr>
          <p:cNvPr id="8" name="Text 6"/>
          <p:cNvSpPr txBox="1"/>
          <p:nvPr/>
        </p:nvSpPr>
        <p:spPr>
          <a:xfrm>
            <a:off x="914400" y="2651760"/>
            <a:ext cx="2377440" cy="320040"/>
          </a:xfrm>
          <a:prstGeom prst="rect">
            <a:avLst/>
          </a:prstGeom>
          <a:noFill/>
          <a:ln/>
        </p:spPr>
        <p:txBody>
          <a:bodyPr wrap="square" rtlCol="0" anchor="ctr"/>
          <a:lstStyle/>
          <a:p>
            <a:pPr indent="0" marL="0">
              <a:buNone/>
            </a:pPr>
            <a:r>
              <a:rPr lang="en-US" sz="1100" dirty="0">
                <a:solidFill>
                  <a:srgbClr val="10293E"/>
                </a:solidFill>
                <a:latin typeface="Calibri" pitchFamily="34" charset="0"/>
                <a:ea typeface="Calibri" pitchFamily="34" charset="-122"/>
                <a:cs typeface="Calibri" pitchFamily="34" charset="-120"/>
              </a:rPr>
              <a:t>Claim accuracy</a:t>
            </a:r>
            <a:endParaRPr lang="en-US" sz="1100" dirty="0"/>
          </a:p>
        </p:txBody>
      </p:sp>
      <p:sp>
        <p:nvSpPr>
          <p:cNvPr id="9" name="Shape 7"/>
          <p:cNvSpPr/>
          <p:nvPr/>
        </p:nvSpPr>
        <p:spPr>
          <a:xfrm>
            <a:off x="3383280" y="2724912"/>
            <a:ext cx="2377440" cy="164592"/>
          </a:xfrm>
          <a:prstGeom prst="roundRect">
            <a:avLst>
              <a:gd name="adj" fmla="val 50000"/>
            </a:avLst>
          </a:prstGeom>
          <a:solidFill>
            <a:srgbClr val="EDEBE1"/>
          </a:solidFill>
          <a:ln/>
        </p:spPr>
      </p:sp>
      <p:sp>
        <p:nvSpPr>
          <p:cNvPr id="10" name="Shape 8"/>
          <p:cNvSpPr/>
          <p:nvPr/>
        </p:nvSpPr>
        <p:spPr>
          <a:xfrm>
            <a:off x="3383280" y="2724912"/>
            <a:ext cx="213970" cy="164592"/>
          </a:xfrm>
          <a:prstGeom prst="roundRect">
            <a:avLst>
              <a:gd name="adj" fmla="val 50000"/>
            </a:avLst>
          </a:prstGeom>
          <a:solidFill>
            <a:srgbClr val="C2410C"/>
          </a:solidFill>
          <a:ln/>
        </p:spPr>
      </p:sp>
      <p:sp>
        <p:nvSpPr>
          <p:cNvPr id="11" name="Text 9"/>
          <p:cNvSpPr txBox="1"/>
          <p:nvPr/>
        </p:nvSpPr>
        <p:spPr>
          <a:xfrm>
            <a:off x="5852160" y="2651760"/>
            <a:ext cx="457200" cy="320040"/>
          </a:xfrm>
          <a:prstGeom prst="rect">
            <a:avLst/>
          </a:prstGeom>
          <a:noFill/>
          <a:ln/>
        </p:spPr>
        <p:txBody>
          <a:bodyPr wrap="square" rtlCol="0" anchor="ctr"/>
          <a:lstStyle/>
          <a:p>
            <a:pPr indent="0" marL="0">
              <a:buNone/>
            </a:pPr>
            <a:r>
              <a:rPr lang="en-US" sz="1100" b="1" dirty="0">
                <a:solidFill>
                  <a:srgbClr val="10293E"/>
                </a:solidFill>
                <a:latin typeface="Calibri" pitchFamily="34" charset="0"/>
                <a:ea typeface="Calibri" pitchFamily="34" charset="-122"/>
                <a:cs typeface="Calibri" pitchFamily="34" charset="-120"/>
              </a:rPr>
              <a:t>9</a:t>
            </a:r>
            <a:endParaRPr lang="en-US" sz="1100" dirty="0"/>
          </a:p>
        </p:txBody>
      </p:sp>
      <p:sp>
        <p:nvSpPr>
          <p:cNvPr id="12" name="Text 10"/>
          <p:cNvSpPr txBox="1"/>
          <p:nvPr/>
        </p:nvSpPr>
        <p:spPr>
          <a:xfrm>
            <a:off x="914400" y="3108960"/>
            <a:ext cx="2377440" cy="320040"/>
          </a:xfrm>
          <a:prstGeom prst="rect">
            <a:avLst/>
          </a:prstGeom>
          <a:noFill/>
          <a:ln/>
        </p:spPr>
        <p:txBody>
          <a:bodyPr wrap="square" rtlCol="0" anchor="ctr"/>
          <a:lstStyle/>
          <a:p>
            <a:pPr indent="0" marL="0">
              <a:buNone/>
            </a:pPr>
            <a:r>
              <a:rPr lang="en-US" sz="1100" dirty="0">
                <a:solidFill>
                  <a:srgbClr val="10293E"/>
                </a:solidFill>
                <a:latin typeface="Calibri" pitchFamily="34" charset="0"/>
                <a:ea typeface="Calibri" pitchFamily="34" charset="-122"/>
                <a:cs typeface="Calibri" pitchFamily="34" charset="-120"/>
              </a:rPr>
              <a:t>Source credibility</a:t>
            </a:r>
            <a:endParaRPr lang="en-US" sz="1100" dirty="0"/>
          </a:p>
        </p:txBody>
      </p:sp>
      <p:sp>
        <p:nvSpPr>
          <p:cNvPr id="13" name="Shape 11"/>
          <p:cNvSpPr/>
          <p:nvPr/>
        </p:nvSpPr>
        <p:spPr>
          <a:xfrm>
            <a:off x="3383280" y="3182112"/>
            <a:ext cx="2377440" cy="164592"/>
          </a:xfrm>
          <a:prstGeom prst="roundRect">
            <a:avLst>
              <a:gd name="adj" fmla="val 50000"/>
            </a:avLst>
          </a:prstGeom>
          <a:solidFill>
            <a:srgbClr val="EDEBE1"/>
          </a:solidFill>
          <a:ln/>
        </p:spPr>
      </p:sp>
      <p:sp>
        <p:nvSpPr>
          <p:cNvPr id="14" name="Shape 12"/>
          <p:cNvSpPr/>
          <p:nvPr/>
        </p:nvSpPr>
        <p:spPr>
          <a:xfrm>
            <a:off x="3383280" y="3182112"/>
            <a:ext cx="2092147" cy="164592"/>
          </a:xfrm>
          <a:prstGeom prst="roundRect">
            <a:avLst>
              <a:gd name="adj" fmla="val 50000"/>
            </a:avLst>
          </a:prstGeom>
          <a:solidFill>
            <a:srgbClr val="1F8A54"/>
          </a:solidFill>
          <a:ln/>
        </p:spPr>
      </p:sp>
      <p:sp>
        <p:nvSpPr>
          <p:cNvPr id="15" name="Text 13"/>
          <p:cNvSpPr txBox="1"/>
          <p:nvPr/>
        </p:nvSpPr>
        <p:spPr>
          <a:xfrm>
            <a:off x="5852160" y="3108960"/>
            <a:ext cx="457200" cy="320040"/>
          </a:xfrm>
          <a:prstGeom prst="rect">
            <a:avLst/>
          </a:prstGeom>
          <a:noFill/>
          <a:ln/>
        </p:spPr>
        <p:txBody>
          <a:bodyPr wrap="square" rtlCol="0" anchor="ctr"/>
          <a:lstStyle/>
          <a:p>
            <a:pPr indent="0" marL="0">
              <a:buNone/>
            </a:pPr>
            <a:r>
              <a:rPr lang="en-US" sz="1100" b="1" dirty="0">
                <a:solidFill>
                  <a:srgbClr val="10293E"/>
                </a:solidFill>
                <a:latin typeface="Calibri" pitchFamily="34" charset="0"/>
                <a:ea typeface="Calibri" pitchFamily="34" charset="-122"/>
                <a:cs typeface="Calibri" pitchFamily="34" charset="-120"/>
              </a:rPr>
              <a:t>88</a:t>
            </a:r>
            <a:endParaRPr lang="en-US" sz="1100" dirty="0"/>
          </a:p>
        </p:txBody>
      </p:sp>
      <p:sp>
        <p:nvSpPr>
          <p:cNvPr id="16" name="Text 14"/>
          <p:cNvSpPr txBox="1"/>
          <p:nvPr/>
        </p:nvSpPr>
        <p:spPr>
          <a:xfrm>
            <a:off x="914400" y="3566160"/>
            <a:ext cx="2377440" cy="320040"/>
          </a:xfrm>
          <a:prstGeom prst="rect">
            <a:avLst/>
          </a:prstGeom>
          <a:noFill/>
          <a:ln/>
        </p:spPr>
        <p:txBody>
          <a:bodyPr wrap="square" rtlCol="0" anchor="ctr"/>
          <a:lstStyle/>
          <a:p>
            <a:pPr indent="0" marL="0">
              <a:buNone/>
            </a:pPr>
            <a:r>
              <a:rPr lang="en-US" sz="1100" dirty="0">
                <a:solidFill>
                  <a:srgbClr val="10293E"/>
                </a:solidFill>
                <a:latin typeface="Calibri" pitchFamily="34" charset="0"/>
                <a:ea typeface="Calibri" pitchFamily="34" charset="-122"/>
                <a:cs typeface="Calibri" pitchFamily="34" charset="-120"/>
              </a:rPr>
              <a:t>Scam risk</a:t>
            </a:r>
            <a:endParaRPr lang="en-US" sz="1100" dirty="0"/>
          </a:p>
        </p:txBody>
      </p:sp>
      <p:sp>
        <p:nvSpPr>
          <p:cNvPr id="17" name="Shape 15"/>
          <p:cNvSpPr/>
          <p:nvPr/>
        </p:nvSpPr>
        <p:spPr>
          <a:xfrm>
            <a:off x="3383280" y="3639312"/>
            <a:ext cx="2377440" cy="164592"/>
          </a:xfrm>
          <a:prstGeom prst="roundRect">
            <a:avLst>
              <a:gd name="adj" fmla="val 50000"/>
            </a:avLst>
          </a:prstGeom>
          <a:solidFill>
            <a:srgbClr val="EDEBE1"/>
          </a:solidFill>
          <a:ln/>
        </p:spPr>
      </p:sp>
      <p:sp>
        <p:nvSpPr>
          <p:cNvPr id="18" name="Shape 16"/>
          <p:cNvSpPr/>
          <p:nvPr/>
        </p:nvSpPr>
        <p:spPr>
          <a:xfrm>
            <a:off x="3383280" y="3639312"/>
            <a:ext cx="118872" cy="164592"/>
          </a:xfrm>
          <a:prstGeom prst="roundRect">
            <a:avLst>
              <a:gd name="adj" fmla="val 69231"/>
            </a:avLst>
          </a:prstGeom>
          <a:solidFill>
            <a:srgbClr val="1F8A54"/>
          </a:solidFill>
          <a:ln/>
        </p:spPr>
      </p:sp>
      <p:sp>
        <p:nvSpPr>
          <p:cNvPr id="19" name="Text 17"/>
          <p:cNvSpPr txBox="1"/>
          <p:nvPr/>
        </p:nvSpPr>
        <p:spPr>
          <a:xfrm>
            <a:off x="5852160" y="3566160"/>
            <a:ext cx="457200" cy="320040"/>
          </a:xfrm>
          <a:prstGeom prst="rect">
            <a:avLst/>
          </a:prstGeom>
          <a:noFill/>
          <a:ln/>
        </p:spPr>
        <p:txBody>
          <a:bodyPr wrap="square" rtlCol="0" anchor="ctr"/>
          <a:lstStyle/>
          <a:p>
            <a:pPr indent="0" marL="0">
              <a:buNone/>
            </a:pPr>
            <a:r>
              <a:rPr lang="en-US" sz="1100" b="1" dirty="0">
                <a:solidFill>
                  <a:srgbClr val="10293E"/>
                </a:solidFill>
                <a:latin typeface="Calibri" pitchFamily="34" charset="0"/>
                <a:ea typeface="Calibri" pitchFamily="34" charset="-122"/>
                <a:cs typeface="Calibri" pitchFamily="34" charset="-120"/>
              </a:rPr>
              <a:t>5</a:t>
            </a:r>
            <a:endParaRPr lang="en-US" sz="1100" dirty="0"/>
          </a:p>
        </p:txBody>
      </p:sp>
      <p:sp>
        <p:nvSpPr>
          <p:cNvPr id="20" name="Text 18"/>
          <p:cNvSpPr txBox="1"/>
          <p:nvPr/>
        </p:nvSpPr>
        <p:spPr>
          <a:xfrm>
            <a:off x="914400" y="4023360"/>
            <a:ext cx="2377440" cy="320040"/>
          </a:xfrm>
          <a:prstGeom prst="rect">
            <a:avLst/>
          </a:prstGeom>
          <a:noFill/>
          <a:ln/>
        </p:spPr>
        <p:txBody>
          <a:bodyPr wrap="square" rtlCol="0" anchor="ctr"/>
          <a:lstStyle/>
          <a:p>
            <a:pPr indent="0" marL="0">
              <a:buNone/>
            </a:pPr>
            <a:r>
              <a:rPr lang="en-US" sz="1100" dirty="0">
                <a:solidFill>
                  <a:srgbClr val="10293E"/>
                </a:solidFill>
                <a:latin typeface="Calibri" pitchFamily="34" charset="0"/>
                <a:ea typeface="Calibri" pitchFamily="34" charset="-122"/>
                <a:cs typeface="Calibri" pitchFamily="34" charset="-120"/>
              </a:rPr>
              <a:t>Manipulation risk</a:t>
            </a:r>
            <a:endParaRPr lang="en-US" sz="1100" dirty="0"/>
          </a:p>
        </p:txBody>
      </p:sp>
      <p:sp>
        <p:nvSpPr>
          <p:cNvPr id="21" name="Shape 19"/>
          <p:cNvSpPr/>
          <p:nvPr/>
        </p:nvSpPr>
        <p:spPr>
          <a:xfrm>
            <a:off x="3383280" y="4096512"/>
            <a:ext cx="2377440" cy="164592"/>
          </a:xfrm>
          <a:prstGeom prst="roundRect">
            <a:avLst>
              <a:gd name="adj" fmla="val 50000"/>
            </a:avLst>
          </a:prstGeom>
          <a:solidFill>
            <a:srgbClr val="EDEBE1"/>
          </a:solidFill>
          <a:ln/>
        </p:spPr>
      </p:sp>
      <p:sp>
        <p:nvSpPr>
          <p:cNvPr id="22" name="Shape 20"/>
          <p:cNvSpPr/>
          <p:nvPr/>
        </p:nvSpPr>
        <p:spPr>
          <a:xfrm>
            <a:off x="3383280" y="4096512"/>
            <a:ext cx="190195" cy="164592"/>
          </a:xfrm>
          <a:prstGeom prst="roundRect">
            <a:avLst>
              <a:gd name="adj" fmla="val 50000"/>
            </a:avLst>
          </a:prstGeom>
          <a:solidFill>
            <a:srgbClr val="1F8A54"/>
          </a:solidFill>
          <a:ln/>
        </p:spPr>
      </p:sp>
      <p:sp>
        <p:nvSpPr>
          <p:cNvPr id="23" name="Text 21"/>
          <p:cNvSpPr txBox="1"/>
          <p:nvPr/>
        </p:nvSpPr>
        <p:spPr>
          <a:xfrm>
            <a:off x="5852160" y="4023360"/>
            <a:ext cx="457200" cy="320040"/>
          </a:xfrm>
          <a:prstGeom prst="rect">
            <a:avLst/>
          </a:prstGeom>
          <a:noFill/>
          <a:ln/>
        </p:spPr>
        <p:txBody>
          <a:bodyPr wrap="square" rtlCol="0" anchor="ctr"/>
          <a:lstStyle/>
          <a:p>
            <a:pPr indent="0" marL="0">
              <a:buNone/>
            </a:pPr>
            <a:r>
              <a:rPr lang="en-US" sz="1100" b="1" dirty="0">
                <a:solidFill>
                  <a:srgbClr val="10293E"/>
                </a:solidFill>
                <a:latin typeface="Calibri" pitchFamily="34" charset="0"/>
                <a:ea typeface="Calibri" pitchFamily="34" charset="-122"/>
                <a:cs typeface="Calibri" pitchFamily="34" charset="-120"/>
              </a:rPr>
              <a:t>8</a:t>
            </a:r>
            <a:endParaRPr lang="en-US" sz="1100" dirty="0"/>
          </a:p>
        </p:txBody>
      </p:sp>
      <p:sp>
        <p:nvSpPr>
          <p:cNvPr id="24" name="Shape 22"/>
          <p:cNvSpPr/>
          <p:nvPr/>
        </p:nvSpPr>
        <p:spPr>
          <a:xfrm>
            <a:off x="6858000" y="1920240"/>
            <a:ext cx="0" cy="4069080"/>
          </a:xfrm>
          <a:prstGeom prst="line">
            <a:avLst/>
          </a:prstGeom>
          <a:noFill/>
          <a:ln w="12700">
            <a:solidFill>
              <a:srgbClr val="E4E1D6"/>
            </a:solidFill>
            <a:prstDash val="solid"/>
          </a:ln>
        </p:spPr>
      </p:sp>
      <p:sp>
        <p:nvSpPr>
          <p:cNvPr id="25" name="Text 23"/>
          <p:cNvSpPr txBox="1"/>
          <p:nvPr/>
        </p:nvSpPr>
        <p:spPr>
          <a:xfrm>
            <a:off x="7132320" y="1920240"/>
            <a:ext cx="3657600" cy="274320"/>
          </a:xfrm>
          <a:prstGeom prst="rect">
            <a:avLst/>
          </a:prstGeom>
          <a:noFill/>
          <a:ln/>
        </p:spPr>
        <p:txBody>
          <a:bodyPr wrap="square" rtlCol="0" anchor="ctr"/>
          <a:lstStyle/>
          <a:p>
            <a:pPr indent="0" marL="0">
              <a:buNone/>
            </a:pPr>
            <a:r>
              <a:rPr lang="en-US" sz="1100" b="1" dirty="0">
                <a:solidFill>
                  <a:srgbClr val="5A6B7A"/>
                </a:solidFill>
                <a:latin typeface="Calibri" pitchFamily="34" charset="0"/>
                <a:ea typeface="Calibri" pitchFamily="34" charset="-122"/>
                <a:cs typeface="Calibri" pitchFamily="34" charset="-120"/>
              </a:rPr>
              <a:t>Evidence</a:t>
            </a:r>
            <a:endParaRPr lang="en-US" sz="1100" dirty="0"/>
          </a:p>
        </p:txBody>
      </p:sp>
      <p:sp>
        <p:nvSpPr>
          <p:cNvPr id="26" name="Text 24"/>
          <p:cNvSpPr txBox="1"/>
          <p:nvPr/>
        </p:nvSpPr>
        <p:spPr>
          <a:xfrm>
            <a:off x="7132320" y="2286000"/>
            <a:ext cx="3931920" cy="530352"/>
          </a:xfrm>
          <a:prstGeom prst="rect">
            <a:avLst/>
          </a:prstGeom>
          <a:noFill/>
          <a:ln/>
        </p:spPr>
        <p:txBody>
          <a:bodyPr wrap="square" rtlCol="0" anchor="ctr"/>
          <a:lstStyle/>
          <a:p>
            <a:pPr indent="0" marL="0">
              <a:lnSpc>
                <a:spcPts val="1300"/>
              </a:lnSpc>
              <a:buNone/>
            </a:pPr>
            <a:r>
              <a:rPr lang="en-US" sz="1050" dirty="0">
                <a:solidFill>
                  <a:srgbClr val="10293E"/>
                </a:solidFill>
                <a:latin typeface="Calibri" pitchFamily="34" charset="0"/>
                <a:ea typeface="Calibri" pitchFamily="34" charset="-122"/>
                <a:cs typeface="Calibri" pitchFamily="34" charset="-120"/>
              </a:rPr>
              <a:t>— Cochrane review: no evidence of complete prevention, only modest association</a:t>
            </a:r>
            <a:endParaRPr lang="en-US" sz="1050" dirty="0"/>
          </a:p>
        </p:txBody>
      </p:sp>
      <p:sp>
        <p:nvSpPr>
          <p:cNvPr id="27" name="Text 25"/>
          <p:cNvSpPr txBox="1"/>
          <p:nvPr/>
        </p:nvSpPr>
        <p:spPr>
          <a:xfrm>
            <a:off x="7132320" y="2852928"/>
            <a:ext cx="3931920" cy="530352"/>
          </a:xfrm>
          <a:prstGeom prst="rect">
            <a:avLst/>
          </a:prstGeom>
          <a:noFill/>
          <a:ln/>
        </p:spPr>
        <p:txBody>
          <a:bodyPr wrap="square" rtlCol="0" anchor="ctr"/>
          <a:lstStyle/>
          <a:p>
            <a:pPr indent="0" marL="0">
              <a:lnSpc>
                <a:spcPts val="1300"/>
              </a:lnSpc>
              <a:buNone/>
            </a:pPr>
            <a:r>
              <a:rPr lang="en-US" sz="1050" dirty="0">
                <a:solidFill>
                  <a:srgbClr val="10293E"/>
                </a:solidFill>
                <a:latin typeface="Calibri" pitchFamily="34" charset="0"/>
                <a:ea typeface="Calibri" pitchFamily="34" charset="-122"/>
                <a:cs typeface="Calibri" pitchFamily="34" charset="-120"/>
              </a:rPr>
              <a:t>— AHA statement: coffee is one factor among many, not a cure</a:t>
            </a:r>
            <a:endParaRPr lang="en-US" sz="1050" dirty="0"/>
          </a:p>
        </p:txBody>
      </p:sp>
      <p:sp>
        <p:nvSpPr>
          <p:cNvPr id="28" name="Text 26"/>
          <p:cNvSpPr txBox="1"/>
          <p:nvPr/>
        </p:nvSpPr>
        <p:spPr>
          <a:xfrm>
            <a:off x="7132320" y="3749040"/>
            <a:ext cx="3657600" cy="274320"/>
          </a:xfrm>
          <a:prstGeom prst="rect">
            <a:avLst/>
          </a:prstGeom>
          <a:noFill/>
          <a:ln/>
        </p:spPr>
        <p:txBody>
          <a:bodyPr wrap="square" rtlCol="0" anchor="ctr"/>
          <a:lstStyle/>
          <a:p>
            <a:pPr indent="0" marL="0">
              <a:buNone/>
            </a:pPr>
            <a:r>
              <a:rPr lang="en-US" sz="1100" b="1" dirty="0">
                <a:solidFill>
                  <a:srgbClr val="5A6B7A"/>
                </a:solidFill>
                <a:latin typeface="Calibri" pitchFamily="34" charset="0"/>
                <a:ea typeface="Calibri" pitchFamily="34" charset="-122"/>
                <a:cs typeface="Calibri" pitchFamily="34" charset="-120"/>
              </a:rPr>
              <a:t>Explanation</a:t>
            </a:r>
            <a:endParaRPr lang="en-US" sz="1100" dirty="0"/>
          </a:p>
        </p:txBody>
      </p:sp>
      <p:sp>
        <p:nvSpPr>
          <p:cNvPr id="29" name="Text 27"/>
          <p:cNvSpPr txBox="1"/>
          <p:nvPr/>
        </p:nvSpPr>
        <p:spPr>
          <a:xfrm>
            <a:off x="7132320" y="4069080"/>
            <a:ext cx="3931920" cy="1280160"/>
          </a:xfrm>
          <a:prstGeom prst="rect">
            <a:avLst/>
          </a:prstGeom>
          <a:noFill/>
          <a:ln/>
        </p:spPr>
        <p:txBody>
          <a:bodyPr wrap="square" rtlCol="0" anchor="ctr"/>
          <a:lstStyle/>
          <a:p>
            <a:pPr indent="0" marL="0">
              <a:lnSpc>
                <a:spcPts val="1400"/>
              </a:lnSpc>
              <a:buNone/>
            </a:pPr>
            <a:r>
              <a:rPr lang="en-US" sz="1050" dirty="0">
                <a:solidFill>
                  <a:srgbClr val="10293E"/>
                </a:solidFill>
                <a:latin typeface="Calibri" pitchFamily="34" charset="0"/>
                <a:ea typeface="Calibri" pitchFamily="34" charset="-122"/>
                <a:cs typeface="Calibri" pitchFamily="34" charset="-120"/>
              </a:rPr>
              <a:t>Available medical evidence does not support the claim that coffee completely prevents heart disease. Cardiovascular risk depends on many independent factors.</a:t>
            </a:r>
            <a:endParaRPr lang="en-US" sz="1050" dirty="0"/>
          </a:p>
        </p:txBody>
      </p:sp>
      <p:sp>
        <p:nvSpPr>
          <p:cNvPr id="30" name="Text 28"/>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rtlCol="0" anchor="ctr"/>
          <a:lstStyle/>
          <a:p>
            <a:pPr algn="l" indent="0" marL="0">
              <a:buNone/>
            </a:pPr>
            <a:r>
              <a:rPr lang="en-US" sz="3000" b="1" dirty="0">
                <a:solidFill>
                  <a:srgbClr val="10293E"/>
                </a:solidFill>
                <a:latin typeface="Cambria" pitchFamily="34" charset="0"/>
                <a:ea typeface="Cambria" pitchFamily="34" charset="-122"/>
                <a:cs typeface="Cambria" pitchFamily="34" charset="-120"/>
              </a:rPr>
              <a:t>Future Scope</a:t>
            </a:r>
            <a:endParaRPr lang="en-US" sz="3000" dirty="0"/>
          </a:p>
        </p:txBody>
      </p:sp>
      <p:sp>
        <p:nvSpPr>
          <p:cNvPr id="3" name="Shape 1"/>
          <p:cNvSpPr/>
          <p:nvPr/>
        </p:nvSpPr>
        <p:spPr>
          <a:xfrm>
            <a:off x="548640" y="1234440"/>
            <a:ext cx="3520440" cy="2331720"/>
          </a:xfrm>
          <a:prstGeom prst="roundRect">
            <a:avLst>
              <a:gd name="adj" fmla="val 3922"/>
            </a:avLst>
          </a:prstGeom>
          <a:solidFill>
            <a:srgbClr val="FFFFFF"/>
          </a:solidFill>
          <a:ln w="12700">
            <a:solidFill>
              <a:srgbClr val="E4E1D6"/>
            </a:solidFill>
            <a:prstDash val="solid"/>
          </a:ln>
        </p:spPr>
      </p:sp>
      <p:sp>
        <p:nvSpPr>
          <p:cNvPr id="4" name="Shape 2"/>
          <p:cNvSpPr/>
          <p:nvPr/>
        </p:nvSpPr>
        <p:spPr>
          <a:xfrm>
            <a:off x="1988820" y="1508760"/>
            <a:ext cx="640080" cy="640080"/>
          </a:xfrm>
          <a:prstGeom prst="ellipse">
            <a:avLst/>
          </a:prstGeom>
          <a:solidFill>
            <a:srgbClr val="1C7293"/>
          </a:solidFill>
          <a:ln/>
        </p:spPr>
      </p:sp>
      <p:sp>
        <p:nvSpPr>
          <p:cNvPr id="5" name="Text 3"/>
          <p:cNvSpPr txBox="1"/>
          <p:nvPr/>
        </p:nvSpPr>
        <p:spPr>
          <a:xfrm>
            <a:off x="1988820" y="150876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6" name="Text 4"/>
          <p:cNvSpPr txBox="1"/>
          <p:nvPr/>
        </p:nvSpPr>
        <p:spPr>
          <a:xfrm>
            <a:off x="731520" y="2286000"/>
            <a:ext cx="3154680" cy="457200"/>
          </a:xfrm>
          <a:prstGeom prst="rect">
            <a:avLst/>
          </a:prstGeom>
          <a:noFill/>
          <a:ln/>
        </p:spPr>
        <p:txBody>
          <a:bodyPr wrap="square" rtlCol="0" anchor="ctr"/>
          <a:lstStyle/>
          <a:p>
            <a:pPr algn="ctr" indent="0" marL="0">
              <a:buNone/>
            </a:pPr>
            <a:r>
              <a:rPr lang="en-US" sz="1400" b="1" dirty="0">
                <a:solidFill>
                  <a:srgbClr val="10293E"/>
                </a:solidFill>
                <a:latin typeface="Cambria" pitchFamily="34" charset="0"/>
                <a:ea typeface="Cambria" pitchFamily="34" charset="-122"/>
                <a:cs typeface="Cambria" pitchFamily="34" charset="-120"/>
              </a:rPr>
              <a:t>Multilingual support</a:t>
            </a:r>
            <a:endParaRPr lang="en-US" sz="1400" dirty="0"/>
          </a:p>
        </p:txBody>
      </p:sp>
      <p:sp>
        <p:nvSpPr>
          <p:cNvPr id="7" name="Text 5"/>
          <p:cNvSpPr txBox="1"/>
          <p:nvPr/>
        </p:nvSpPr>
        <p:spPr>
          <a:xfrm>
            <a:off x="777240" y="2743200"/>
            <a:ext cx="3063240" cy="731520"/>
          </a:xfrm>
          <a:prstGeom prst="rect">
            <a:avLst/>
          </a:prstGeom>
          <a:noFill/>
          <a:ln/>
        </p:spPr>
        <p:txBody>
          <a:bodyPr wrap="square" rtlCol="0" anchor="ctr"/>
          <a:lstStyle/>
          <a:p>
            <a:pPr algn="ctr" indent="0" marL="0">
              <a:lnSpc>
                <a:spcPts val="1300"/>
              </a:lnSpc>
              <a:buNone/>
            </a:pPr>
            <a:r>
              <a:rPr lang="en-US" sz="1050" dirty="0">
                <a:solidFill>
                  <a:srgbClr val="5A6B7A"/>
                </a:solidFill>
                <a:latin typeface="Calibri" pitchFamily="34" charset="0"/>
                <a:ea typeface="Calibri" pitchFamily="34" charset="-122"/>
                <a:cs typeface="Calibri" pitchFamily="34" charset="-120"/>
              </a:rPr>
              <a:t>Telugu, Hindi and other regional languages</a:t>
            </a:r>
            <a:endParaRPr lang="en-US" sz="1050" dirty="0"/>
          </a:p>
        </p:txBody>
      </p:sp>
      <p:sp>
        <p:nvSpPr>
          <p:cNvPr id="8" name="Shape 6"/>
          <p:cNvSpPr/>
          <p:nvPr/>
        </p:nvSpPr>
        <p:spPr>
          <a:xfrm>
            <a:off x="4325112" y="1234440"/>
            <a:ext cx="3520440" cy="2331720"/>
          </a:xfrm>
          <a:prstGeom prst="roundRect">
            <a:avLst>
              <a:gd name="adj" fmla="val 3922"/>
            </a:avLst>
          </a:prstGeom>
          <a:solidFill>
            <a:srgbClr val="FFFFFF"/>
          </a:solidFill>
          <a:ln w="12700">
            <a:solidFill>
              <a:srgbClr val="E4E1D6"/>
            </a:solidFill>
            <a:prstDash val="solid"/>
          </a:ln>
        </p:spPr>
      </p:sp>
      <p:sp>
        <p:nvSpPr>
          <p:cNvPr id="9" name="Shape 7"/>
          <p:cNvSpPr/>
          <p:nvPr/>
        </p:nvSpPr>
        <p:spPr>
          <a:xfrm>
            <a:off x="5765292" y="1508760"/>
            <a:ext cx="640080" cy="640080"/>
          </a:xfrm>
          <a:prstGeom prst="ellipse">
            <a:avLst/>
          </a:prstGeom>
          <a:solidFill>
            <a:srgbClr val="1C7293"/>
          </a:solidFill>
          <a:ln/>
        </p:spPr>
      </p:sp>
      <p:sp>
        <p:nvSpPr>
          <p:cNvPr id="10" name="Text 8"/>
          <p:cNvSpPr txBox="1"/>
          <p:nvPr/>
        </p:nvSpPr>
        <p:spPr>
          <a:xfrm>
            <a:off x="5765292" y="150876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4507992" y="2286000"/>
            <a:ext cx="3154680" cy="457200"/>
          </a:xfrm>
          <a:prstGeom prst="rect">
            <a:avLst/>
          </a:prstGeom>
          <a:noFill/>
          <a:ln/>
        </p:spPr>
        <p:txBody>
          <a:bodyPr wrap="square" rtlCol="0" anchor="ctr"/>
          <a:lstStyle/>
          <a:p>
            <a:pPr algn="ctr" indent="0" marL="0">
              <a:buNone/>
            </a:pPr>
            <a:r>
              <a:rPr lang="en-US" sz="1400" b="1" dirty="0">
                <a:solidFill>
                  <a:srgbClr val="10293E"/>
                </a:solidFill>
                <a:latin typeface="Cambria" pitchFamily="34" charset="0"/>
                <a:ea typeface="Cambria" pitchFamily="34" charset="-122"/>
                <a:cs typeface="Cambria" pitchFamily="34" charset="-120"/>
              </a:rPr>
              <a:t>Deepfake / media check</a:t>
            </a:r>
            <a:endParaRPr lang="en-US" sz="1400" dirty="0"/>
          </a:p>
        </p:txBody>
      </p:sp>
      <p:sp>
        <p:nvSpPr>
          <p:cNvPr id="12" name="Text 10"/>
          <p:cNvSpPr txBox="1"/>
          <p:nvPr/>
        </p:nvSpPr>
        <p:spPr>
          <a:xfrm>
            <a:off x="4553712" y="2743200"/>
            <a:ext cx="3063240" cy="731520"/>
          </a:xfrm>
          <a:prstGeom prst="rect">
            <a:avLst/>
          </a:prstGeom>
          <a:noFill/>
          <a:ln/>
        </p:spPr>
        <p:txBody>
          <a:bodyPr wrap="square" rtlCol="0" anchor="ctr"/>
          <a:lstStyle/>
          <a:p>
            <a:pPr algn="ctr" indent="0" marL="0">
              <a:lnSpc>
                <a:spcPts val="1300"/>
              </a:lnSpc>
              <a:buNone/>
            </a:pPr>
            <a:r>
              <a:rPr lang="en-US" sz="1050" dirty="0">
                <a:solidFill>
                  <a:srgbClr val="5A6B7A"/>
                </a:solidFill>
                <a:latin typeface="Calibri" pitchFamily="34" charset="0"/>
                <a:ea typeface="Calibri" pitchFamily="34" charset="-122"/>
                <a:cs typeface="Calibri" pitchFamily="34" charset="-120"/>
              </a:rPr>
              <a:t>Video and image manipulation detection</a:t>
            </a:r>
            <a:endParaRPr lang="en-US" sz="1050" dirty="0"/>
          </a:p>
        </p:txBody>
      </p:sp>
      <p:sp>
        <p:nvSpPr>
          <p:cNvPr id="13" name="Shape 11"/>
          <p:cNvSpPr/>
          <p:nvPr/>
        </p:nvSpPr>
        <p:spPr>
          <a:xfrm>
            <a:off x="8101584" y="1234440"/>
            <a:ext cx="3520440" cy="2331720"/>
          </a:xfrm>
          <a:prstGeom prst="roundRect">
            <a:avLst>
              <a:gd name="adj" fmla="val 3922"/>
            </a:avLst>
          </a:prstGeom>
          <a:solidFill>
            <a:srgbClr val="FFFFFF"/>
          </a:solidFill>
          <a:ln w="12700">
            <a:solidFill>
              <a:srgbClr val="E4E1D6"/>
            </a:solidFill>
            <a:prstDash val="solid"/>
          </a:ln>
        </p:spPr>
      </p:sp>
      <p:sp>
        <p:nvSpPr>
          <p:cNvPr id="14" name="Shape 12"/>
          <p:cNvSpPr/>
          <p:nvPr/>
        </p:nvSpPr>
        <p:spPr>
          <a:xfrm>
            <a:off x="9541764" y="1508760"/>
            <a:ext cx="640080" cy="640080"/>
          </a:xfrm>
          <a:prstGeom prst="ellipse">
            <a:avLst/>
          </a:prstGeom>
          <a:solidFill>
            <a:srgbClr val="1C7293"/>
          </a:solidFill>
          <a:ln/>
        </p:spPr>
      </p:sp>
      <p:sp>
        <p:nvSpPr>
          <p:cNvPr id="15" name="Text 13"/>
          <p:cNvSpPr txBox="1"/>
          <p:nvPr/>
        </p:nvSpPr>
        <p:spPr>
          <a:xfrm>
            <a:off x="9541764" y="150876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8284464" y="2286000"/>
            <a:ext cx="3154680" cy="457200"/>
          </a:xfrm>
          <a:prstGeom prst="rect">
            <a:avLst/>
          </a:prstGeom>
          <a:noFill/>
          <a:ln/>
        </p:spPr>
        <p:txBody>
          <a:bodyPr wrap="square" rtlCol="0" anchor="ctr"/>
          <a:lstStyle/>
          <a:p>
            <a:pPr algn="ctr" indent="0" marL="0">
              <a:buNone/>
            </a:pPr>
            <a:r>
              <a:rPr lang="en-US" sz="1400" b="1" dirty="0">
                <a:solidFill>
                  <a:srgbClr val="10293E"/>
                </a:solidFill>
                <a:latin typeface="Cambria" pitchFamily="34" charset="0"/>
                <a:ea typeface="Cambria" pitchFamily="34" charset="-122"/>
                <a:cs typeface="Cambria" pitchFamily="34" charset="-120"/>
              </a:rPr>
              <a:t>WhatsApp integration</a:t>
            </a:r>
            <a:endParaRPr lang="en-US" sz="1400" dirty="0"/>
          </a:p>
        </p:txBody>
      </p:sp>
      <p:sp>
        <p:nvSpPr>
          <p:cNvPr id="17" name="Text 15"/>
          <p:cNvSpPr txBox="1"/>
          <p:nvPr/>
        </p:nvSpPr>
        <p:spPr>
          <a:xfrm>
            <a:off x="8330184" y="2743200"/>
            <a:ext cx="3063240" cy="731520"/>
          </a:xfrm>
          <a:prstGeom prst="rect">
            <a:avLst/>
          </a:prstGeom>
          <a:noFill/>
          <a:ln/>
        </p:spPr>
        <p:txBody>
          <a:bodyPr wrap="square" rtlCol="0" anchor="ctr"/>
          <a:lstStyle/>
          <a:p>
            <a:pPr algn="ctr" indent="0" marL="0">
              <a:lnSpc>
                <a:spcPts val="1300"/>
              </a:lnSpc>
              <a:buNone/>
            </a:pPr>
            <a:r>
              <a:rPr lang="en-US" sz="1050" dirty="0">
                <a:solidFill>
                  <a:srgbClr val="5A6B7A"/>
                </a:solidFill>
                <a:latin typeface="Calibri" pitchFamily="34" charset="0"/>
                <a:ea typeface="Calibri" pitchFamily="34" charset="-122"/>
                <a:cs typeface="Calibri" pitchFamily="34" charset="-120"/>
              </a:rPr>
              <a:t>Forward a message, get a scorecard back</a:t>
            </a:r>
            <a:endParaRPr lang="en-US" sz="1050" dirty="0"/>
          </a:p>
        </p:txBody>
      </p:sp>
      <p:sp>
        <p:nvSpPr>
          <p:cNvPr id="18" name="Shape 16"/>
          <p:cNvSpPr/>
          <p:nvPr/>
        </p:nvSpPr>
        <p:spPr>
          <a:xfrm>
            <a:off x="548640" y="3840480"/>
            <a:ext cx="3520440" cy="2331720"/>
          </a:xfrm>
          <a:prstGeom prst="roundRect">
            <a:avLst>
              <a:gd name="adj" fmla="val 3922"/>
            </a:avLst>
          </a:prstGeom>
          <a:solidFill>
            <a:srgbClr val="FFFFFF"/>
          </a:solidFill>
          <a:ln w="12700">
            <a:solidFill>
              <a:srgbClr val="E4E1D6"/>
            </a:solidFill>
            <a:prstDash val="solid"/>
          </a:ln>
        </p:spPr>
      </p:sp>
      <p:sp>
        <p:nvSpPr>
          <p:cNvPr id="19" name="Shape 17"/>
          <p:cNvSpPr/>
          <p:nvPr/>
        </p:nvSpPr>
        <p:spPr>
          <a:xfrm>
            <a:off x="1988820" y="4114800"/>
            <a:ext cx="640080" cy="640080"/>
          </a:xfrm>
          <a:prstGeom prst="ellipse">
            <a:avLst/>
          </a:prstGeom>
          <a:solidFill>
            <a:srgbClr val="1C7293"/>
          </a:solidFill>
          <a:ln/>
        </p:spPr>
      </p:sp>
      <p:sp>
        <p:nvSpPr>
          <p:cNvPr id="20" name="Text 18"/>
          <p:cNvSpPr txBox="1"/>
          <p:nvPr/>
        </p:nvSpPr>
        <p:spPr>
          <a:xfrm>
            <a:off x="1988820" y="411480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1" name="Text 19"/>
          <p:cNvSpPr txBox="1"/>
          <p:nvPr/>
        </p:nvSpPr>
        <p:spPr>
          <a:xfrm>
            <a:off x="731520" y="4892040"/>
            <a:ext cx="3154680" cy="457200"/>
          </a:xfrm>
          <a:prstGeom prst="rect">
            <a:avLst/>
          </a:prstGeom>
          <a:noFill/>
          <a:ln/>
        </p:spPr>
        <p:txBody>
          <a:bodyPr wrap="square" rtlCol="0" anchor="ctr"/>
          <a:lstStyle/>
          <a:p>
            <a:pPr algn="ctr" indent="0" marL="0">
              <a:buNone/>
            </a:pPr>
            <a:r>
              <a:rPr lang="en-US" sz="1400" b="1" dirty="0">
                <a:solidFill>
                  <a:srgbClr val="10293E"/>
                </a:solidFill>
                <a:latin typeface="Cambria" pitchFamily="34" charset="0"/>
                <a:ea typeface="Cambria" pitchFamily="34" charset="-122"/>
                <a:cs typeface="Cambria" pitchFamily="34" charset="-120"/>
              </a:rPr>
              <a:t>Community reporting</a:t>
            </a:r>
            <a:endParaRPr lang="en-US" sz="1400" dirty="0"/>
          </a:p>
        </p:txBody>
      </p:sp>
      <p:sp>
        <p:nvSpPr>
          <p:cNvPr id="22" name="Text 20"/>
          <p:cNvSpPr txBox="1"/>
          <p:nvPr/>
        </p:nvSpPr>
        <p:spPr>
          <a:xfrm>
            <a:off x="777240" y="5349240"/>
            <a:ext cx="3063240" cy="731520"/>
          </a:xfrm>
          <a:prstGeom prst="rect">
            <a:avLst/>
          </a:prstGeom>
          <a:noFill/>
          <a:ln/>
        </p:spPr>
        <p:txBody>
          <a:bodyPr wrap="square" rtlCol="0" anchor="ctr"/>
          <a:lstStyle/>
          <a:p>
            <a:pPr algn="ctr" indent="0" marL="0">
              <a:lnSpc>
                <a:spcPts val="1300"/>
              </a:lnSpc>
              <a:buNone/>
            </a:pPr>
            <a:r>
              <a:rPr lang="en-US" sz="1050" dirty="0">
                <a:solidFill>
                  <a:srgbClr val="5A6B7A"/>
                </a:solidFill>
                <a:latin typeface="Calibri" pitchFamily="34" charset="0"/>
                <a:ea typeface="Calibri" pitchFamily="34" charset="-122"/>
                <a:cs typeface="Calibri" pitchFamily="34" charset="-120"/>
              </a:rPr>
              <a:t>Users flag and contribute new scam patterns</a:t>
            </a:r>
            <a:endParaRPr lang="en-US" sz="1050" dirty="0"/>
          </a:p>
        </p:txBody>
      </p:sp>
      <p:sp>
        <p:nvSpPr>
          <p:cNvPr id="23" name="Shape 21"/>
          <p:cNvSpPr/>
          <p:nvPr/>
        </p:nvSpPr>
        <p:spPr>
          <a:xfrm>
            <a:off x="4325112" y="3840480"/>
            <a:ext cx="3520440" cy="2331720"/>
          </a:xfrm>
          <a:prstGeom prst="roundRect">
            <a:avLst>
              <a:gd name="adj" fmla="val 3922"/>
            </a:avLst>
          </a:prstGeom>
          <a:solidFill>
            <a:srgbClr val="FFFFFF"/>
          </a:solidFill>
          <a:ln w="12700">
            <a:solidFill>
              <a:srgbClr val="E4E1D6"/>
            </a:solidFill>
            <a:prstDash val="solid"/>
          </a:ln>
        </p:spPr>
      </p:sp>
      <p:sp>
        <p:nvSpPr>
          <p:cNvPr id="24" name="Shape 22"/>
          <p:cNvSpPr/>
          <p:nvPr/>
        </p:nvSpPr>
        <p:spPr>
          <a:xfrm>
            <a:off x="5765292" y="4114800"/>
            <a:ext cx="640080" cy="640080"/>
          </a:xfrm>
          <a:prstGeom prst="ellipse">
            <a:avLst/>
          </a:prstGeom>
          <a:solidFill>
            <a:srgbClr val="1C7293"/>
          </a:solidFill>
          <a:ln/>
        </p:spPr>
      </p:sp>
      <p:sp>
        <p:nvSpPr>
          <p:cNvPr id="25" name="Text 23"/>
          <p:cNvSpPr txBox="1"/>
          <p:nvPr/>
        </p:nvSpPr>
        <p:spPr>
          <a:xfrm>
            <a:off x="5765292" y="411480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6" name="Text 24"/>
          <p:cNvSpPr txBox="1"/>
          <p:nvPr/>
        </p:nvSpPr>
        <p:spPr>
          <a:xfrm>
            <a:off x="4507992" y="4892040"/>
            <a:ext cx="3154680" cy="457200"/>
          </a:xfrm>
          <a:prstGeom prst="rect">
            <a:avLst/>
          </a:prstGeom>
          <a:noFill/>
          <a:ln/>
        </p:spPr>
        <p:txBody>
          <a:bodyPr wrap="square" rtlCol="0" anchor="ctr"/>
          <a:lstStyle/>
          <a:p>
            <a:pPr algn="ctr" indent="0" marL="0">
              <a:buNone/>
            </a:pPr>
            <a:r>
              <a:rPr lang="en-US" sz="1400" b="1" dirty="0">
                <a:solidFill>
                  <a:srgbClr val="10293E"/>
                </a:solidFill>
                <a:latin typeface="Cambria" pitchFamily="34" charset="0"/>
                <a:ea typeface="Cambria" pitchFamily="34" charset="-122"/>
                <a:cs typeface="Cambria" pitchFamily="34" charset="-120"/>
              </a:rPr>
              <a:t>Temporal analysis</a:t>
            </a:r>
            <a:endParaRPr lang="en-US" sz="1400" dirty="0"/>
          </a:p>
        </p:txBody>
      </p:sp>
      <p:sp>
        <p:nvSpPr>
          <p:cNvPr id="27" name="Text 25"/>
          <p:cNvSpPr txBox="1"/>
          <p:nvPr/>
        </p:nvSpPr>
        <p:spPr>
          <a:xfrm>
            <a:off x="4553712" y="5349240"/>
            <a:ext cx="3063240" cy="731520"/>
          </a:xfrm>
          <a:prstGeom prst="rect">
            <a:avLst/>
          </a:prstGeom>
          <a:noFill/>
          <a:ln/>
        </p:spPr>
        <p:txBody>
          <a:bodyPr wrap="square" rtlCol="0" anchor="ctr"/>
          <a:lstStyle/>
          <a:p>
            <a:pPr algn="ctr" indent="0" marL="0">
              <a:lnSpc>
                <a:spcPts val="1300"/>
              </a:lnSpc>
              <a:buNone/>
            </a:pPr>
            <a:r>
              <a:rPr lang="en-US" sz="1050" dirty="0">
                <a:solidFill>
                  <a:srgbClr val="5A6B7A"/>
                </a:solidFill>
                <a:latin typeface="Calibri" pitchFamily="34" charset="0"/>
                <a:ea typeface="Calibri" pitchFamily="34" charset="-122"/>
                <a:cs typeface="Calibri" pitchFamily="34" charset="-120"/>
              </a:rPr>
              <a:t>Flag claims that were true once but are now outdated</a:t>
            </a:r>
            <a:endParaRPr lang="en-US" sz="1050" dirty="0"/>
          </a:p>
        </p:txBody>
      </p:sp>
      <p:sp>
        <p:nvSpPr>
          <p:cNvPr id="28" name="Shape 26"/>
          <p:cNvSpPr/>
          <p:nvPr/>
        </p:nvSpPr>
        <p:spPr>
          <a:xfrm>
            <a:off x="8101584" y="3840480"/>
            <a:ext cx="3520440" cy="2331720"/>
          </a:xfrm>
          <a:prstGeom prst="roundRect">
            <a:avLst>
              <a:gd name="adj" fmla="val 3922"/>
            </a:avLst>
          </a:prstGeom>
          <a:solidFill>
            <a:srgbClr val="FFFFFF"/>
          </a:solidFill>
          <a:ln w="12700">
            <a:solidFill>
              <a:srgbClr val="E4E1D6"/>
            </a:solidFill>
            <a:prstDash val="solid"/>
          </a:ln>
        </p:spPr>
      </p:sp>
      <p:sp>
        <p:nvSpPr>
          <p:cNvPr id="29" name="Shape 27"/>
          <p:cNvSpPr/>
          <p:nvPr/>
        </p:nvSpPr>
        <p:spPr>
          <a:xfrm>
            <a:off x="9541764" y="4114800"/>
            <a:ext cx="640080" cy="640080"/>
          </a:xfrm>
          <a:prstGeom prst="ellipse">
            <a:avLst/>
          </a:prstGeom>
          <a:solidFill>
            <a:srgbClr val="1C7293"/>
          </a:solidFill>
          <a:ln/>
        </p:spPr>
      </p:sp>
      <p:sp>
        <p:nvSpPr>
          <p:cNvPr id="30" name="Text 28"/>
          <p:cNvSpPr txBox="1"/>
          <p:nvPr/>
        </p:nvSpPr>
        <p:spPr>
          <a:xfrm>
            <a:off x="9541764" y="411480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1" name="Text 29"/>
          <p:cNvSpPr txBox="1"/>
          <p:nvPr/>
        </p:nvSpPr>
        <p:spPr>
          <a:xfrm>
            <a:off x="8284464" y="4892040"/>
            <a:ext cx="3154680" cy="457200"/>
          </a:xfrm>
          <a:prstGeom prst="rect">
            <a:avLst/>
          </a:prstGeom>
          <a:noFill/>
          <a:ln/>
        </p:spPr>
        <p:txBody>
          <a:bodyPr wrap="square" rtlCol="0" anchor="ctr"/>
          <a:lstStyle/>
          <a:p>
            <a:pPr algn="ctr" indent="0" marL="0">
              <a:buNone/>
            </a:pPr>
            <a:r>
              <a:rPr lang="en-US" sz="1400" b="1" dirty="0">
                <a:solidFill>
                  <a:srgbClr val="10293E"/>
                </a:solidFill>
                <a:latin typeface="Cambria" pitchFamily="34" charset="0"/>
                <a:ea typeface="Cambria" pitchFamily="34" charset="-122"/>
                <a:cs typeface="Cambria" pitchFamily="34" charset="-120"/>
              </a:rPr>
              <a:t>Live evidence APIs</a:t>
            </a:r>
            <a:endParaRPr lang="en-US" sz="1400" dirty="0"/>
          </a:p>
        </p:txBody>
      </p:sp>
      <p:sp>
        <p:nvSpPr>
          <p:cNvPr id="32" name="Text 30"/>
          <p:cNvSpPr txBox="1"/>
          <p:nvPr/>
        </p:nvSpPr>
        <p:spPr>
          <a:xfrm>
            <a:off x="8330184" y="5349240"/>
            <a:ext cx="3063240" cy="731520"/>
          </a:xfrm>
          <a:prstGeom prst="rect">
            <a:avLst/>
          </a:prstGeom>
          <a:noFill/>
          <a:ln/>
        </p:spPr>
        <p:txBody>
          <a:bodyPr wrap="square" rtlCol="0" anchor="ctr"/>
          <a:lstStyle/>
          <a:p>
            <a:pPr algn="ctr" indent="0" marL="0">
              <a:lnSpc>
                <a:spcPts val="1300"/>
              </a:lnSpc>
              <a:buNone/>
            </a:pPr>
            <a:r>
              <a:rPr lang="en-US" sz="1050" dirty="0">
                <a:solidFill>
                  <a:srgbClr val="5A6B7A"/>
                </a:solidFill>
                <a:latin typeface="Calibri" pitchFamily="34" charset="0"/>
                <a:ea typeface="Calibri" pitchFamily="34" charset="-122"/>
                <a:cs typeface="Calibri" pitchFamily="34" charset="-120"/>
              </a:rPr>
              <a:t>Direct integration with fact-check and government data APIs</a:t>
            </a:r>
            <a:endParaRPr lang="en-US" sz="1050" dirty="0"/>
          </a:p>
        </p:txBody>
      </p:sp>
      <p:sp>
        <p:nvSpPr>
          <p:cNvPr id="33" name="Text 31"/>
          <p:cNvSpPr txBox="1"/>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A6B7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93E"/>
        </a:solidFill>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18344F"/>
          </a:solidFill>
          <a:ln/>
        </p:spPr>
      </p:sp>
      <p:sp>
        <p:nvSpPr>
          <p:cNvPr id="3" name="Shape 1"/>
          <p:cNvSpPr/>
          <p:nvPr/>
        </p:nvSpPr>
        <p:spPr>
          <a:xfrm>
            <a:off x="822960" y="822960"/>
            <a:ext cx="777240" cy="777240"/>
          </a:xfrm>
          <a:prstGeom prst="ellipse">
            <a:avLst/>
          </a:prstGeom>
          <a:solidFill>
            <a:srgbClr val="E8A33D"/>
          </a:solidFill>
          <a:ln/>
        </p:spPr>
      </p:sp>
      <p:sp>
        <p:nvSpPr>
          <p:cNvPr id="4" name="Text 2"/>
          <p:cNvSpPr txBox="1"/>
          <p:nvPr/>
        </p:nvSpPr>
        <p:spPr>
          <a:xfrm>
            <a:off x="822960" y="822960"/>
            <a:ext cx="777240" cy="777240"/>
          </a:xfrm>
          <a:prstGeom prst="rect">
            <a:avLst/>
          </a:prstGeom>
          <a:noFill/>
          <a:ln/>
        </p:spPr>
        <p:txBody>
          <a:bodyPr wrap="square" rtlCol="0" anchor="ctr"/>
          <a:lstStyle/>
          <a:p>
            <a:pPr algn="ctr" indent="0" marL="0">
              <a:buNone/>
            </a:pPr>
            <a:r>
              <a:rPr lang="en-US" sz="3000" b="1" dirty="0">
                <a:solidFill>
                  <a:srgbClr val="10293E"/>
                </a:solidFill>
                <a:latin typeface="Calibri" pitchFamily="34" charset="0"/>
                <a:ea typeface="Calibri" pitchFamily="34" charset="-122"/>
                <a:cs typeface="Calibri" pitchFamily="34" charset="-120"/>
              </a:rPr>
              <a:t>✓</a:t>
            </a:r>
            <a:endParaRPr lang="en-US" sz="3000" dirty="0"/>
          </a:p>
        </p:txBody>
      </p:sp>
      <p:sp>
        <p:nvSpPr>
          <p:cNvPr id="5" name="Text 3"/>
          <p:cNvSpPr txBox="1"/>
          <p:nvPr/>
        </p:nvSpPr>
        <p:spPr>
          <a:xfrm>
            <a:off x="822960" y="1828800"/>
            <a:ext cx="731520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6" name="Text 4"/>
          <p:cNvSpPr txBox="1"/>
          <p:nvPr/>
        </p:nvSpPr>
        <p:spPr>
          <a:xfrm>
            <a:off x="822960" y="2697480"/>
            <a:ext cx="9601200" cy="1554480"/>
          </a:xfrm>
          <a:prstGeom prst="rect">
            <a:avLst/>
          </a:prstGeom>
          <a:noFill/>
          <a:ln/>
        </p:spPr>
        <p:txBody>
          <a:bodyPr wrap="square" rtlCol="0" anchor="ctr"/>
          <a:lstStyle/>
          <a:p>
            <a:pPr indent="0" marL="0">
              <a:lnSpc>
                <a:spcPts val="2200"/>
              </a:lnSpc>
              <a:buNone/>
            </a:pPr>
            <a:r>
              <a:rPr lang="en-US" sz="1550" dirty="0">
                <a:solidFill>
                  <a:srgbClr val="C9D6E3"/>
                </a:solidFill>
                <a:latin typeface="Calibri" pitchFamily="34" charset="0"/>
                <a:ea typeface="Calibri" pitchFamily="34" charset="-122"/>
                <a:cs typeface="Calibri" pitchFamily="34" charset="-120"/>
              </a:rPr>
              <a:t>VeriAI reframes misinformation detection around the claim, not the article — pairing evidence-based verification with fraud-pattern detection, and explaining every verdict instead of asserting it. Delivered through a web app and browser extension, it gives people a fast, transparent way to check what they read before they trust it or act on it.</a:t>
            </a:r>
            <a:endParaRPr lang="en-US" sz="1550" dirty="0"/>
          </a:p>
        </p:txBody>
      </p:sp>
      <p:sp>
        <p:nvSpPr>
          <p:cNvPr id="7" name="Shape 5"/>
          <p:cNvSpPr/>
          <p:nvPr/>
        </p:nvSpPr>
        <p:spPr>
          <a:xfrm>
            <a:off x="822960" y="4526280"/>
            <a:ext cx="2926080" cy="0"/>
          </a:xfrm>
          <a:prstGeom prst="line">
            <a:avLst/>
          </a:prstGeom>
          <a:noFill/>
          <a:ln w="25400">
            <a:solidFill>
              <a:srgbClr val="1C7293"/>
            </a:solidFill>
            <a:prstDash val="solid"/>
          </a:ln>
        </p:spPr>
      </p:sp>
      <p:sp>
        <p:nvSpPr>
          <p:cNvPr id="8" name="Text 6"/>
          <p:cNvSpPr txBox="1"/>
          <p:nvPr/>
        </p:nvSpPr>
        <p:spPr>
          <a:xfrm>
            <a:off x="822960" y="4754880"/>
            <a:ext cx="5486400" cy="548640"/>
          </a:xfrm>
          <a:prstGeom prst="rect">
            <a:avLst/>
          </a:prstGeom>
          <a:noFill/>
          <a:ln/>
        </p:spPr>
        <p:txBody>
          <a:bodyPr wrap="square"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Thank you</a:t>
            </a:r>
            <a:endParaRPr lang="en-US" sz="2000" dirty="0"/>
          </a:p>
        </p:txBody>
      </p:sp>
      <p:sp>
        <p:nvSpPr>
          <p:cNvPr id="9" name="Text 7"/>
          <p:cNvSpPr txBox="1"/>
          <p:nvPr/>
        </p:nvSpPr>
        <p:spPr>
          <a:xfrm>
            <a:off x="822960" y="5257800"/>
            <a:ext cx="5486400" cy="365760"/>
          </a:xfrm>
          <a:prstGeom prst="rect">
            <a:avLst/>
          </a:prstGeom>
          <a:noFill/>
          <a:ln/>
        </p:spPr>
        <p:txBody>
          <a:bodyPr wrap="square" rtlCol="0" anchor="ctr"/>
          <a:lstStyle/>
          <a:p>
            <a:pPr indent="0" marL="0">
              <a:buNone/>
            </a:pPr>
            <a:r>
              <a:rPr lang="en-US" sz="1300" dirty="0">
                <a:solidFill>
                  <a:srgbClr val="8FA3B5"/>
                </a:solidFill>
                <a:latin typeface="Calibri" pitchFamily="34" charset="0"/>
                <a:ea typeface="Calibri" pitchFamily="34" charset="-122"/>
                <a:cs typeface="Calibri" pitchFamily="34" charset="-120"/>
              </a:rPr>
              <a:t>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2026-09-25T13:21:58Z</dcterms:created>
  <dcterms:modified xsi:type="dcterms:W3CDTF">2026-09-25T13:21:58Z</dcterms:modified>
</cp:coreProperties>
</file>